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12191695" cy="254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至诚 · 行正道 · 造市场 · 做事业 · 过好日子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Microsoft YaHei"/>
                <a:ea typeface="Microsoft YaHei"/>
              </a:rPr>
              <a:t>AI时代 · 淬炼重生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D4A94A"/>
                </a:solidFill>
                <a:latin typeface="Microsoft YaHei"/>
                <a:ea typeface="Microsoft YaHei"/>
              </a:rPr>
              <a:t>云基智慧 · 第二次员工股权激励宣讲动员会（V3）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每一步路都不会白走，AI让我们看到了一个不一样的云基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A8E0"/>
                </a:solidFill>
                <a:latin typeface="Microsoft YaHei"/>
                <a:ea typeface="Microsoft YaHei"/>
              </a:rPr>
              <a:t>从工程咨询服务商 → 工程咨询领域AI大模型公司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747" y="5074920"/>
            <a:ext cx="1965960" cy="475488"/>
          </a:xfrm>
          <a:prstGeom prst="roundRect">
            <a:avLst/>
          </a:prstGeom>
          <a:solidFill>
            <a:srgbClr val="132E52"/>
          </a:solidFill>
          <a:ln w="12700">
            <a:solidFill>
              <a:srgbClr val="D4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六步AI叙事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8307" y="5074920"/>
            <a:ext cx="1965960" cy="475488"/>
          </a:xfrm>
          <a:prstGeom prst="roundRect">
            <a:avLst/>
          </a:prstGeom>
          <a:solidFill>
            <a:srgbClr val="132E52"/>
          </a:solidFill>
          <a:ln w="12700">
            <a:solidFill>
              <a:srgbClr val="D4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行业大模型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2867" y="5074920"/>
            <a:ext cx="1965960" cy="475488"/>
          </a:xfrm>
          <a:prstGeom prst="roundRect">
            <a:avLst/>
          </a:prstGeom>
          <a:solidFill>
            <a:srgbClr val="132E52"/>
          </a:solidFill>
          <a:ln w="12700">
            <a:solidFill>
              <a:srgbClr val="D4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Agent标准化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7427" y="5074920"/>
            <a:ext cx="1965960" cy="475488"/>
          </a:xfrm>
          <a:prstGeom prst="roundRect">
            <a:avLst/>
          </a:prstGeom>
          <a:solidFill>
            <a:srgbClr val="132E52"/>
          </a:solidFill>
          <a:ln w="12700">
            <a:solidFill>
              <a:srgbClr val="D4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资本价值重估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1987" y="5074920"/>
            <a:ext cx="1965960" cy="475488"/>
          </a:xfrm>
          <a:prstGeom prst="roundRect">
            <a:avLst/>
          </a:prstGeom>
          <a:solidFill>
            <a:srgbClr val="132E52"/>
          </a:solidFill>
          <a:ln w="12700">
            <a:solidFill>
              <a:srgbClr val="D4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千亿市值愿景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5A6472"/>
                </a:solidFill>
                <a:latin typeface="Microsoft YaHei"/>
                <a:ea typeface="Microsoft YaHei"/>
              </a:rPr>
              <a:t>云基智慧工程股份有限公司  | 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CONTENTS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宣讲内容架构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4864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82296" cy="141732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99032"/>
            <a:ext cx="82296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D4A94A"/>
                </a:solidFill>
                <a:latin typeface="Microsoft YaHei"/>
                <a:ea typeface="Microsoft YaHei"/>
              </a:rPr>
              <a:t>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35608"/>
            <a:ext cx="42062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0B1F3A"/>
                </a:solidFill>
                <a:latin typeface="Microsoft YaHei"/>
                <a:ea typeface="Microsoft YaHei"/>
              </a:rPr>
              <a:t>淬炼 · 回望来时路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84248"/>
            <a:ext cx="42062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A6472"/>
                </a:solidFill>
                <a:latin typeface="Microsoft YaHei"/>
                <a:ea typeface="Microsoft YaHei"/>
              </a:rPr>
              <a:t>二十年深耕 · 至暗时刻 · 曙光已至 · 一网四化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4864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82296" cy="141732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99032"/>
            <a:ext cx="82296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D4A94A"/>
                </a:solidFill>
                <a:latin typeface="Microsoft YaHei"/>
                <a:ea typeface="Microsoft YaHei"/>
              </a:rPr>
              <a:t>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435608"/>
            <a:ext cx="42062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0B1F3A"/>
                </a:solidFill>
                <a:latin typeface="Microsoft YaHei"/>
                <a:ea typeface="Microsoft YaHei"/>
              </a:rPr>
              <a:t>重构 · AI重构一切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984248"/>
            <a:ext cx="42062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A6472"/>
                </a:solidFill>
                <a:latin typeface="Microsoft YaHei"/>
                <a:ea typeface="Microsoft YaHei"/>
              </a:rPr>
              <a:t>三级火箭 · 六步叙事 · 每一步路都不会白走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26080"/>
            <a:ext cx="54864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926080"/>
            <a:ext cx="82296" cy="141732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90672"/>
            <a:ext cx="82296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D4A94A"/>
                </a:solidFill>
                <a:latin typeface="Microsoft YaHei"/>
                <a:ea typeface="Microsoft YaHei"/>
              </a:rPr>
              <a:t>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27248"/>
            <a:ext cx="42062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0B1F3A"/>
                </a:solidFill>
                <a:latin typeface="Microsoft YaHei"/>
                <a:ea typeface="Microsoft YaHei"/>
              </a:rPr>
              <a:t>破局 · Agent标准化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675888"/>
            <a:ext cx="42062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A6472"/>
                </a:solidFill>
                <a:latin typeface="Microsoft YaHei"/>
                <a:ea typeface="Microsoft YaHei"/>
              </a:rPr>
              <a:t>行业大模型 · Agent新物种 · 产品矩阵 · 独特优势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54864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926080"/>
            <a:ext cx="82296" cy="141732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090672"/>
            <a:ext cx="82296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D4A94A"/>
                </a:solidFill>
                <a:latin typeface="Microsoft YaHei"/>
                <a:ea typeface="Microsoft YaHei"/>
              </a:rPr>
              <a:t>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127248"/>
            <a:ext cx="42062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0B1F3A"/>
                </a:solidFill>
                <a:latin typeface="Microsoft YaHei"/>
                <a:ea typeface="Microsoft YaHei"/>
              </a:rPr>
              <a:t>资本视角看云基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675888"/>
            <a:ext cx="42062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A6472"/>
                </a:solidFill>
                <a:latin typeface="Microsoft YaHei"/>
                <a:ea typeface="Microsoft YaHei"/>
              </a:rPr>
              <a:t>对标分析 · 估值逻辑 · 价值重估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617720"/>
            <a:ext cx="54864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617720"/>
            <a:ext cx="82296" cy="141732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782312"/>
            <a:ext cx="82296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D4A94A"/>
                </a:solidFill>
                <a:latin typeface="Microsoft YaHei"/>
                <a:ea typeface="Microsoft YaHei"/>
              </a:rPr>
              <a:t>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818888"/>
            <a:ext cx="42062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0B1F3A"/>
                </a:solidFill>
                <a:latin typeface="Microsoft YaHei"/>
                <a:ea typeface="Microsoft YaHei"/>
              </a:rPr>
              <a:t>回归初心 · 组织与人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367528"/>
            <a:ext cx="42062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A6472"/>
                </a:solidFill>
                <a:latin typeface="Microsoft YaHei"/>
                <a:ea typeface="Microsoft YaHei"/>
              </a:rPr>
              <a:t>至诚文化 · 产品战略 · 从组织回归生命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617720"/>
            <a:ext cx="54864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617720"/>
            <a:ext cx="82296" cy="141732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782312"/>
            <a:ext cx="82296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D4A94A"/>
                </a:solidFill>
                <a:latin typeface="Microsoft YaHei"/>
                <a:ea typeface="Microsoft YaHei"/>
              </a:rPr>
              <a:t>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818888"/>
            <a:ext cx="42062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0B1F3A"/>
                </a:solidFill>
                <a:latin typeface="Microsoft YaHei"/>
                <a:ea typeface="Microsoft YaHei"/>
              </a:rPr>
              <a:t>共赢 · 第二次股权激励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367528"/>
            <a:ext cx="42062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A6472"/>
                </a:solidFill>
                <a:latin typeface="Microsoft YaHei"/>
                <a:ea typeface="Microsoft YaHei"/>
              </a:rPr>
              <a:t>窗口期 · 最佳时机 · 二次合伙 · 共享成长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6000" b="1">
                <a:solidFill>
                  <a:srgbClr val="D4A94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淬炼 · 回望来时路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A8E0"/>
                </a:solidFill>
                <a:latin typeface="Microsoft YaHei"/>
                <a:ea typeface="Microsoft YaHei"/>
              </a:rPr>
              <a:t>EVERY STEP 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343400"/>
            <a:ext cx="1828800" cy="3175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617720"/>
            <a:ext cx="92354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二十多年行业深耕，从BIM先行者到AI觉醒者；至暗时刻 · 拐点显现 · 曙光已至，
每一步积累都是今天AI化的基石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1.1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二十多年行业深耕 — 长期积累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5486400" cy="4023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一、核心资质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国家高新技术企业 — 以技术创新为立身之本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交通运输部BIM行业研发中心 — 国家级行业研发平台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自主研发“玄镜”国产三维BIM图形平台 — 行业基础设施级资产</a:t>
            </a:r>
          </a:p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二、二十多年的积累，沉淀了什么？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大量工程项目BIM数据资产 — 行业最丰富的三维工程数据库之一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覆盖设计-施工-运维全链条的工程知识图谱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一支既懂工程又懂数字化技术的复合型团队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394960" cy="4023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三、每一步都不会白走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数据 × 知识 × 平台 × 人才 = AI大模型的“原料”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没有二十多年的积累，就没有AI化的“燃料”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大厂有钱有算力，但没有我们的工程数据和行业理解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108960"/>
            <a:ext cx="5394960" cy="2011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3108960"/>
            <a:ext cx="539496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3200400"/>
            <a:ext cx="510235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我们的护城河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3611880"/>
            <a:ext cx="5102352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>
                <a:solidFill>
                  <a:srgbClr val="1A2638"/>
                </a:solidFill>
                <a:latin typeface="Microsoft YaHei"/>
                <a:ea typeface="Microsoft YaHei"/>
              </a:rPr>
              <a:t>这些积累，正是AI时代最稀缺的“养料”；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>
                <a:solidFill>
                  <a:srgbClr val="1A2638"/>
                </a:solidFill>
                <a:latin typeface="Microsoft YaHei"/>
                <a:ea typeface="Microsoft YaHei"/>
              </a:rPr>
              <a:t>这就是我们的护城河 —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>
                <a:solidFill>
                  <a:srgbClr val="1A2638"/>
                </a:solidFill>
                <a:latin typeface="Microsoft YaHei"/>
                <a:ea typeface="Microsoft YaHei"/>
              </a:rPr>
              <a:t>时间无法复制，积累无法速成。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二十多年深耕沉淀的数据、知识、平台与人才，是AI时代最深的护城河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1.2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至暗时刻：坦诚复盘，我们扛住了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2651760" cy="1143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C0392B"/>
                </a:solidFill>
                <a:latin typeface="Microsoft YaHei"/>
                <a:ea typeface="Microsoft YaHei"/>
              </a:rPr>
              <a:t>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47088"/>
            <a:ext cx="2651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1A2638"/>
                </a:solidFill>
                <a:latin typeface="Microsoft YaHei"/>
                <a:ea typeface="Microsoft YaHei"/>
              </a:rPr>
              <a:t>营收减半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188720"/>
            <a:ext cx="2651760" cy="1143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298448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C0392B"/>
                </a:solidFill>
                <a:latin typeface="Microsoft YaHei"/>
                <a:ea typeface="Microsoft YaHei"/>
              </a:rPr>
              <a:t>大幅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1847088"/>
            <a:ext cx="2651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1A2638"/>
                </a:solidFill>
                <a:latin typeface="Microsoft YaHei"/>
                <a:ea typeface="Microsoft YaHei"/>
              </a:rPr>
              <a:t>传统业务缩减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188720"/>
            <a:ext cx="2651760" cy="1143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298448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C0392B"/>
                </a:solidFill>
                <a:latin typeface="Microsoft YaHei"/>
                <a:ea typeface="Microsoft YaHei"/>
              </a:rPr>
              <a:t>严峻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847088"/>
            <a:ext cx="2651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1A2638"/>
                </a:solidFill>
                <a:latin typeface="Microsoft YaHei"/>
                <a:ea typeface="Microsoft YaHei"/>
              </a:rPr>
              <a:t>人员规模压缩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61704" y="1188720"/>
            <a:ext cx="2651760" cy="1143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1298448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78A5B"/>
                </a:solidFill>
                <a:latin typeface="Microsoft YaHei"/>
                <a:ea typeface="Microsoft YaHei"/>
              </a:rPr>
              <a:t>坚守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1847088"/>
            <a:ext cx="2651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1A2638"/>
                </a:solidFill>
                <a:latin typeface="Microsoft YaHei"/>
                <a:ea typeface="Microsoft YaHei"/>
              </a:rPr>
              <a:t>核心团队与信念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06040"/>
            <a:ext cx="5486400" cy="3108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一、公司近年经历了什么？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行业下行周期冲击 — 基础设施投资增速放缓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传统工程咨询业务遭遇断崖式下滑，行业洗牌加剧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艰辛的降本增效与人才队伍优化 — 果断行动，活了下来</a:t>
            </a:r>
          </a:p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二、但请看清关键事实：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玄镜平台和核心技术完整保留，研发投入持续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数字化新业务种子已播下，AI核心能力逐步构建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核心骨干凝聚向心力，蓄势等待行业拐点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606040"/>
            <a:ext cx="539496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606040"/>
            <a:ext cx="539496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2697480"/>
            <a:ext cx="510235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寒冬中的生命能量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108960"/>
            <a:ext cx="5102352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行业的寒冬是自然规律，而云基能活下来并迎来新业务落地，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靠的是每个坚守者用时间、情绪与职业韧性共同托底的生命能量。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更重要的是——在绝境中完成核心能力的重新审视：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二十年数据积累 + AI 的化学反应正在发生。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“那些打不倒我们的，终将使我们更强大”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1.3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绝境中，率先觉醒者看到了曙光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88136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8760" y="1572768"/>
            <a:ext cx="256032" cy="25603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78992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2024 H2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2103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谷底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21031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50" b="0">
                <a:solidFill>
                  <a:srgbClr val="5A6472"/>
                </a:solidFill>
                <a:latin typeface="Microsoft YaHei"/>
                <a:ea typeface="Microsoft YaHei"/>
              </a:rPr>
              <a:t>营收触底</a:t>
            </a:r>
          </a:p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50" b="0">
                <a:solidFill>
                  <a:srgbClr val="5A6472"/>
                </a:solidFill>
                <a:latin typeface="Microsoft YaHei"/>
                <a:ea typeface="Microsoft YaHei"/>
              </a:rPr>
              <a:t>人员优化到位</a:t>
            </a:r>
          </a:p>
        </p:txBody>
      </p:sp>
      <p:sp>
        <p:nvSpPr>
          <p:cNvPr id="12" name="Oval 11"/>
          <p:cNvSpPr/>
          <p:nvPr/>
        </p:nvSpPr>
        <p:spPr>
          <a:xfrm>
            <a:off x="3749040" y="1572768"/>
            <a:ext cx="256032" cy="25603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078992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2025 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965960"/>
            <a:ext cx="2103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政策东风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377440"/>
            <a:ext cx="21031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50" b="0">
                <a:solidFill>
                  <a:srgbClr val="5A6472"/>
                </a:solidFill>
                <a:latin typeface="Microsoft YaHei"/>
                <a:ea typeface="Microsoft YaHei"/>
              </a:rPr>
              <a:t>交通运输部</a:t>
            </a:r>
          </a:p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50" b="0">
                <a:solidFill>
                  <a:srgbClr val="5A6472"/>
                </a:solidFill>
                <a:latin typeface="Microsoft YaHei"/>
                <a:ea typeface="Microsoft YaHei"/>
              </a:rPr>
              <a:t>“一网四化”规划出台</a:t>
            </a:r>
          </a:p>
        </p:txBody>
      </p:sp>
      <p:sp>
        <p:nvSpPr>
          <p:cNvPr id="16" name="Oval 15"/>
          <p:cNvSpPr/>
          <p:nvPr/>
        </p:nvSpPr>
        <p:spPr>
          <a:xfrm>
            <a:off x="5989320" y="1572768"/>
            <a:ext cx="256032" cy="25603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1078992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2025 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965960"/>
            <a:ext cx="2103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AI觉醒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377440"/>
            <a:ext cx="21031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50" b="0">
                <a:solidFill>
                  <a:srgbClr val="5A6472"/>
                </a:solidFill>
                <a:latin typeface="Microsoft YaHei"/>
                <a:ea typeface="Microsoft YaHei"/>
              </a:rPr>
              <a:t>AI新生产力工具</a:t>
            </a:r>
          </a:p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50" b="0">
                <a:solidFill>
                  <a:srgbClr val="5A6472"/>
                </a:solidFill>
                <a:latin typeface="Microsoft YaHei"/>
                <a:ea typeface="Microsoft YaHei"/>
              </a:rPr>
              <a:t>内部试点成功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0" y="1572768"/>
            <a:ext cx="256032" cy="25603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1078992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2026 H1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965960"/>
            <a:ext cx="2103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曙光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377440"/>
            <a:ext cx="21031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50" b="0">
                <a:solidFill>
                  <a:srgbClr val="5A6472"/>
                </a:solidFill>
                <a:latin typeface="Microsoft YaHei"/>
                <a:ea typeface="Microsoft YaHei"/>
              </a:rPr>
              <a:t>数智化新业务</a:t>
            </a:r>
          </a:p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50" b="0">
                <a:solidFill>
                  <a:srgbClr val="5A6472"/>
                </a:solidFill>
                <a:latin typeface="Microsoft YaHei"/>
                <a:ea typeface="Microsoft YaHei"/>
              </a:rPr>
              <a:t>逐步落地</a:t>
            </a:r>
          </a:p>
        </p:txBody>
      </p:sp>
      <p:sp>
        <p:nvSpPr>
          <p:cNvPr id="24" name="Oval 23"/>
          <p:cNvSpPr/>
          <p:nvPr/>
        </p:nvSpPr>
        <p:spPr>
          <a:xfrm>
            <a:off x="10469880" y="1572768"/>
            <a:ext cx="256032" cy="25603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1078992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现在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1965960"/>
            <a:ext cx="2103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窗口期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377440"/>
            <a:ext cx="21031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50" b="0">
                <a:solidFill>
                  <a:srgbClr val="5A6472"/>
                </a:solidFill>
                <a:latin typeface="Microsoft YaHei"/>
                <a:ea typeface="Microsoft YaHei"/>
              </a:rPr>
              <a:t>第二曲线</a:t>
            </a:r>
          </a:p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50" b="0">
                <a:solidFill>
                  <a:srgbClr val="5A6472"/>
                </a:solidFill>
                <a:latin typeface="Microsoft YaHei"/>
                <a:ea typeface="Microsoft YaHei"/>
              </a:rPr>
              <a:t>即将爆发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291840"/>
            <a:ext cx="5486400" cy="2560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国产三维图形平台的核心价值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国产自主三维BIM图形引擎 — 行业唯一性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已嵌入交通基础设施全生命周期数字化流程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具备与AI引擎对接的开放架构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国产三维图形平台是“数据入口”，AI是“价值放大器”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291840"/>
            <a:ext cx="5394960" cy="2560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AI新业务机会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广东省数智交通产品AI化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全国第三批深圳数字化转型升级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港珠澳大桥多年智能运维平台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广韶北国产三维设计+智能建造平台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十五五陕西交通基建大平台 ……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拐点已现：政策 + 技术 + 业务三线共振，窗口期已经打开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1.4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“一网四化” — 十五五规划的万亿级机遇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83112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83112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D4A94A"/>
                </a:solidFill>
                <a:latin typeface="Microsoft YaHei"/>
                <a:ea typeface="Microsoft YaHei"/>
              </a:rPr>
              <a:t>一网：</a:t>
            </a: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国家综合立体交通网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265176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265176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148840"/>
            <a:ext cx="235915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一体化融合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560320"/>
            <a:ext cx="2359152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跨方式、跨区域、跨层级协同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2057400"/>
            <a:ext cx="265176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848" y="2057400"/>
            <a:ext cx="265176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2148840"/>
            <a:ext cx="235915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安全化提升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560320"/>
            <a:ext cx="2359152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基础设施全生命周期安全管控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2057400"/>
            <a:ext cx="265176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2057400"/>
            <a:ext cx="265176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148840"/>
            <a:ext cx="235915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数智化升级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60320"/>
            <a:ext cx="2359152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BIM+AI+数字孪生全面赋能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61704" y="2057400"/>
            <a:ext cx="265176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61704" y="2057400"/>
            <a:ext cx="265176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2148840"/>
            <a:ext cx="235915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绿色化转型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560320"/>
            <a:ext cx="2359152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低碳建造与智慧运维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657600"/>
            <a:ext cx="11155680" cy="21031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市场机遇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十五五交通数字化投入预计超万亿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全国路网BIM模型建设需求爆发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AI+工程场景应用市场空白巨大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“一带一路”交通基建数字化输出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云基的核心能力与“一网四化”高度契合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6000" b="1">
                <a:solidFill>
                  <a:srgbClr val="D4A94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重构 · AI重构一切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A8E0"/>
                </a:solidFill>
                <a:latin typeface="Microsoft YaHei"/>
                <a:ea typeface="Microsoft YaHei"/>
              </a:rPr>
              <a:t>AI 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343400"/>
            <a:ext cx="1828800" cy="3175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617720"/>
            <a:ext cx="92354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内部生产AI化 → 公司产品AI化 → AI能力产品化；
三级火箭点火，六步叙事逻辑，每一步路都不会白走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2.1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AI时代的工程咨询行业大变革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48640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一、传统工程咨询的三大痛点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人力密集 — 收入与工程师数量线性相关，天花板明显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经验依赖 — 资深工程师的隐性知识难以标准化传承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效率瓶颈 — 每个项目重复“从零开始”，知识复用率极低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39496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二、AI如何解这些题？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AI Agent替代重复性劳动 → 人力上限被突破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行业大模型沉淀隐性知识 → 经验可复制可传承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智能平台复用知识 → 每个新项目站在所有历史项目的肩膀上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11183112" cy="2011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657600"/>
            <a:ext cx="11183112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3749040"/>
            <a:ext cx="10890504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AI正在重塑工程咨询行业的底层逻辑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4160520"/>
            <a:ext cx="10890504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传统模式：卖人天 — 收入与人数线性相关，规模不经济；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AI模式：卖AI产出 — 一次开发、千人复用，边际成本趋近于零。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这是一场从“卖人天”到“卖AI产出”的生产力革命。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这是一场从“卖人天”到“卖AI产出”的生产力革命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2.2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核心叙事：AI重构一切 — 六步叙事逻辑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61188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61188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10058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D4A94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6420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内部生产AI化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5A6472"/>
                </a:solidFill>
                <a:latin typeface="Microsoft YaHei"/>
                <a:ea typeface="Microsoft YaHei"/>
              </a:rPr>
              <a:t>AI重塑工作流程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1" y="1371600"/>
            <a:ext cx="361188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1" y="1371600"/>
            <a:ext cx="361188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1" y="1508760"/>
            <a:ext cx="10058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D4A94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1" y="166420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公司产品AI化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1" y="242316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5A6472"/>
                </a:solidFill>
                <a:latin typeface="Microsoft YaHei"/>
                <a:ea typeface="Microsoft YaHei"/>
              </a:rPr>
              <a:t>产品注入AI能力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7302" y="1371600"/>
            <a:ext cx="361188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2" y="1371600"/>
            <a:ext cx="361188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2" y="1508760"/>
            <a:ext cx="10058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D4A94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2" y="166420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AI能力产品化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2" y="242316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5A6472"/>
                </a:solidFill>
                <a:latin typeface="Microsoft YaHei"/>
                <a:ea typeface="Microsoft YaHei"/>
              </a:rPr>
              <a:t>AI变成可售产品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20440"/>
            <a:ext cx="361188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520440"/>
            <a:ext cx="361188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657600"/>
            <a:ext cx="10058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D4A94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81304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行业大模型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7200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5A6472"/>
                </a:solidFill>
                <a:latin typeface="Microsoft YaHei"/>
                <a:ea typeface="Microsoft YaHei"/>
              </a:rPr>
              <a:t>二十年积累蒸馏淬炼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5111" y="3520440"/>
            <a:ext cx="361188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5111" y="3520440"/>
            <a:ext cx="361188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1" y="3657600"/>
            <a:ext cx="10058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D4A94A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1" y="381304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Agent产品标准化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1" y="457200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5A6472"/>
                </a:solidFill>
                <a:latin typeface="Microsoft YaHei"/>
                <a:ea typeface="Microsoft YaHei"/>
              </a:rPr>
              <a:t>打造标准化Agent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47302" y="3520440"/>
            <a:ext cx="361188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47302" y="3520440"/>
            <a:ext cx="361188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0182" y="3657600"/>
            <a:ext cx="10058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D4A94A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3142" y="381304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未来空间巨大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2" y="457200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5A6472"/>
                </a:solidFill>
                <a:latin typeface="Microsoft YaHei"/>
                <a:ea typeface="Microsoft YaHei"/>
              </a:rPr>
              <a:t>每一步路都不白走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三级火箭 × 行业大模型 × Agent标准化 — 六步走出第二曲线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2.3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第一步：内部生产AI化 — 第一级火箭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83112" cy="1051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11183112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234440"/>
            <a:ext cx="10890504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核心定义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645920"/>
            <a:ext cx="1089050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>
                <a:solidFill>
                  <a:srgbClr val="1A2638"/>
                </a:solidFill>
                <a:latin typeface="Microsoft YaHei"/>
                <a:ea typeface="Microsoft YaHei"/>
              </a:rPr>
              <a:t>把公司内部的流程、服务、运营，用AI重新做一遍。不是为了“省成本”——是为了“让公司变成AI公司的母体”。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5486400" cy="32918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传统生产方式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人工编写方案、报告，耗时数周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图纸审查依赖人工逐项核对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数据采集与处理效率低下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经验传承靠师徒制，知识流失严重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项目管理依赖Excel和微信群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77440"/>
            <a:ext cx="5394960" cy="32918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AI赋能生产方式（已落地场景）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AI自动生成方案/合同/标书初稿，人机协同精修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智能审图，分钟级完成全面核查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数据自动采集、清洗、结构化，分析自动化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知识库+大模型智能检索，经验永不流失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智能客服与项目交付辅助，全流程可视化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当内部生产流程被AI改造完成时，公司本身就是一家AI公司的原型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2.4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第二步：公司产品AI化 — 第二级火箭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83112" cy="1051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11183112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234440"/>
            <a:ext cx="10890504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核心定义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645920"/>
            <a:ext cx="1089050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>
                <a:solidFill>
                  <a:srgbClr val="1A2638"/>
                </a:solidFill>
                <a:latin typeface="Microsoft YaHei"/>
                <a:ea typeface="Microsoft YaHei"/>
              </a:rPr>
              <a:t>在现有产品中嵌入AI能力，让客户从“用我们的产品”变成“用我们的AI产品”。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77440"/>
            <a:ext cx="2377440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23774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</a:rPr>
              <a:t>玄镜BIM平台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377440"/>
            <a:ext cx="4023360" cy="822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2377440"/>
            <a:ext cx="37947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5A6472"/>
                </a:solidFill>
                <a:latin typeface="Microsoft YaHei"/>
                <a:ea typeface="Microsoft YaHei"/>
              </a:rPr>
              <a:t>之前：</a:t>
            </a: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三维图形引擎，人工建模效率低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377440"/>
            <a:ext cx="4507992" cy="822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2377440"/>
            <a:ext cx="38100" cy="82296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377440"/>
            <a:ext cx="4251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D4A94A"/>
                </a:solidFill>
                <a:latin typeface="Microsoft YaHei"/>
                <a:ea typeface="Microsoft YaHei"/>
              </a:rPr>
              <a:t>AI化之后：</a:t>
            </a: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AI自动建模、智能碰撞检测、生成式设计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37560"/>
            <a:ext cx="2377440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37560"/>
            <a:ext cx="23774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</a:rPr>
              <a:t>工程项目管理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337560"/>
            <a:ext cx="4023360" cy="822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337560"/>
            <a:ext cx="37947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5A6472"/>
                </a:solidFill>
                <a:latin typeface="Microsoft YaHei"/>
                <a:ea typeface="Microsoft YaHei"/>
              </a:rPr>
              <a:t>之前：</a:t>
            </a: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流程线上化，但决策仍靠人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3337560"/>
            <a:ext cx="4507992" cy="822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78040" y="3337560"/>
            <a:ext cx="38100" cy="82296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3337560"/>
            <a:ext cx="4251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D4A94A"/>
                </a:solidFill>
                <a:latin typeface="Microsoft YaHei"/>
                <a:ea typeface="Microsoft YaHei"/>
              </a:rPr>
              <a:t>AI化之后：</a:t>
            </a: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AI辅助决策、风险预测、智能调度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97680"/>
            <a:ext cx="2377440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297680"/>
            <a:ext cx="23774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</a:rPr>
              <a:t>数据分析平台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4297680"/>
            <a:ext cx="4023360" cy="822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80" y="4297680"/>
            <a:ext cx="37947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5A6472"/>
                </a:solidFill>
                <a:latin typeface="Microsoft YaHei"/>
                <a:ea typeface="Microsoft YaHei"/>
              </a:rPr>
              <a:t>之前：</a:t>
            </a: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数据报表，人工分析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4297680"/>
            <a:ext cx="4507992" cy="822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78040" y="4297680"/>
            <a:ext cx="38100" cy="82296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4297680"/>
            <a:ext cx="4251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D4A94A"/>
                </a:solidFill>
                <a:latin typeface="Microsoft YaHei"/>
                <a:ea typeface="Microsoft YaHei"/>
              </a:rPr>
              <a:t>AI化之后：</a:t>
            </a: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智能洞察、预测性分析、自动报告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34924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5A6472"/>
                </a:solidFill>
                <a:latin typeface="Microsoft YaHei"/>
                <a:ea typeface="Microsoft YaHei"/>
              </a:rPr>
              <a:t>这一级火箭，是给老客户的“礼物”，也是我们的“缓冲带”：老客户迁移成本最低、收入增量最高，并为第三级火箭做客户教育。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在不丢掉旧饭碗的同时，把新饭碗递到客户手里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2.5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第三步：AI能力产品化 — 第三级火箭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5486400" cy="1143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28016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智能审查Agent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691640"/>
            <a:ext cx="519379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工程图纸AI审查，支持200+规范自动检查，准确率95%+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1143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28016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代码生成与运维Agent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691640"/>
            <a:ext cx="519379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自动化代码生成、测试、部署，运维效率提升10倍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14600"/>
            <a:ext cx="5486400" cy="1143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51460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260604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智能报告生成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3017520"/>
            <a:ext cx="519379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工程报告自动撰写，专业规范，分钟级出稿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514600"/>
            <a:ext cx="5486400" cy="1143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51460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60604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工程知识大脑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017520"/>
            <a:ext cx="519379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企业知识库+RAG，专家经验永久沉淀、随时调用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77639"/>
            <a:ext cx="5486400" cy="18288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商业模式的根本性变化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不再只卖License（一次性）或SaaS订阅（按年）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按效果付费 / 按调用付费 / 按结果付费 — 与客户业绩挂钩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77639"/>
            <a:ext cx="5394960" cy="18288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客户关系的变化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客户从“买软件”变成“雇AI员工”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形态：行业Agent（行业智能体），把AI能力本身做成产品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AI能力不再是成本中心，而是利润中心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2.6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第四步：二十年积累 → 行业大模型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280160"/>
            <a:ext cx="9418320" cy="1051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905256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二十余年工程数据积累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5A6472"/>
                </a:solidFill>
                <a:latin typeface="Microsoft YaHei"/>
                <a:ea typeface="Microsoft YaHei"/>
              </a:rPr>
              <a:t>设计图纸 · 施工方案 · 运维记录 · 规范标准 · 专家经验 · 项目文档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313432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715768"/>
            <a:ext cx="941832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715768"/>
            <a:ext cx="905256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AI蒸馏 · 知识萃取 · 模型训练 · 持续优化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429000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831336"/>
            <a:ext cx="9418320" cy="105156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831336"/>
            <a:ext cx="905256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交通基础设施行业大模型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0B1F3A"/>
                </a:solidFill>
                <a:latin typeface="Microsoft YaHei"/>
                <a:ea typeface="Microsoft YaHei"/>
              </a:rPr>
              <a:t>垂直领域 · 深度理解 · 精准可控 · 持续进化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17720"/>
            <a:ext cx="9418320" cy="1188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数据 × 知识 × 平台 × 人才，全部转化为大模型的“原料”与“燃料”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通用大模型做不到的行业深度，我们做得到 — 这就是核心竞争力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核心竞争力：通用大模型做不到的行业深度，我们做得到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2.7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第五步：Agent产品标准化 — 三层技术架构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766560" cy="1298448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64008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0B1F3A"/>
                </a:solidFill>
                <a:latin typeface="Microsoft YaHei"/>
                <a:ea typeface="Microsoft YaHei"/>
              </a:rPr>
              <a:t>上层：产品矩阵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400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</a:rPr>
              <a:t>▸ 设计/审查/施工/运维Agent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</a:rPr>
              <a:t>▸ 管理/决策/定制/个人Agent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</a:rPr>
              <a:t>▸ 一次开发，多场景复用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06040"/>
            <a:ext cx="6766560" cy="1298448"/>
          </a:xfrm>
          <a:prstGeom prst="rect">
            <a:avLst/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64008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D4A94A"/>
                </a:solidFill>
                <a:latin typeface="Microsoft YaHei"/>
                <a:ea typeface="Microsoft YaHei"/>
              </a:rPr>
              <a:t>中层：Agent框架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6400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▸ 标准化Agent SDK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▸ 低代码编排平台 · 多Agent协作引擎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▸ 安全合规沙箱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23360"/>
            <a:ext cx="6766560" cy="12984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64008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D4A94A"/>
                </a:solidFill>
                <a:latin typeface="Microsoft YaHei"/>
                <a:ea typeface="Microsoft YaHei"/>
              </a:rPr>
              <a:t>底层：行业大模型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6400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▸ 交通工程知识图谱 · 专业规范语义理解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▸ 多模态图纸识别 · 工程计算引擎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188720"/>
            <a:ext cx="40233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Agent产品的三个特征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645920"/>
            <a:ext cx="411480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645920"/>
            <a:ext cx="38100" cy="109728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755648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标准化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755648"/>
            <a:ext cx="22860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一次开发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千人复用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880360"/>
            <a:ext cx="411480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20" y="2880360"/>
            <a:ext cx="38100" cy="109728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2990088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可进化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990088"/>
            <a:ext cx="22860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用得越多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越聪明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4114800"/>
            <a:ext cx="411480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0" y="4114800"/>
            <a:ext cx="38100" cy="109728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4224528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可定价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224528"/>
            <a:ext cx="22860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价值可量化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可计量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标准化 = 可复制 · 可规模化 · 可盈利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2.8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第六步：新机会 · 未来空间巨大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基于二十多年的积累，之前的每一步路都不会白走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3611880" cy="2103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361188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828800"/>
            <a:ext cx="331927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数据壁垒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240280"/>
            <a:ext cx="3319272" cy="1508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二十余年工程数据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行业Know-how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无可替代的深度积累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1" y="1737360"/>
            <a:ext cx="3611880" cy="2103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1" y="1737360"/>
            <a:ext cx="361188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5" y="1828800"/>
            <a:ext cx="331927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技术先发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5" y="2240280"/>
            <a:ext cx="3319272" cy="1508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国产BIM+AI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行业大模型+Agent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技术护城河持续加深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7302" y="1737360"/>
            <a:ext cx="3611880" cy="2103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7302" y="1737360"/>
            <a:ext cx="361188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6" y="1828800"/>
            <a:ext cx="331927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市场蓝海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6" y="2240280"/>
            <a:ext cx="3319272" cy="1508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标准化Agent产品规模化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行业数智化需求爆发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万亿级市场空间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11155680" cy="1554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破局机会已经浮现 — 不是所有人都还在迟疑，有些人已经行动起来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市场信号：AI工具类产品在工程领域搜索量爆发；多家设计院主动寻求AI审查合作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内部信号：技术团队主动学习AI技术；新业务客户咨询量显著回升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外部验证：AI工程领域投融资热度持续攀升；海外AI工程审查公司获高额融资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新机会窗口已经打开，关键是谁能率先抓住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6000" b="1">
                <a:solidFill>
                  <a:srgbClr val="D4A94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破局 · Agent标准化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A8E0"/>
                </a:solidFill>
                <a:latin typeface="Microsoft YaHei"/>
                <a:ea typeface="Microsoft YaHei"/>
              </a:rPr>
              <a:t>BREAKTHROUGH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343400"/>
            <a:ext cx="1828800" cy="3175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617720"/>
            <a:ext cx="92354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基于行业大模型打造Agent产品，让产品标准化；
Agent是AI时代的“新物种”，云基有独特优势做到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3.1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Agent：AI时代的“新物种”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486400" cy="2743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Agent与普通软件的本质区别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传统软件：你告诉它做什么，它做什么（工具）</a:t>
            </a:r>
          </a:p>
          <a:p>
            <a:pPr lvl="1">
              <a:lnSpc>
                <a:spcPct val="114000"/>
              </a:lnSpc>
              <a:spcAft>
                <a:spcPts val="200"/>
              </a:spcAft>
            </a:pPr>
            <a:r>
              <a:rPr sz="1300" b="0">
                <a:solidFill>
                  <a:srgbClr val="5A6472"/>
                </a:solidFill>
                <a:latin typeface="Microsoft YaHei"/>
                <a:ea typeface="Microsoft YaHei"/>
              </a:rPr>
              <a:t>需要人工操作、人工决策、人工判断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AI Agent：你告诉它目标，它自己完成（数字员工）</a:t>
            </a:r>
          </a:p>
          <a:p>
            <a:pPr lvl="1">
              <a:lnSpc>
                <a:spcPct val="114000"/>
              </a:lnSpc>
              <a:spcAft>
                <a:spcPts val="200"/>
              </a:spcAft>
            </a:pPr>
            <a:r>
              <a:rPr sz="1300" b="0">
                <a:solidFill>
                  <a:srgbClr val="5A6472"/>
                </a:solidFill>
                <a:latin typeface="Microsoft YaHei"/>
                <a:ea typeface="Microsoft YaHei"/>
              </a:rPr>
              <a:t>自主理解任务、自主规划步骤、自主执行操作、自主判断结果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394960" cy="2743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工程咨询Agent的典型场景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“帮我审查这份桥梁设计图纸” → 自主完成规范匹配、逐项审查、报告生成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“估算这个高速公路项目的造价” → 自主分析历史数据、生成精准造价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“监控这个隧道的安全状态” → 7×24自主监测、异常预警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9476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Agent产品矩阵规划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206240"/>
            <a:ext cx="210312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206240"/>
            <a:ext cx="210312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343400"/>
            <a:ext cx="2103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设计Agent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800600"/>
            <a:ext cx="188366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BIM建模 · 方案比选</a:t>
            </a:r>
          </a:p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图纸生成 ……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4206240"/>
            <a:ext cx="210312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4206240"/>
            <a:ext cx="210312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343400"/>
            <a:ext cx="2103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审查Agent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4800600"/>
            <a:ext cx="188366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规范审查 · 碰撞检测</a:t>
            </a:r>
          </a:p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质量报告 ……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4206240"/>
            <a:ext cx="210312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4206240"/>
            <a:ext cx="210312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4343400"/>
            <a:ext cx="2103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造价Agent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4800600"/>
            <a:ext cx="188366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造价估算 · 工程量计算</a:t>
            </a:r>
          </a:p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招投标辅助 ……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4206240"/>
            <a:ext cx="210312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4206240"/>
            <a:ext cx="210312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4343400"/>
            <a:ext cx="2103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监理Agent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4800600"/>
            <a:ext cx="188366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施工监测 · 质量预警</a:t>
            </a:r>
          </a:p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进度管理 ……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920" y="4206240"/>
            <a:ext cx="210312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46920" y="4206240"/>
            <a:ext cx="210312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4343400"/>
            <a:ext cx="2103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运维Agent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800600"/>
            <a:ext cx="188366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预测维护 · 安全监测</a:t>
            </a:r>
          </a:p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能效优化 ……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943600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Agent不是下一个软件形态，而是全新的“物种” — 可复制、可规模化的“数字工程师”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3.2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为什么云基可以做到？— 四大独特优势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48640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1、数据优势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737360"/>
            <a:ext cx="5193792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二十多年积累的数万个真实工程项目数据 — AI训练的“金矿”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没有这些数据，再好的AI技术也无从落地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48640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32588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2、技术优势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737360"/>
            <a:ext cx="5193792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玄镜平台 — 国内唯一自主可控的交通BIM三维引擎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已经完成AI引擎的对接架构设计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83280"/>
            <a:ext cx="548640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38328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347472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3、团队优势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3886200"/>
            <a:ext cx="5193792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既懂工程业务又懂数字化技术的复合型团队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这在市场上极其稀缺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83280"/>
            <a:ext cx="548640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38328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347472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4、先发优势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886200"/>
            <a:ext cx="5193792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同行尚未系统性地将AI与工程咨询深度融合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我们已完成从战略到执行的完整规划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窗口期稍纵即逝，先发优势要转化为市场地位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6000" b="1">
                <a:solidFill>
                  <a:srgbClr val="D4A94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资本视角看云基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A8E0"/>
                </a:solidFill>
                <a:latin typeface="Microsoft YaHei"/>
                <a:ea typeface="Microsoft YaHei"/>
              </a:rPr>
              <a:t>CAPITAL PERSPECTIVE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343400"/>
            <a:ext cx="1828800" cy="3175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617720"/>
            <a:ext cx="92354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对标分析 · 估值逻辑 · 市场空间 · 重新发现价值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4.1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云基在两个世界之间 — 同一个公司，两种估值逻辑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486400" cy="4206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0292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5A6472"/>
                </a:solidFill>
                <a:latin typeface="Microsoft YaHei"/>
                <a:ea typeface="Microsoft YaHei"/>
              </a:rPr>
              <a:t>过去的云基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A6472"/>
                </a:solidFill>
                <a:latin typeface="Microsoft YaHei"/>
                <a:ea typeface="Microsoft YaHei"/>
              </a:rPr>
              <a:t>资本市场怎么看？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029200" cy="3017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传统工程咨询公司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项目制、非标、难规模化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营收依赖基建投资周期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没有可比上市公司对标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资本市场无法给出估值锚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394960" cy="4206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17320"/>
            <a:ext cx="4937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D4A94A"/>
                </a:solidFill>
                <a:latin typeface="Microsoft YaHei"/>
                <a:ea typeface="Microsoft YaHei"/>
              </a:rPr>
              <a:t>AI时代的云基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EA8E0"/>
                </a:solidFill>
                <a:latin typeface="Microsoft YaHei"/>
                <a:ea typeface="Microsoft YaHei"/>
              </a:rPr>
              <a:t>资本市场会怎么定价？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860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AI驱动的行业科技平台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标准化Agent产品、SaaS模式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行业大模型+数据资产重估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标准化产品带来的线性增长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对标：工程SaaS + AI平台公司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同一个公司，两种估值逻辑 — 这就是AI带来的范式转换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4.2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对标：工程数字化上市公司一览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77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022"/>
                <a:gridCol w="2397935"/>
                <a:gridCol w="1660108"/>
                <a:gridCol w="1660108"/>
                <a:gridCol w="1475652"/>
                <a:gridCol w="1475652"/>
              </a:tblGrid>
              <a:tr h="600891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公司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领域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市值(亿元)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营收(亿元)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PS倍数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PE(TTM)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广联达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建筑信息化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60.7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2.3x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中望软件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工业CAD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95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8.9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10.7x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亏损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品茗科技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BIM+智慧工地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13.8x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182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浩辰软件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CAD+BIM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34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3.3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10.3x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201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明源云(HK)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地产SaaS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25(港元)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12.8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1.9x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盈建科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建筑结构+BIM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21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1.3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16.2x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亏损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1115568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Microsoft YaHei"/>
                <a:ea typeface="Microsoft YaHei"/>
              </a:rPr>
              <a:t>数据来源：东方财富、同花顺，市值为2026年7月近似值。PS = 市值 / 营收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60720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传统工程软件公司PS集中于2-16x，标准化与AI化程度决定倍数高低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4.3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云基估值推演：如果按AI公司重新定价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486400" cy="23774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传统工程软件公司 PS 倍数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广联达 2-3x · 中望软件 11x · 浩辰软件 10x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品茗科技 14x · 明源云 2x · 盈建科 16x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行业平均PS：约 8-10x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394960" cy="23774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AI公司 PS 倍数（参照系）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Palantir 96x · ServiceNow 13x · OpenAI(未上市) 34x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智谱(港股) 733x · MiniMax 281x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400" b="0">
                <a:solidFill>
                  <a:srgbClr val="1A2638"/>
                </a:solidFill>
                <a:latin typeface="Microsoft YaHei"/>
                <a:ea typeface="Microsoft YaHei"/>
              </a:rPr>
              <a:t>AI SaaS行业中位数：PS 15-20x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估值情景分析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49039"/>
            <a:ext cx="2651760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749039"/>
            <a:ext cx="265176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886200"/>
            <a:ext cx="2651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0B1F3A"/>
                </a:solidFill>
                <a:latin typeface="Microsoft YaHei"/>
                <a:ea typeface="Microsoft YaHei"/>
              </a:rPr>
              <a:t>保守情景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15968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D4A94A"/>
                </a:solidFill>
                <a:latin typeface="Microsoft YaHei"/>
                <a:ea typeface="Microsoft YaHei"/>
              </a:rPr>
              <a:t>3x 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19472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Microsoft YaHei"/>
                <a:ea typeface="Microsoft YaHei"/>
              </a:rPr>
              <a:t>对标广联达、明源云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3749039"/>
            <a:ext cx="2651760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5848" y="3749039"/>
            <a:ext cx="265176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3886200"/>
            <a:ext cx="2651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0B1F3A"/>
                </a:solidFill>
                <a:latin typeface="Microsoft YaHei"/>
                <a:ea typeface="Microsoft YaHei"/>
              </a:rPr>
              <a:t>基准情景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4315968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D4A94A"/>
                </a:solidFill>
                <a:latin typeface="Microsoft YaHei"/>
                <a:ea typeface="Microsoft YaHei"/>
              </a:rPr>
              <a:t>8x 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4919472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Microsoft YaHei"/>
                <a:ea typeface="Microsoft YaHei"/>
              </a:rPr>
              <a:t>对标品茗科技、浩辰软件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3749039"/>
            <a:ext cx="2651760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3749039"/>
            <a:ext cx="265176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8776" y="3886200"/>
            <a:ext cx="2651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0B1F3A"/>
                </a:solidFill>
                <a:latin typeface="Microsoft YaHei"/>
                <a:ea typeface="Microsoft YaHei"/>
              </a:rPr>
              <a:t>乐观情景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4315968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D4A94A"/>
                </a:solidFill>
                <a:latin typeface="Microsoft YaHei"/>
                <a:ea typeface="Microsoft YaHei"/>
              </a:rPr>
              <a:t>15x 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4919472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Microsoft YaHei"/>
                <a:ea typeface="Microsoft YaHei"/>
              </a:rPr>
              <a:t>AI产品线规模化落地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61704" y="3749039"/>
            <a:ext cx="2651760" cy="1737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704" y="3749039"/>
            <a:ext cx="265176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1704" y="3886200"/>
            <a:ext cx="2651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D4A94A"/>
                </a:solidFill>
                <a:latin typeface="Microsoft YaHei"/>
                <a:ea typeface="Microsoft YaHei"/>
              </a:rPr>
              <a:t>蓝海情景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1704" y="4315968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D4A94A"/>
                </a:solidFill>
                <a:latin typeface="Microsoft YaHei"/>
                <a:ea typeface="Microsoft YaHei"/>
              </a:rPr>
              <a:t>25x 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4" y="4919472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Agent标准化+规模化用户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从“项目制工程公司”到“AI行业平台”，PS倍数具备从2-3x向15-20x跃迁的空间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4.4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里程碑路线图与估值跃迁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651760" cy="4114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2651760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2026 H2  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AI化启动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65960"/>
            <a:ext cx="233172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▪ 内部AI工具全面部署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▪ 数字化新员工上岗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▪ 首批Agent产品原型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▪ 传统业务企稳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572000"/>
            <a:ext cx="1645920" cy="548640"/>
          </a:xfrm>
          <a:prstGeom prst="round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164592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PS 3x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1234440"/>
            <a:ext cx="2651760" cy="4114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848" y="1234440"/>
            <a:ext cx="2651760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234440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2027  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产品突破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▪ 行业大模型v1.0发布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▪ 3款Agent产品上市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▪ 标杆客户落地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58768" y="4572000"/>
            <a:ext cx="1645920" cy="548640"/>
          </a:xfrm>
          <a:prstGeom prst="round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58768" y="4572000"/>
            <a:ext cx="164592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PS 8x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234440"/>
            <a:ext cx="2651760" cy="4114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8776" y="1234440"/>
            <a:ext cx="2651760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1234440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2028  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规模增长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1965960"/>
            <a:ext cx="233172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▪ Agent产品线扩展至10+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▪ 营收恢复并超越峰值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▪ 标准化产品规模化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11696" y="4572000"/>
            <a:ext cx="1645920" cy="548640"/>
          </a:xfrm>
          <a:prstGeom prst="round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1696" y="4572000"/>
            <a:ext cx="164592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PS 15x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61704" y="1234440"/>
            <a:ext cx="2651760" cy="4114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704" y="1234440"/>
            <a:ext cx="2651760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1704" y="1234440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D4A94A"/>
                </a:solidFill>
                <a:latin typeface="Microsoft YaHei"/>
                <a:ea typeface="Microsoft YaHei"/>
              </a:rPr>
              <a:t>2029+  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平台生态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1965960"/>
            <a:ext cx="233172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▪ 开发者生态成形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▪ 行业标准制定者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A2638"/>
                </a:solidFill>
                <a:latin typeface="Microsoft YaHei"/>
                <a:ea typeface="Microsoft YaHei"/>
              </a:rPr>
              <a:t>▪ 工程AI平台公司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64624" y="4572000"/>
            <a:ext cx="1645920" cy="548640"/>
          </a:xfrm>
          <a:prstGeom prst="round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4624" y="4572000"/>
            <a:ext cx="164592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PS 25x+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2026：窗口期已至，行动就在当下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4.5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为什么云基应该被AI公司重新定价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48640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0B1F3A"/>
                </a:solidFill>
                <a:latin typeface="Microsoft YaHei"/>
                <a:ea typeface="Microsoft YaHei"/>
              </a:rPr>
              <a:t>大模型重塑估值逻辑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737360"/>
            <a:ext cx="5193792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智谱AI PS 733倍、MiniMax PS 281倍——资本为拥有大模型的公司支付极高溢价。云基正在构建行业大模型，底层逻辑一致但行业壁垒更深。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48640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32588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0B1F3A"/>
                </a:solidFill>
                <a:latin typeface="Microsoft YaHei"/>
                <a:ea typeface="Microsoft YaHei"/>
              </a:rPr>
              <a:t>Agent标准化 → SaaS模式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737360"/>
            <a:ext cx="5193792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标准化Agent产品具备SaaS属性：高毛利（80%+）、可复制、订阅制。广联达PS 3x，品茗科技PS 14x——标准化程度决定PS倍数。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83280"/>
            <a:ext cx="548640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38328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347472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0B1F3A"/>
                </a:solidFill>
                <a:latin typeface="Microsoft YaHei"/>
                <a:ea typeface="Microsoft YaHei"/>
              </a:rPr>
              <a:t>数据资产重估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3886200"/>
            <a:ext cx="5193792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二十余年工程数据+行业Know-how，在AI时代成为训练行业大模型的“燃料”。数据壁垒越深，PS倍数越高。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83280"/>
            <a:ext cx="548640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38328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347472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0B1F3A"/>
                </a:solidFill>
                <a:latin typeface="Microsoft YaHei"/>
                <a:ea typeface="Microsoft YaHei"/>
              </a:rPr>
              <a:t>标准化打开市场天花板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886200"/>
            <a:ext cx="5193792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从项目制定制走向标准化产品，服务客户数量与收入不再受人力约束，市场空间大幅打开。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资本市场正在重估AI公司 — 云基，凭什么不能？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4.6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深度对标：云基 vs 行业可比公司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3444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1645920"/>
                <a:gridCol w="1463040"/>
                <a:gridCol w="1737360"/>
                <a:gridCol w="1280160"/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公司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核心能力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AI化程度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标准化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客户模式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PS倍数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广联达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造价+施工管理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●●○○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●●●○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B+G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2-3x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明源云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地产ERP SaaS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●●●○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●●●○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B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2x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中望软件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CAD/CAE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●○○○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●●●●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B+C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11x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品茗科技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BIM+智慧工地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●●○○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●●●○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B+G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14x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云基(现在)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BIM+工程咨询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●○○○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●○○○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B+G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云基(AI时代)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行业大模型+Agent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●●●●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●●●●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B+G+平台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?x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760720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云基从“项目制工程公司”向“AI行业平台”转型，对应PS倍数从2-3x向15-20x跃迁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6000" b="1">
                <a:solidFill>
                  <a:srgbClr val="D4A94A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回归初心 · 组织与人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A8E0"/>
                </a:solidFill>
                <a:latin typeface="Microsoft YaHei"/>
                <a:ea typeface="Microsoft YaHei"/>
              </a:rPr>
              <a:t>BACK TO THE ORIGIN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343400"/>
            <a:ext cx="1828800" cy="3175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617720"/>
            <a:ext cx="92354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产品战略与实施路径 · 至诚文化 · 行正道造市场做事业过好日子 · 从组织回归生命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5.1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产品战略：分类分级体系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11183112" cy="914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" cy="9144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246888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S级 · 战略核心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325880"/>
            <a:ext cx="521208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玄镜BIM平台、行业大模型、Agent开发框架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325880"/>
            <a:ext cx="27432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5A6472"/>
                </a:solidFill>
                <a:latin typeface="Microsoft YaHei"/>
                <a:ea typeface="Microsoft YaHei"/>
              </a:rPr>
              <a:t>公司命脉，持续重仓投入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86000"/>
            <a:ext cx="11183112" cy="914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286000"/>
            <a:ext cx="109728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77440"/>
            <a:ext cx="246888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A级 · 主营业务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77440"/>
            <a:ext cx="521208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工程项目管理平台、数据分析平台、智能审查系统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377440"/>
            <a:ext cx="27432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5A6472"/>
                </a:solidFill>
                <a:latin typeface="Microsoft YaHei"/>
                <a:ea typeface="Microsoft YaHei"/>
              </a:rPr>
              <a:t>现金流来源，AI化升级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37560"/>
            <a:ext cx="11183112" cy="914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37560"/>
            <a:ext cx="109728" cy="914400"/>
          </a:xfrm>
          <a:prstGeom prst="rect">
            <a:avLst/>
          </a:prstGeom>
          <a:solidFill>
            <a:srgbClr val="2E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246888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B级 · 孵化业务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429000"/>
            <a:ext cx="521208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AI个人助手、行业知识付费、SaaS工具集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429000"/>
            <a:ext cx="27432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5A6472"/>
                </a:solidFill>
                <a:latin typeface="Microsoft YaHei"/>
                <a:ea typeface="Microsoft YaHei"/>
              </a:rPr>
              <a:t>创新先锋，快速验证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389120"/>
            <a:ext cx="11183112" cy="914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389120"/>
            <a:ext cx="109728" cy="914400"/>
          </a:xfrm>
          <a:prstGeom prst="rect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246888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C级 · 待评估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480560"/>
            <a:ext cx="521208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传统咨询工具、非核心定制项目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480560"/>
            <a:ext cx="27432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5A6472"/>
                </a:solidFill>
                <a:latin typeface="Microsoft YaHei"/>
                <a:ea typeface="Microsoft YaHei"/>
              </a:rPr>
              <a:t>逐步退出或AI替代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715000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分级决定资源配置优先级，集中力量办大事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5.2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产品决策机制与技术管理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58521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460"/>
                <a:gridCol w="1326489"/>
                <a:gridCol w="1248460"/>
                <a:gridCol w="202874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决策事项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决策主体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频率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关键标准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立项决策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产品委员会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季度评审会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战略匹配度、市场空间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资源分配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CEO + CTO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年度预算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分级权重、ROI预期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技术路线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技术委员会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持续评估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先进性、可控性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退出决策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产品委员会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季度复盘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638"/>
                          </a:solidFill>
                          <a:latin typeface="Microsoft YaHei"/>
                          <a:ea typeface="Microsoft YaHei"/>
                        </a:rPr>
                        <a:t>盈利能力、战略价值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29400" y="1234440"/>
            <a:ext cx="5074920" cy="2926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技术管理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代码：统一GitLab + 技术委员会Code Review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运维：DevOps + AI自动化，7×24智能监控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核心技术：自研为主（玄镜/大模型/Agent）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使用者：内部 → 外部 → 规模化用户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297680"/>
            <a:ext cx="548640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297680"/>
            <a:ext cx="5486400" cy="38100"/>
          </a:xfrm>
          <a:prstGeom prst="rect">
            <a:avLst/>
          </a:prstGeom>
          <a:solidFill>
            <a:srgbClr val="27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438912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保留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4800600"/>
            <a:ext cx="5193792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玄镜BIM / 行业大模型 / Agent产品线 / 工程数据平台 / SaaS工具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297680"/>
            <a:ext cx="548640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297680"/>
            <a:ext cx="548640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438912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</a:rPr>
              <a:t>退出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4800600"/>
            <a:ext cx="5193792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纯人工咨询 / 非标定制 / 传统工具 / 低端外包 / 重复性文档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897880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机制先行 · 分级管理 · 有所为有所不为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5.3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AI原生生产方式：人类团队 + 数字化新员工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937760" cy="2926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480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人类团队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48056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35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350" b="0">
                <a:solidFill>
                  <a:srgbClr val="1A2638"/>
                </a:solidFill>
                <a:latin typeface="Microsoft YaHei"/>
                <a:ea typeface="Microsoft YaHei"/>
              </a:rPr>
              <a:t>战略决策 · 创意设计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35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350" b="0">
                <a:solidFill>
                  <a:srgbClr val="1A2638"/>
                </a:solidFill>
                <a:latin typeface="Microsoft YaHei"/>
                <a:ea typeface="Microsoft YaHei"/>
              </a:rPr>
              <a:t>复杂判断 · 客户关系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35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350" b="0">
                <a:solidFill>
                  <a:srgbClr val="1A2638"/>
                </a:solidFill>
                <a:latin typeface="Microsoft YaHei"/>
                <a:ea typeface="Microsoft YaHei"/>
              </a:rPr>
              <a:t>价值观守护 · 文化传承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468880"/>
            <a:ext cx="7315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3600" b="1">
                <a:solidFill>
                  <a:srgbClr val="D4A94A"/>
                </a:solidFill>
                <a:latin typeface="Microsoft YaHei"/>
                <a:ea typeface="Microsoft YaHei"/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349240" cy="2926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D4A94A"/>
                </a:solidFill>
                <a:latin typeface="Microsoft YaHei"/>
                <a:ea typeface="Microsoft YaHei"/>
              </a:rPr>
              <a:t>数字化新员工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</a:rPr>
              <a:t>7×24不间断工作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</a:rPr>
              <a:t>海量数据处理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</a:rPr>
              <a:t>模式识别 · 自动执行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D4A94A"/>
                </a:solidFill>
                <a:latin typeface="Microsoft YaHei"/>
                <a:ea typeface="Microsoft YaHei"/>
              </a:rPr>
              <a:t>▪ 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</a:rPr>
              <a:t>知识永不流失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663440"/>
            <a:ext cx="11183112" cy="9144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63440"/>
            <a:ext cx="11183112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0B1F3A"/>
                </a:solidFill>
                <a:latin typeface="Microsoft YaHei"/>
                <a:ea typeface="Microsoft YaHei"/>
              </a:rPr>
              <a:t>= 超级团队：效率×10 · 质量×5 · 成本÷3 · 创新×N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52160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AI不是替代人，而是把人从重复劳动中解放出来，去做更有价值的事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5.4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至诚 — 我们的文化基因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926080" cy="3931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2926080" cy="3931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6400" b="1">
                <a:solidFill>
                  <a:srgbClr val="D4A94A"/>
                </a:solidFill>
                <a:latin typeface="Microsoft YaHei"/>
                <a:ea typeface="Microsoft YaHei"/>
              </a:rPr>
              <a:t>至</a:t>
            </a:r>
          </a:p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6400" b="1">
                <a:solidFill>
                  <a:srgbClr val="D4A94A"/>
                </a:solidFill>
                <a:latin typeface="Microsoft YaHei"/>
                <a:ea typeface="Microsoft YaHei"/>
              </a:rPr>
              <a:t>诚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371600"/>
            <a:ext cx="800100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03320" y="1371600"/>
            <a:ext cx="80010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9624" y="1463040"/>
            <a:ext cx="77083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0B1F3A"/>
                </a:solidFill>
                <a:latin typeface="Microsoft YaHei"/>
                <a:ea typeface="Microsoft YaHei"/>
              </a:rPr>
              <a:t>对事至诚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1874520"/>
            <a:ext cx="770839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每一个像素、每一行代码、每一个项目，力求极致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377440"/>
            <a:ext cx="800100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377440"/>
            <a:ext cx="80010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9624" y="2468880"/>
            <a:ext cx="77083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0B1F3A"/>
                </a:solidFill>
                <a:latin typeface="Microsoft YaHei"/>
                <a:ea typeface="Microsoft YaHei"/>
              </a:rPr>
              <a:t>对人至诚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9624" y="2880360"/>
            <a:ext cx="770839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对客户坦诚、对同事真诚、对股东信诚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3383280"/>
            <a:ext cx="800100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03320" y="3383280"/>
            <a:ext cx="80010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9624" y="3474720"/>
            <a:ext cx="77083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0B1F3A"/>
                </a:solidFill>
                <a:latin typeface="Microsoft YaHei"/>
                <a:ea typeface="Microsoft YaHei"/>
              </a:rPr>
              <a:t>对己至诚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9624" y="3886200"/>
            <a:ext cx="770839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不自欺、不将就、不随波逐流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4389120"/>
            <a:ext cx="800100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03320" y="4389120"/>
            <a:ext cx="80010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9624" y="4480560"/>
            <a:ext cx="77083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0B1F3A"/>
                </a:solidFill>
                <a:latin typeface="Microsoft YaHei"/>
                <a:ea typeface="Microsoft YaHei"/>
              </a:rPr>
              <a:t>对时代至诚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9624" y="4892040"/>
            <a:ext cx="770839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以技术报国，以创新推动行业进步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715000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至诚，是云基人面对一切不确定性的确定答案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5.5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行正道 · 造市场 · 做事业 · 过好日子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265176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6517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D4A94A"/>
                </a:solidFill>
                <a:latin typeface="Microsoft YaHei"/>
                <a:ea typeface="Microsoft YaHei"/>
              </a:rPr>
              <a:t>行正道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2651760" cy="30175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103120"/>
            <a:ext cx="233172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▪ 合规经营，诚信为本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▪ 不走捷径，不碰红线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▪ 长期主义，价值驱动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1280160"/>
            <a:ext cx="265176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280160"/>
            <a:ext cx="26517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D4A94A"/>
                </a:solidFill>
                <a:latin typeface="Microsoft YaHei"/>
                <a:ea typeface="Microsoft YaHei"/>
              </a:rPr>
              <a:t>造市场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1920240"/>
            <a:ext cx="2651760" cy="30175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33172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▪ 不是分蛋糕，而是做蛋糕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▪ 以AI开辟新赛道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▪ 开创行业数智化新空间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280160"/>
            <a:ext cx="265176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280160"/>
            <a:ext cx="26517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D4A94A"/>
                </a:solidFill>
                <a:latin typeface="Microsoft YaHei"/>
                <a:ea typeface="Microsoft YaHei"/>
              </a:rPr>
              <a:t>做事业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1920240"/>
            <a:ext cx="2651760" cy="30175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103120"/>
            <a:ext cx="233172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▪ 不是打工，而是共同创业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▪ 每一份付出都有股权对价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▪ 与公司共同成长、共享成果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1704" y="1280160"/>
            <a:ext cx="265176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1280160"/>
            <a:ext cx="26517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D4A94A"/>
                </a:solidFill>
                <a:latin typeface="Microsoft YaHei"/>
                <a:ea typeface="Microsoft YaHei"/>
              </a:rPr>
              <a:t>过好日子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61704" y="1920240"/>
            <a:ext cx="2651760" cy="30175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6296" y="2103120"/>
            <a:ext cx="233172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▪ 事业有成，生活有品质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▪ 奋斗有意义，未来有盼头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A2638"/>
                </a:solidFill>
                <a:latin typeface="Microsoft YaHei"/>
                <a:ea typeface="Microsoft YaHei"/>
              </a:rPr>
              <a:t>▪ 让每位云基人都活得体面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257800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这十二个字，不是口号，是云基人每一天的行动准则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5.6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从组织回归到人 · 从人回归到生命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941832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D4A94A"/>
                </a:solidFill>
                <a:latin typeface="Microsoft YaHei"/>
                <a:ea typeface="Microsoft YaHei"/>
              </a:rPr>
              <a:t>“股权激励不是公司分钱，而是承认每一个人的创造价值。”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3017520"/>
            <a:ext cx="2743200" cy="1828800"/>
          </a:xfrm>
          <a:prstGeom prst="rect">
            <a:avLst/>
          </a:prstGeom>
          <a:solidFill>
            <a:srgbClr val="132E52"/>
          </a:solidFill>
          <a:ln w="12700">
            <a:solidFill>
              <a:srgbClr val="D4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91840"/>
            <a:ext cx="27432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组织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23360"/>
            <a:ext cx="2743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EA8E0"/>
                </a:solidFill>
                <a:latin typeface="Microsoft YaHei"/>
                <a:ea typeface="Microsoft YaHei"/>
              </a:rPr>
              <a:t>战略 · 制度 · 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566160"/>
            <a:ext cx="7315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D4A94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3017520"/>
            <a:ext cx="2743200" cy="1828800"/>
          </a:xfrm>
          <a:prstGeom prst="rect">
            <a:avLst/>
          </a:prstGeom>
          <a:solidFill>
            <a:srgbClr val="132E52"/>
          </a:solidFill>
          <a:ln w="12700">
            <a:solidFill>
              <a:srgbClr val="D4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3291840"/>
            <a:ext cx="27432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023360"/>
            <a:ext cx="2743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EA8E0"/>
                </a:solidFill>
                <a:latin typeface="Microsoft YaHei"/>
                <a:ea typeface="Microsoft YaHei"/>
              </a:rPr>
              <a:t>创造力 · 判断力 · 协作力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566160"/>
            <a:ext cx="7315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D4A94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3017520"/>
            <a:ext cx="2743200" cy="1828800"/>
          </a:xfrm>
          <a:prstGeom prst="rect">
            <a:avLst/>
          </a:prstGeom>
          <a:solidFill>
            <a:srgbClr val="132E52"/>
          </a:solidFill>
          <a:ln w="12700">
            <a:solidFill>
              <a:srgbClr val="D4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291840"/>
            <a:ext cx="27432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生命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023360"/>
            <a:ext cx="2743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EA8E0"/>
                </a:solidFill>
                <a:latin typeface="Microsoft YaHei"/>
                <a:ea typeface="Microsoft YaHei"/>
              </a:rPr>
              <a:t>意义 · 成长 · 幸福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60"/>
            <a:ext cx="94183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Microsoft YaHei"/>
                <a:ea typeface="Microsoft YaHei"/>
              </a:rPr>
              <a:t>组织的本质是人的集合，人的本质是生命的绽放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6000" b="1">
                <a:solidFill>
                  <a:srgbClr val="D4A94A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共赢 · 第二次股权激励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A8E0"/>
                </a:solidFill>
                <a:latin typeface="Microsoft YaHei"/>
                <a:ea typeface="Microsoft YaHei"/>
              </a:rPr>
              <a:t>TOGETHER WE WIN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343400"/>
            <a:ext cx="1828800" cy="3175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617720"/>
            <a:ext cx="92354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窗口期 · 最佳时机 · 二次合伙 · 共享成长；
让每个人成为AI时代云基智慧的共创者和受益者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6.1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重新定义“股权激励”四个字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86400" cy="3566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Microsoft YaHei"/>
                <a:ea typeface="Microsoft YaHei"/>
              </a:rPr>
              <a:t>它 不 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502920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00" b="0">
                <a:solidFill>
                  <a:srgbClr val="1A2638"/>
                </a:solidFill>
                <a:latin typeface="Microsoft YaHei"/>
                <a:ea typeface="Microsoft YaHei"/>
              </a:rPr>
              <a:t>❌  不是“福利”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00" b="0">
                <a:solidFill>
                  <a:srgbClr val="1A2638"/>
                </a:solidFill>
                <a:latin typeface="Microsoft YaHei"/>
                <a:ea typeface="Microsoft YaHei"/>
              </a:rPr>
              <a:t>❌  不是“奖励”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00" b="0">
                <a:solidFill>
                  <a:srgbClr val="1A2638"/>
                </a:solidFill>
                <a:latin typeface="Microsoft YaHei"/>
                <a:ea typeface="Microsoft YaHei"/>
              </a:rPr>
              <a:t>❌  不是“画饼”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394960" cy="35661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6304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D4A94A"/>
                </a:solidFill>
                <a:latin typeface="Microsoft YaHei"/>
                <a:ea typeface="Microsoft YaHei"/>
              </a:rPr>
              <a:t>它 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5740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D4A94A"/>
                </a:solidFill>
                <a:latin typeface="Microsoft YaHei"/>
                <a:ea typeface="Microsoft YaHei"/>
              </a:rPr>
              <a:t>✅  </a:t>
            </a: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「二次合伙的邀请函」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D4A94A"/>
                </a:solidFill>
                <a:latin typeface="Microsoft YaHei"/>
                <a:ea typeface="Microsoft YaHei"/>
              </a:rPr>
              <a:t>✅  </a:t>
            </a: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「AI时代的船票」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D4A94A"/>
                </a:solidFill>
                <a:latin typeface="Microsoft YaHei"/>
                <a:ea typeface="Microsoft YaHei"/>
              </a:rPr>
              <a:t>✅  </a:t>
            </a: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「我们对未来下注的证据」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D4A94A"/>
                </a:solidFill>
                <a:latin typeface="Microsoft YaHei"/>
                <a:ea typeface="Microsoft YaHei"/>
              </a:rPr>
              <a:t>✅  </a:t>
            </a: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「共享第二曲线红利」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212080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这一轮股权的本质，是“参与定义AI时代”的机会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6.2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我们希望的合伙人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611880" cy="3108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61188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554480"/>
            <a:ext cx="331927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</a:rPr>
              <a:t>对坚守者的致敬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965960"/>
            <a:ext cx="3319272" cy="2514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>
                <a:solidFill>
                  <a:srgbClr val="1A2638"/>
                </a:solidFill>
                <a:latin typeface="Microsoft YaHei"/>
                <a:ea typeface="Microsoft YaHei"/>
              </a:rPr>
              <a:t>第二轮激励是对“穿越至暗时刻的坚守者”的正式致敬——你们的坚持，值得被看见、被回报。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1" y="1463040"/>
            <a:ext cx="3611880" cy="3108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1" y="1463040"/>
            <a:ext cx="361188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5" y="1554480"/>
            <a:ext cx="331927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</a:rPr>
              <a:t>对相信者的激励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5" y="1965960"/>
            <a:ext cx="3319272" cy="2514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>
                <a:solidFill>
                  <a:srgbClr val="1A2638"/>
                </a:solidFill>
                <a:latin typeface="Microsoft YaHei"/>
                <a:ea typeface="Microsoft YaHei"/>
              </a:rPr>
              <a:t>第二轮股权激励是双向选择：公司选择你，你也选择相信云基的未来。这是一次信心的双向投票。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2" y="1463040"/>
            <a:ext cx="3611880" cy="3108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7302" y="1463040"/>
            <a:ext cx="361188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6" y="1554480"/>
            <a:ext cx="331927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</a:rPr>
              <a:t>对长期者的肯定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6" y="1965960"/>
            <a:ext cx="3319272" cy="2514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>
                <a:solidFill>
                  <a:srgbClr val="1A2638"/>
                </a:solidFill>
                <a:latin typeface="Microsoft YaHei"/>
                <a:ea typeface="Microsoft YaHei"/>
              </a:rPr>
              <a:t>当前正是云基价值洼地期。随着数智化业务的持续落地，长期主义者将获得最大的价值增长空间。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029200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致坚守者 · 致相信者 · 致长期主义者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6.3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第二次股权激励方案要点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82296" cy="173736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0584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D4A94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627632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激励对象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148840"/>
            <a:ext cx="4023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核心骨干员工，对公司未来发展有坚定信念的奋斗者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486400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82296" cy="173736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100584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D4A94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1627632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授予价格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2148840"/>
            <a:ext cx="4023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基于当前窗口期，极具吸引力的价值洼地价格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37560"/>
            <a:ext cx="5486400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37560"/>
            <a:ext cx="82296" cy="173736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100584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D4A94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593592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锁定机制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114800"/>
            <a:ext cx="4023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服务期锁定 + 业绩条件解锁，长期价值绑定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337560"/>
            <a:ext cx="5486400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337560"/>
            <a:ext cx="82296" cy="173736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520440"/>
            <a:ext cx="100584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D4A94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593592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</a:rPr>
              <a:t>退出机制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4114800"/>
            <a:ext cx="40233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上市/并购退出或公司回购，灵活多元通道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486400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具体方案详见《第二次股权激励计划说明书》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6.4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为什么现在是最佳时机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48640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0B1F3A"/>
                </a:solidFill>
                <a:latin typeface="Microsoft YaHei"/>
                <a:ea typeface="Microsoft YaHei"/>
              </a:rPr>
              <a:t>01 估值低谷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737360"/>
            <a:ext cx="5193792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经历行业下行周期后，公司估值处于历史低位。以AI公司重新定价的潜力尚未被市场发现——现在入场意味着最大的增值空间。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48640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32588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0B1F3A"/>
                </a:solidFill>
                <a:latin typeface="Microsoft YaHei"/>
                <a:ea typeface="Microsoft YaHei"/>
              </a:rPr>
              <a:t>02 三重拐点叠加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737360"/>
            <a:ext cx="5193792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“一网四化”政策红利 + AI技术成熟 + 公司Agent产品落地——三重利好在同一时间窗口交汇，这是千载难逢的机会。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83280"/>
            <a:ext cx="548640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38328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347472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0B1F3A"/>
                </a:solidFill>
                <a:latin typeface="Microsoft YaHei"/>
                <a:ea typeface="Microsoft YaHei"/>
              </a:rPr>
              <a:t>03 第二曲线爆发前夜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3886200"/>
            <a:ext cx="5193792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AI驱动的全新商业模式即将爆发。对标已上市公司的估值逻辑，现在投入的每一分努力都将被10-50倍杠杆放大。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83280"/>
            <a:ext cx="5486400" cy="1920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383280"/>
            <a:ext cx="548640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3474720"/>
            <a:ext cx="5193792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0B1F3A"/>
                </a:solidFill>
                <a:latin typeface="Microsoft YaHei"/>
                <a:ea typeface="Microsoft YaHei"/>
              </a:rPr>
              <a:t>04 先行者红利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886200"/>
            <a:ext cx="5193792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2638"/>
                </a:solidFill>
                <a:latin typeface="Microsoft YaHei"/>
                <a:ea typeface="Microsoft YaHei"/>
              </a:rPr>
              <a:t>第一批相信并行动的人，将占据最好的位置。等所有不确定消除后再入场，最好的机会已经过去。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种一棵树最好的时间是十年前，其次是现在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6.5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时间节奏与行动路线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381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1508760"/>
            <a:ext cx="548640" cy="54864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D4A94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第1周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宣讲动员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246120"/>
            <a:ext cx="205740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1874519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A2638"/>
                </a:solidFill>
                <a:latin typeface="Microsoft YaHei"/>
                <a:ea typeface="Microsoft YaHei"/>
              </a:rPr>
              <a:t>动员·文化再觉醒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A2638"/>
                </a:solidFill>
                <a:latin typeface="Microsoft YaHei"/>
                <a:ea typeface="Microsoft YaHei"/>
              </a:rPr>
              <a:t>用“更深的相信”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A2638"/>
                </a:solidFill>
                <a:latin typeface="Microsoft YaHei"/>
                <a:ea typeface="Microsoft YaHei"/>
              </a:rPr>
              <a:t>点燃相信</a:t>
            </a:r>
          </a:p>
        </p:txBody>
      </p:sp>
      <p:sp>
        <p:nvSpPr>
          <p:cNvPr id="13" name="Oval 12"/>
          <p:cNvSpPr/>
          <p:nvPr/>
        </p:nvSpPr>
        <p:spPr>
          <a:xfrm>
            <a:off x="3584448" y="1508760"/>
            <a:ext cx="548640" cy="54864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D4A94A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377440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第2周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743200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调研摸底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2928" y="3246120"/>
            <a:ext cx="205740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3383280"/>
            <a:ext cx="1874519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A2638"/>
                </a:solidFill>
                <a:latin typeface="Microsoft YaHei"/>
                <a:ea typeface="Microsoft YaHei"/>
              </a:rPr>
              <a:t>各板块宣讲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A2638"/>
                </a:solidFill>
                <a:latin typeface="Microsoft YaHei"/>
                <a:ea typeface="Microsoft YaHei"/>
              </a:rPr>
              <a:t>收集与反馈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A2638"/>
                </a:solidFill>
                <a:latin typeface="Microsoft YaHei"/>
                <a:ea typeface="Microsoft YaHei"/>
              </a:rPr>
              <a:t>员工顾虑</a:t>
            </a:r>
          </a:p>
        </p:txBody>
      </p:sp>
      <p:sp>
        <p:nvSpPr>
          <p:cNvPr id="18" name="Oval 17"/>
          <p:cNvSpPr/>
          <p:nvPr/>
        </p:nvSpPr>
        <p:spPr>
          <a:xfrm>
            <a:off x="5843016" y="1508760"/>
            <a:ext cx="548640" cy="54864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D4A94A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2377440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第3周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2743200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名单审定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11496" y="3246120"/>
            <a:ext cx="205740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2936" y="3383280"/>
            <a:ext cx="1874519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A2638"/>
                </a:solidFill>
                <a:latin typeface="Microsoft YaHei"/>
                <a:ea typeface="Microsoft YaHei"/>
              </a:rPr>
              <a:t>员工个人申请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A2638"/>
                </a:solidFill>
                <a:latin typeface="Microsoft YaHei"/>
                <a:ea typeface="Microsoft YaHei"/>
              </a:rPr>
              <a:t>人力资源部初审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A2638"/>
                </a:solidFill>
                <a:latin typeface="Microsoft YaHei"/>
                <a:ea typeface="Microsoft YaHei"/>
              </a:rPr>
              <a:t>公司会议决策</a:t>
            </a:r>
          </a:p>
        </p:txBody>
      </p:sp>
      <p:sp>
        <p:nvSpPr>
          <p:cNvPr id="23" name="Oval 22"/>
          <p:cNvSpPr/>
          <p:nvPr/>
        </p:nvSpPr>
        <p:spPr>
          <a:xfrm>
            <a:off x="8101584" y="1508760"/>
            <a:ext cx="548640" cy="54864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D4A94A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2377440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第4周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2743200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方案确认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3246120"/>
            <a:ext cx="205740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1504" y="3383280"/>
            <a:ext cx="1874519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A2638"/>
                </a:solidFill>
                <a:latin typeface="Microsoft YaHei"/>
                <a:ea typeface="Microsoft YaHei"/>
              </a:rPr>
              <a:t>持股平台调整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A2638"/>
                </a:solidFill>
                <a:latin typeface="Microsoft YaHei"/>
                <a:ea typeface="Microsoft YaHei"/>
              </a:rPr>
              <a:t>行权条件确认</a:t>
            </a:r>
          </a:p>
        </p:txBody>
      </p:sp>
      <p:sp>
        <p:nvSpPr>
          <p:cNvPr id="28" name="Oval 27"/>
          <p:cNvSpPr/>
          <p:nvPr/>
        </p:nvSpPr>
        <p:spPr>
          <a:xfrm>
            <a:off x="10360152" y="1508760"/>
            <a:ext cx="548640" cy="54864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D4A94A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2377440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第5-8周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2" y="2743200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落地执行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28632" y="3246120"/>
            <a:ext cx="2057400" cy="1600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20072" y="3383280"/>
            <a:ext cx="1874519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A2638"/>
                </a:solidFill>
                <a:latin typeface="Microsoft YaHei"/>
                <a:ea typeface="Microsoft YaHei"/>
              </a:rPr>
              <a:t>正式发布激励方案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A2638"/>
                </a:solidFill>
                <a:latin typeface="Microsoft YaHei"/>
                <a:ea typeface="Microsoft YaHei"/>
              </a:rPr>
              <a:t>签署激励协议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A2638"/>
                </a:solidFill>
                <a:latin typeface="Microsoft YaHei"/>
                <a:ea typeface="Microsoft YaHei"/>
              </a:rPr>
              <a:t>合伙人公约仪式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212080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八周落地：从宣讲动员到合伙人公约仪式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6.6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这一次，你选择相信什么？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94183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“悲观者正确，乐观者前行。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D4A94A"/>
                </a:solidFill>
                <a:latin typeface="Microsoft YaHei"/>
                <a:ea typeface="Microsoft YaHei"/>
              </a:rPr>
              <a:t>在至暗时刻选择相信的人，将成为下一个时代的赢家。”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3108960"/>
            <a:ext cx="2651760" cy="1828800"/>
          </a:xfrm>
          <a:prstGeom prst="rect">
            <a:avLst/>
          </a:prstGeom>
          <a:solidFill>
            <a:srgbClr val="132E52"/>
          </a:solidFill>
          <a:ln w="12700">
            <a:solidFill>
              <a:srgbClr val="D4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291840"/>
            <a:ext cx="2651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智谱AI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94760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D4A94A"/>
                </a:solidFill>
                <a:latin typeface="Microsoft YaHei"/>
                <a:ea typeface="Microsoft YaHei"/>
              </a:rPr>
              <a:t>PS 733倍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389120"/>
            <a:ext cx="2651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EA8E0"/>
                </a:solidFill>
                <a:latin typeface="Microsoft YaHei"/>
                <a:ea typeface="Microsoft YaHei"/>
              </a:rPr>
              <a:t>大模型标杆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108960"/>
            <a:ext cx="2651760" cy="1828800"/>
          </a:xfrm>
          <a:prstGeom prst="rect">
            <a:avLst/>
          </a:prstGeom>
          <a:solidFill>
            <a:srgbClr val="132E52"/>
          </a:solidFill>
          <a:ln w="12700">
            <a:solidFill>
              <a:srgbClr val="D4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2651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广联达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794760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D4A94A"/>
                </a:solidFill>
                <a:latin typeface="Microsoft YaHei"/>
                <a:ea typeface="Microsoft YaHei"/>
              </a:rPr>
              <a:t>市值140亿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389120"/>
            <a:ext cx="2651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EA8E0"/>
                </a:solidFill>
                <a:latin typeface="Microsoft YaHei"/>
                <a:ea typeface="Microsoft YaHei"/>
              </a:rPr>
              <a:t>PS 2-3x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3108960"/>
            <a:ext cx="2651760" cy="1828800"/>
          </a:xfrm>
          <a:prstGeom prst="rect">
            <a:avLst/>
          </a:prstGeom>
          <a:solidFill>
            <a:srgbClr val="132E52"/>
          </a:solidFill>
          <a:ln w="12700">
            <a:solidFill>
              <a:srgbClr val="D4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291840"/>
            <a:ext cx="2651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Palantir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794760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D4A94A"/>
                </a:solidFill>
                <a:latin typeface="Microsoft YaHei"/>
                <a:ea typeface="Microsoft YaHei"/>
              </a:rPr>
              <a:t>PS 96倍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389120"/>
            <a:ext cx="2651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EA8E0"/>
                </a:solidFill>
                <a:latin typeface="Microsoft YaHei"/>
                <a:ea typeface="Microsoft YaHei"/>
              </a:rPr>
              <a:t>AI平台标杆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94960"/>
            <a:ext cx="94183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资本市场正在重估AI公司 —— 云基，凭什么不能？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82296" cy="402336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6304"/>
            <a:ext cx="1060704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D4A94A"/>
                </a:solidFill>
                <a:latin typeface="Microsoft YaHei"/>
                <a:ea typeface="Microsoft YaHei"/>
              </a:rPr>
              <a:t>6.7  </a:t>
            </a: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凝心聚力再出发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A2638"/>
                </a:solidFill>
                <a:latin typeface="Microsoft YaHei"/>
                <a:ea typeface="Microsoft YaHei"/>
              </a:rPr>
              <a:t>未来的云基，不是一家传统工程公司，而是 </a:t>
            </a:r>
            <a:r>
              <a:rPr sz="2200" b="1">
                <a:solidFill>
                  <a:srgbClr val="D4A94A"/>
                </a:solidFill>
                <a:latin typeface="Microsoft YaHei"/>
                <a:ea typeface="Microsoft YaHei"/>
              </a:rPr>
              <a:t>工程AI Agent平台公司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560320"/>
            <a:ext cx="996696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560320"/>
            <a:ext cx="82296" cy="64008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560320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1A2638"/>
                </a:solidFill>
                <a:latin typeface="Microsoft YaHei"/>
                <a:ea typeface="Microsoft YaHei"/>
              </a:rPr>
              <a:t>每一步路都不会白走 — 二十年的积累是AI时代最大的估值支撑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337560"/>
            <a:ext cx="996696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3337560"/>
            <a:ext cx="82296" cy="64008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337560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1A2638"/>
                </a:solidFill>
                <a:latin typeface="Microsoft YaHei"/>
                <a:ea typeface="Microsoft YaHei"/>
              </a:rPr>
              <a:t>资本市场正在重写AI公司的估值逻辑 — 云基有能力成为其中的一极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114800"/>
            <a:ext cx="996696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4114800"/>
            <a:ext cx="82296" cy="64008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114800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1A2638"/>
                </a:solidFill>
                <a:latin typeface="Microsoft YaHei"/>
                <a:ea typeface="Microsoft YaHei"/>
              </a:rPr>
              <a:t>从组织到人、从人到生命 — 每一个云基人都是这场变革的主角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892040"/>
            <a:ext cx="996696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4892040"/>
            <a:ext cx="82296" cy="64008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892040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1A2638"/>
                </a:solidFill>
                <a:latin typeface="Microsoft YaHei"/>
                <a:ea typeface="Microsoft YaHei"/>
              </a:rPr>
              <a:t>今天的选择，决定三年后你在哪里 — 观望者永远在等，行动者已在路上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4A94A"/>
                </a:solidFill>
                <a:latin typeface="Microsoft YaHei"/>
                <a:ea typeface="Microsoft YaHei"/>
              </a:rPr>
              <a:t>凝心聚力 · 二次创业 · 共赴AI时代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91695" cy="25400"/>
          </a:xfrm>
          <a:prstGeom prst="rect">
            <a:avLst/>
          </a:prstGeom>
          <a:solidFill>
            <a:srgbClr val="D4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D4A94A"/>
                </a:solidFill>
                <a:latin typeface="Microsoft YaHei"/>
                <a:ea typeface="Microsoft YaHei"/>
              </a:rPr>
              <a:t>云基智慧 · 第二轮股权激励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我们在选「二次合伙人」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A8E0"/>
                </a:solidFill>
                <a:latin typeface="Microsoft YaHei"/>
                <a:ea typeface="Microsoft YaHei"/>
              </a:rPr>
              <a:t>20年磨一剑 · AI时代 · 再出发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D4A94A"/>
                </a:solidFill>
                <a:latin typeface="Microsoft YaHei"/>
                <a:ea typeface="Microsoft YaHei"/>
              </a:rPr>
              <a:t>登  船  ·  出  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期待与你一起，共创下一个二十年 — 打造工程咨询领域的AI大模型公司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A6472"/>
                </a:solidFill>
                <a:latin typeface="Microsoft YaHei"/>
                <a:ea typeface="Microsoft YaHei"/>
              </a:rPr>
              <a:t>行正道，造市场，做事业，过好日子  |  至诚为本  |  云基智慧 · 创始人 &amp; 核心团队  |  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