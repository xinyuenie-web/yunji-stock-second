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1" r:id="rId7"/>
    <p:sldId id="263" r:id="rId8"/>
    <p:sldId id="265" r:id="rId9"/>
    <p:sldId id="266" r:id="rId10"/>
    <p:sldId id="304" r:id="rId11"/>
    <p:sldId id="305" r:id="rId12"/>
    <p:sldId id="306" r:id="rId13"/>
    <p:sldId id="273" r:id="rId14"/>
    <p:sldId id="280" r:id="rId15"/>
    <p:sldId id="274" r:id="rId16"/>
    <p:sldId id="279" r:id="rId17"/>
    <p:sldId id="281" r:id="rId18"/>
    <p:sldId id="299" r:id="rId19"/>
    <p:sldId id="311" r:id="rId20"/>
    <p:sldId id="308" r:id="rId21"/>
    <p:sldId id="310" r:id="rId23"/>
    <p:sldId id="312" r:id="rId24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6" userDrawn="1">
          <p15:clr>
            <a:srgbClr val="A4A3A4"/>
          </p15:clr>
        </p15:guide>
        <p15:guide id="2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246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6514" y="1143000"/>
            <a:ext cx="548497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43.xml"/><Relationship Id="rId24" Type="http://schemas.openxmlformats.org/officeDocument/2006/relationships/tags" Target="../tags/tag42.xml"/><Relationship Id="rId23" Type="http://schemas.openxmlformats.org/officeDocument/2006/relationships/tags" Target="../tags/tag41.xml"/><Relationship Id="rId22" Type="http://schemas.openxmlformats.org/officeDocument/2006/relationships/tags" Target="../tags/tag40.xml"/><Relationship Id="rId21" Type="http://schemas.openxmlformats.org/officeDocument/2006/relationships/tags" Target="../tags/tag39.xml"/><Relationship Id="rId20" Type="http://schemas.openxmlformats.org/officeDocument/2006/relationships/tags" Target="../tags/tag38.xml"/><Relationship Id="rId2" Type="http://schemas.openxmlformats.org/officeDocument/2006/relationships/tags" Target="../tags/tag20.xml"/><Relationship Id="rId19" Type="http://schemas.openxmlformats.org/officeDocument/2006/relationships/tags" Target="../tags/tag37.xml"/><Relationship Id="rId18" Type="http://schemas.openxmlformats.org/officeDocument/2006/relationships/tags" Target="../tags/tag36.xml"/><Relationship Id="rId17" Type="http://schemas.openxmlformats.org/officeDocument/2006/relationships/tags" Target="../tags/tag35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tags" Target="../tags/tag44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8" Type="http://schemas.openxmlformats.org/officeDocument/2006/relationships/notesSlide" Target="../notesSlides/notesSlide2.xml"/><Relationship Id="rId37" Type="http://schemas.openxmlformats.org/officeDocument/2006/relationships/slideLayout" Target="../slideLayouts/slideLayout12.xml"/><Relationship Id="rId36" Type="http://schemas.openxmlformats.org/officeDocument/2006/relationships/tags" Target="../tags/tag91.xml"/><Relationship Id="rId35" Type="http://schemas.openxmlformats.org/officeDocument/2006/relationships/tags" Target="../tags/tag90.xml"/><Relationship Id="rId34" Type="http://schemas.openxmlformats.org/officeDocument/2006/relationships/tags" Target="../tags/tag89.xml"/><Relationship Id="rId33" Type="http://schemas.openxmlformats.org/officeDocument/2006/relationships/tags" Target="../tags/tag88.xml"/><Relationship Id="rId32" Type="http://schemas.openxmlformats.org/officeDocument/2006/relationships/tags" Target="../tags/tag87.xml"/><Relationship Id="rId31" Type="http://schemas.openxmlformats.org/officeDocument/2006/relationships/tags" Target="../tags/tag86.xml"/><Relationship Id="rId30" Type="http://schemas.openxmlformats.org/officeDocument/2006/relationships/tags" Target="../tags/tag85.xml"/><Relationship Id="rId3" Type="http://schemas.openxmlformats.org/officeDocument/2006/relationships/tags" Target="../tags/tag58.xml"/><Relationship Id="rId29" Type="http://schemas.openxmlformats.org/officeDocument/2006/relationships/tags" Target="../tags/tag84.xml"/><Relationship Id="rId28" Type="http://schemas.openxmlformats.org/officeDocument/2006/relationships/tags" Target="../tags/tag83.xml"/><Relationship Id="rId27" Type="http://schemas.openxmlformats.org/officeDocument/2006/relationships/tags" Target="../tags/tag82.xml"/><Relationship Id="rId26" Type="http://schemas.openxmlformats.org/officeDocument/2006/relationships/tags" Target="../tags/tag81.xml"/><Relationship Id="rId25" Type="http://schemas.openxmlformats.org/officeDocument/2006/relationships/tags" Target="../tags/tag80.xml"/><Relationship Id="rId24" Type="http://schemas.openxmlformats.org/officeDocument/2006/relationships/tags" Target="../tags/tag79.xml"/><Relationship Id="rId23" Type="http://schemas.openxmlformats.org/officeDocument/2006/relationships/tags" Target="../tags/tag78.xml"/><Relationship Id="rId22" Type="http://schemas.openxmlformats.org/officeDocument/2006/relationships/tags" Target="../tags/tag77.xml"/><Relationship Id="rId21" Type="http://schemas.openxmlformats.org/officeDocument/2006/relationships/tags" Target="../tags/tag76.xml"/><Relationship Id="rId20" Type="http://schemas.openxmlformats.org/officeDocument/2006/relationships/tags" Target="../tags/tag75.xml"/><Relationship Id="rId2" Type="http://schemas.openxmlformats.org/officeDocument/2006/relationships/tags" Target="../tags/tag57.xml"/><Relationship Id="rId19" Type="http://schemas.openxmlformats.org/officeDocument/2006/relationships/tags" Target="../tags/tag74.xml"/><Relationship Id="rId18" Type="http://schemas.openxmlformats.org/officeDocument/2006/relationships/tags" Target="../tags/tag73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tags" Target="../tags/tag5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822960" y="1371600"/>
            <a:ext cx="50800" cy="22860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AI时代 · 淬炼重生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云基智慧 · 第二次员工股权激励宣讲动员会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88720" y="3017520"/>
            <a:ext cx="2743200" cy="381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8720" y="33375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CCD5E0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每一步路都不会白走，AI让我们看到了一个不一样的云基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88720" y="3749039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0C05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从工程咨询服务商 → 工程咨询领域AI大模型公司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188720" y="4389120"/>
            <a:ext cx="1828800" cy="411480"/>
          </a:xfrm>
          <a:prstGeom prst="roundRect">
            <a:avLst/>
          </a:prstGeom>
          <a:solidFill>
            <a:srgbClr val="15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88720" y="443484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三次AI化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246120" y="4389120"/>
            <a:ext cx="2286000" cy="411480"/>
          </a:xfrm>
          <a:prstGeom prst="roundRect">
            <a:avLst/>
          </a:prstGeom>
          <a:solidFill>
            <a:srgbClr val="15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46120" y="443484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D49B2C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Agent标准化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760720" y="4389120"/>
            <a:ext cx="1828800" cy="411480"/>
          </a:xfrm>
          <a:prstGeom prst="roundRect">
            <a:avLst/>
          </a:prstGeom>
          <a:solidFill>
            <a:srgbClr val="15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60720" y="443484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千亿市值愿景</a:t>
            </a:r>
            <a:endParaRPr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0D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5943600"/>
            <a:ext cx="12188952" cy="381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" y="60807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0C05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行正道 · 造市场 · 做事业 · 过好日子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200" y="60807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F0C05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2026年7月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CONTENTS  宣讲内容架构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2933700" y="1710055"/>
            <a:ext cx="6322060" cy="804545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33700" y="1710055"/>
            <a:ext cx="73152" cy="804672"/>
          </a:xfrm>
          <a:prstGeom prst="rect">
            <a:avLst/>
          </a:prstGeom>
          <a:solidFill>
            <a:srgbClr val="0D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1"/>
            </p:custDataLst>
          </p:nvPr>
        </p:nvSpPr>
        <p:spPr>
          <a:xfrm>
            <a:off x="3253740" y="1801495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D284B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3985260" y="1755775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t>淬炼 · 每一步都不会白走</a:t>
            </a: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3985260" y="2148967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D284B"/>
                </a:solidFill>
                <a:latin typeface="微软雅黑" panose="020B0503020204020204" charset="-122"/>
              </a:defRPr>
            </a:pPr>
            <a:r>
              <a:t>FORGED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33700" y="2587625"/>
            <a:ext cx="6322060" cy="804545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33700" y="2587879"/>
            <a:ext cx="73152" cy="8046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3253740" y="2679319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>
            <p:custDataLst>
              <p:tags r:id="rId5"/>
            </p:custDataLst>
          </p:nvPr>
        </p:nvSpPr>
        <p:spPr>
          <a:xfrm>
            <a:off x="3985260" y="2633599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t>重构 · AI时代的三重进化</a:t>
            </a:r>
          </a:p>
        </p:txBody>
      </p:sp>
      <p:sp>
        <p:nvSpPr>
          <p:cNvPr id="14" name="TextBox 13"/>
          <p:cNvSpPr txBox="1"/>
          <p:nvPr>
            <p:custDataLst>
              <p:tags r:id="rId6"/>
            </p:custDataLst>
          </p:nvPr>
        </p:nvSpPr>
        <p:spPr>
          <a:xfrm>
            <a:off x="3985260" y="3026791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AI EVOLUTION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33700" y="3465830"/>
            <a:ext cx="6322060" cy="804545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33700" y="3465703"/>
            <a:ext cx="73152" cy="804672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7"/>
            </p:custDataLst>
          </p:nvPr>
        </p:nvSpPr>
        <p:spPr>
          <a:xfrm>
            <a:off x="3253740" y="3557143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D49B2C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>
            <p:custDataLst>
              <p:tags r:id="rId8"/>
            </p:custDataLst>
          </p:nvPr>
        </p:nvSpPr>
        <p:spPr>
          <a:xfrm>
            <a:off x="3985260" y="3511423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t>破局 · Agent标准化</a:t>
            </a:r>
          </a:p>
        </p:txBody>
      </p:sp>
      <p:sp>
        <p:nvSpPr>
          <p:cNvPr id="20" name="TextBox 19"/>
          <p:cNvSpPr txBox="1"/>
          <p:nvPr>
            <p:custDataLst>
              <p:tags r:id="rId9"/>
            </p:custDataLst>
          </p:nvPr>
        </p:nvSpPr>
        <p:spPr>
          <a:xfrm>
            <a:off x="3985260" y="3904615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49B2C"/>
                </a:solidFill>
                <a:latin typeface="微软雅黑" panose="020B0503020204020204" charset="-122"/>
              </a:defRPr>
            </a:pPr>
            <a:r>
              <a:t>BREAKTHROUGH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33700" y="4306570"/>
            <a:ext cx="6322060" cy="804545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33700" y="4306570"/>
            <a:ext cx="73152" cy="8046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>
            <p:custDataLst>
              <p:tags r:id="rId10"/>
            </p:custDataLst>
          </p:nvPr>
        </p:nvSpPr>
        <p:spPr>
          <a:xfrm>
            <a:off x="3253740" y="439801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8E44AD"/>
                </a:solidFill>
                <a:latin typeface="微软雅黑" panose="020B0503020204020204" charset="-122"/>
              </a:defRPr>
            </a:pPr>
            <a:r>
              <a:t>0</a:t>
            </a:r>
            <a:r>
              <a:rPr lang="en-US"/>
              <a:t>4</a:t>
            </a:r>
            <a:endParaRPr lang="en-US"/>
          </a:p>
        </p:txBody>
      </p:sp>
      <p:sp>
        <p:nvSpPr>
          <p:cNvPr id="37" name="TextBox 36"/>
          <p:cNvSpPr txBox="1"/>
          <p:nvPr>
            <p:custDataLst>
              <p:tags r:id="rId11"/>
            </p:custDataLst>
          </p:nvPr>
        </p:nvSpPr>
        <p:spPr>
          <a:xfrm>
            <a:off x="3985260" y="4352290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共赢 · 第二轮股权激励方案</a:t>
            </a:r>
          </a:p>
        </p:txBody>
      </p:sp>
      <p:sp>
        <p:nvSpPr>
          <p:cNvPr id="38" name="TextBox 37"/>
          <p:cNvSpPr txBox="1"/>
          <p:nvPr>
            <p:custDataLst>
              <p:tags r:id="rId12"/>
            </p:custDataLst>
          </p:nvPr>
        </p:nvSpPr>
        <p:spPr>
          <a:xfrm>
            <a:off x="3985260" y="474548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E44AD"/>
                </a:solidFill>
                <a:latin typeface="微软雅黑" panose="020B0503020204020204" charset="-122"/>
              </a:defRPr>
            </a:pPr>
            <a:r>
              <a:t>TOGETHER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0D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0" b="1">
                <a:solidFill>
                  <a:srgbClr val="0D284B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5486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淬炼 · 每一步都不会白走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896A8"/>
                </a:solidFill>
                <a:latin typeface="微软雅黑" panose="020B0503020204020204" charset="-122"/>
              </a:defRPr>
            </a:pPr>
            <a:r>
              <a:t>EVERY STEP 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11880"/>
            <a:ext cx="1828800" cy="381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5486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CCD5E0"/>
                </a:solidFill>
                <a:latin typeface="微软雅黑" panose="020B0503020204020204" charset="-122"/>
              </a:defRPr>
            </a:pP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二十多年行业深耕，从BIM先行者到AI觉醒者，</a:t>
            </a:r>
            <a:endParaRPr sz="16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0">
                <a:solidFill>
                  <a:srgbClr val="CCD5E0"/>
                </a:solidFill>
                <a:latin typeface="微软雅黑" panose="020B0503020204020204" charset="-122"/>
              </a:defRPr>
            </a:pP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每一步积累都是今天AI化的基石</a:t>
            </a:r>
            <a:endParaRPr sz="16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698480" cy="12700"/>
          </a:xfrm>
          <a:prstGeom prst="rect">
            <a:avLst/>
          </a:prstGeom>
          <a:solidFill>
            <a:srgbClr val="0D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415798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1.1 二十多年行业深耕 — </a:t>
            </a: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长期积累</a:t>
            </a:r>
            <a:r>
              <a:rPr lang="en-US" altLang="zh-CN"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645920" cy="25400"/>
          </a:xfrm>
          <a:prstGeom prst="rect">
            <a:avLst/>
          </a:prstGeom>
          <a:solidFill>
            <a:srgbClr val="0D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090410" cy="50507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0D284B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一、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核心资质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lang="en-US" sz="1600"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国家高新技术企业 — 以技术创新为立身之本</a:t>
            </a:r>
            <a:endParaRPr sz="16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lang="en-US" sz="1600"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交通运输部 BIM 行业研发中心 — 国家级行业研发平台</a:t>
            </a:r>
            <a:endParaRPr sz="16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lang="en-US" sz="1600"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自主研发"玄镜"国产三维BIM图形平台 — 行业基础设施级别资产</a:t>
            </a:r>
            <a:endParaRPr sz="16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0D284B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二、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二十多年的积累，沉淀了什么？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lang="en-US" sz="1600"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</a:rPr>
              <a:t>、大量</a:t>
            </a: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工程项目的BIM数据资产 — 行业最丰富的三维工程数据库之一</a:t>
            </a:r>
            <a:endParaRPr sz="16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lang="en-US" sz="1600"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覆盖设计-施工-运维全链条的工程知识图谱</a:t>
            </a:r>
            <a:endParaRPr sz="16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lang="en-US" sz="1600"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一支既懂工程又懂数字化技术的复合型团队</a:t>
            </a:r>
            <a:endParaRPr sz="16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endParaRPr sz="16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endParaRPr sz="14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D49B2C"/>
                </a:solidFill>
                <a:latin typeface="微软雅黑" panose="020B0503020204020204" charset="-122"/>
              </a:defRPr>
            </a:pPr>
            <a:endParaRPr sz="1600">
              <a:solidFill>
                <a:srgbClr val="C0000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6263640"/>
            <a:ext cx="11064240" cy="12700"/>
          </a:xfrm>
          <a:prstGeom prst="rect">
            <a:avLst/>
          </a:prstGeom>
          <a:solidFill>
            <a:srgbClr val="E5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393440" y="4632960"/>
            <a:ext cx="7226935" cy="9245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D49B2C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rgbClr val="C00000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这些积累，正是AI时代最稀缺的"养料"</a:t>
            </a:r>
            <a:r>
              <a:rPr lang="zh-CN" sz="1600">
                <a:solidFill>
                  <a:srgbClr val="C00000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sz="1600">
              <a:solidFill>
                <a:srgbClr val="C00000"/>
              </a:solidFill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D49B2C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rgbClr val="C00000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这就是我们的护城河 — 时间无法复制，积累无法速成</a:t>
            </a:r>
            <a:endParaRPr sz="1600">
              <a:solidFill>
                <a:srgbClr val="C00000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D49B2C"/>
                </a:solidFill>
                <a:latin typeface="微软雅黑" panose="020B0503020204020204" charset="-122"/>
              </a:defRPr>
            </a:pPr>
            <a:endParaRPr lang="zh-CN" sz="1600">
              <a:solidFill>
                <a:srgbClr val="C00000"/>
              </a:solidFill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01890" y="1188720"/>
            <a:ext cx="4440555" cy="22199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0D284B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  <a:cs typeface="微软雅黑" panose="020B0503020204020204" charset="-122"/>
                <a:sym typeface="+mn-ea"/>
              </a:rPr>
              <a:t>三</a:t>
            </a:r>
            <a:r>
              <a:rPr>
                <a:ea typeface="微软雅黑" panose="020B0503020204020204" charset="-122"/>
                <a:cs typeface="微软雅黑" panose="020B0503020204020204" charset="-122"/>
                <a:sym typeface="+mn-ea"/>
              </a:rPr>
              <a:t>、每一步都不会白走</a:t>
            </a:r>
            <a:endParaRPr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0D284B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1A2A3A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1、数据 × 知识 × 平台 × 人才 = AI大模型的"原料"</a:t>
            </a:r>
            <a:endParaRPr b="0">
              <a:solidFill>
                <a:srgbClr val="1A2A3A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lang="en-US"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没有二十多年的积累，就没有AI化的"燃料"</a:t>
            </a:r>
            <a:endParaRPr sz="16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lang="en-US"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、大模型</a:t>
            </a:r>
            <a:r>
              <a:rPr lang="en-US" altLang="zh-CN"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互联网大厂有钱有算力，但没有我们的工程数据和对行业的理解</a:t>
            </a:r>
            <a:endParaRPr lang="zh-CN" altLang="en-US" sz="1600"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370713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en-US"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低谷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时刻：坦诚复盘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645920" cy="25400"/>
          </a:xfrm>
          <a:prstGeom prst="rect">
            <a:avLst/>
          </a:prstGeom>
          <a:solidFill>
            <a:srgbClr val="0D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290320"/>
            <a:ext cx="4777105" cy="4124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0D284B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一、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公司</a:t>
            </a: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近年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经历了什么？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sz="1400"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400"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400"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400">
                <a:ea typeface="微软雅黑" panose="020B0503020204020204" charset="-122"/>
                <a:cs typeface="微软雅黑" panose="020B0503020204020204" charset="-122"/>
              </a:rPr>
              <a:t>行业下行周期冲击 — 基础设施投资增速放缓</a:t>
            </a:r>
            <a:endParaRPr sz="14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sz="1400"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400"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400"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400">
                <a:ea typeface="微软雅黑" panose="020B0503020204020204" charset="-122"/>
                <a:cs typeface="微软雅黑" panose="020B0503020204020204" charset="-122"/>
              </a:rPr>
              <a:t>营收减半 — 传统工程咨询业务遭受重创</a:t>
            </a:r>
            <a:endParaRPr sz="14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sz="1400"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400"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400"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400">
                <a:ea typeface="微软雅黑" panose="020B0503020204020204" charset="-122"/>
                <a:cs typeface="微软雅黑" panose="020B0503020204020204" charset="-122"/>
              </a:rPr>
              <a:t>传统业务大幅缩减 — 市场萎缩、利润下滑</a:t>
            </a:r>
            <a:endParaRPr sz="14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sz="1400"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400"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400"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400">
                <a:ea typeface="微软雅黑" panose="020B0503020204020204" charset="-122"/>
                <a:cs typeface="微软雅黑" panose="020B0503020204020204" charset="-122"/>
              </a:rPr>
              <a:t>人员规模大幅缩减 — 艰</a:t>
            </a:r>
            <a:r>
              <a:rPr lang="zh-CN" sz="1400">
                <a:ea typeface="微软雅黑" panose="020B0503020204020204" charset="-122"/>
                <a:cs typeface="微软雅黑" panose="020B0503020204020204" charset="-122"/>
              </a:rPr>
              <a:t>辛的人才队伍</a:t>
            </a:r>
            <a:r>
              <a:rPr sz="1400">
                <a:ea typeface="微软雅黑" panose="020B0503020204020204" charset="-122"/>
                <a:cs typeface="微软雅黑" panose="020B0503020204020204" charset="-122"/>
              </a:rPr>
              <a:t>优化</a:t>
            </a:r>
            <a:endParaRPr sz="14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endParaRPr lang="zh-CN" sz="14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D49B2C"/>
                </a:solidFill>
                <a:latin typeface="微软雅黑" panose="020B0503020204020204" charset="-122"/>
              </a:defRPr>
            </a:pPr>
            <a:endParaRPr sz="1400">
              <a:solidFill>
                <a:srgbClr val="C0000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6263640"/>
            <a:ext cx="11064240" cy="12700"/>
          </a:xfrm>
          <a:prstGeom prst="rect">
            <a:avLst/>
          </a:prstGeom>
          <a:solidFill>
            <a:srgbClr val="E5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68930" y="4210050"/>
            <a:ext cx="6450965" cy="1457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C00000"/>
                </a:solidFill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行业的寒冬是</a:t>
            </a:r>
            <a:r>
              <a:rPr lang="zh-CN" altLang="en-US" sz="1600" b="1" dirty="0">
                <a:solidFill>
                  <a:srgbClr val="C00000"/>
                </a:solidFill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自然规律</a:t>
            </a:r>
            <a:r>
              <a:rPr lang="en-US" sz="1600" b="1" dirty="0">
                <a:solidFill>
                  <a:srgbClr val="C00000"/>
                </a:solidFill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，而云基能活下来并迎来新业务的落地，</a:t>
            </a:r>
            <a:endParaRPr lang="en-US" sz="1600" b="1" dirty="0">
              <a:solidFill>
                <a:srgbClr val="C00000"/>
              </a:solidFill>
              <a:ea typeface="微软雅黑" panose="020B050302020402020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lnSpc>
                <a:spcPct val="140000"/>
              </a:lnSpc>
              <a:buNone/>
            </a:pP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C00000"/>
                </a:solidFill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靠的是每个坚守者用时间、情绪与职业韧性共同托底的生命能量。</a:t>
            </a:r>
            <a:endParaRPr lang="zh-CN" sz="1600" b="1">
              <a:solidFill>
                <a:srgbClr val="C00000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endParaRPr lang="zh-CN" altLang="en-US" sz="1600" b="1">
              <a:solidFill>
                <a:srgbClr val="C0000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47535" y="1358265"/>
            <a:ext cx="4521835" cy="13665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300"/>
              </a:spcAft>
              <a:defRPr sz="1400" b="1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lang="zh-CN"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二、</a:t>
            </a:r>
            <a:r>
              <a:rPr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但请看清关键事实：</a:t>
            </a:r>
            <a:endParaRPr sz="16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sz="1400">
                <a:ea typeface="微软雅黑" panose="020B0503020204020204" charset="-122"/>
                <a:cs typeface="微软雅黑" panose="020B0503020204020204" charset="-122"/>
                <a:sym typeface="+mn-ea"/>
              </a:rPr>
              <a:t>玄镜平台和核心技术完整保留 </a:t>
            </a:r>
            <a:endParaRPr sz="14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sz="1400"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sz="1400"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400"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sz="1400">
                <a:ea typeface="微软雅黑" panose="020B0503020204020204" charset="-122"/>
                <a:cs typeface="微软雅黑" panose="020B0503020204020204" charset="-122"/>
                <a:sym typeface="+mn-ea"/>
              </a:rPr>
              <a:t>数字化新业务种子已播下</a:t>
            </a:r>
            <a:endParaRPr sz="14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sz="1400"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sz="1400"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400"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sz="1400"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sz="1400">
                <a:ea typeface="微软雅黑" panose="020B0503020204020204" charset="-122"/>
                <a:cs typeface="微软雅黑" panose="020B0503020204020204" charset="-122"/>
                <a:sym typeface="+mn-ea"/>
              </a:rPr>
              <a:t>核心能力逐步构建</a:t>
            </a:r>
            <a:endParaRPr lang="zh-CN" altLang="en-US" sz="1400"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2440" y="411353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en-US"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曙光初现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 — </a:t>
            </a: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机会与利好</a:t>
            </a:r>
            <a:endParaRPr lang="zh-CN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645920" cy="25400"/>
          </a:xfrm>
          <a:prstGeom prst="rect">
            <a:avLst/>
          </a:prstGeom>
          <a:solidFill>
            <a:srgbClr val="0D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351280"/>
            <a:ext cx="6283960" cy="2309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300"/>
              </a:spcAft>
              <a:defRPr sz="1400" b="1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lang="zh-CN" sz="1600">
                <a:ea typeface="微软雅黑" panose="020B0503020204020204" charset="-122"/>
                <a:cs typeface="微软雅黑" panose="020B0503020204020204" charset="-122"/>
              </a:rPr>
              <a:t>一、国产三维图形</a:t>
            </a: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平台的核心价值</a:t>
            </a:r>
            <a:endParaRPr sz="16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lang="en-US" sz="1600"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国产自主三维BIM图形引擎 — 行业唯一性</a:t>
            </a:r>
            <a:endParaRPr sz="16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lang="en-US" sz="1600"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已嵌入交通基础设施全生命周期数字化流程</a:t>
            </a:r>
            <a:endParaRPr sz="16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lang="en-US" sz="1600"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具备与AI引擎对接的开放架构</a:t>
            </a:r>
            <a:endParaRPr sz="16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endParaRPr sz="16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0D284B"/>
                </a:solidFill>
                <a:latin typeface="微软雅黑" panose="020B0503020204020204" charset="-122"/>
              </a:defRPr>
            </a:pPr>
            <a:endParaRPr lang="en-US" altLang="zh-CN" sz="1600"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6263640"/>
            <a:ext cx="11064240" cy="12700"/>
          </a:xfrm>
          <a:prstGeom prst="rect">
            <a:avLst/>
          </a:prstGeom>
          <a:solidFill>
            <a:srgbClr val="E5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67660" y="4957445"/>
            <a:ext cx="6671945" cy="386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D49B2C"/>
                </a:solidFill>
                <a:latin typeface="微软雅黑" panose="020B0503020204020204" charset="-122"/>
              </a:defRPr>
            </a:pPr>
            <a:r>
              <a:rPr lang="zh-CN" sz="1600">
                <a:solidFill>
                  <a:srgbClr val="C00000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国产三维图形平台</a:t>
            </a:r>
            <a:r>
              <a:rPr sz="1600">
                <a:solidFill>
                  <a:srgbClr val="C00000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是"数据入口"，AI是"价值放大器"</a:t>
            </a:r>
            <a:endParaRPr lang="zh-CN" altLang="en-US" sz="1600">
              <a:solidFill>
                <a:srgbClr val="C00000"/>
              </a:solidFill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04915" y="1300480"/>
            <a:ext cx="5410835" cy="2566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0D284B"/>
                </a:solidFill>
                <a:latin typeface="微软雅黑" panose="020B0503020204020204" charset="-122"/>
              </a:defRPr>
            </a:pPr>
            <a:r>
              <a:rPr lang="zh-CN"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二、</a:t>
            </a:r>
            <a:r>
              <a:rPr lang="en-US" altLang="zh-CN"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新业务机会</a:t>
            </a:r>
            <a:endParaRPr lang="zh-CN" altLang="en-US" sz="16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lang="en-US"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、广东省数智交通产品</a:t>
            </a:r>
            <a:r>
              <a:rPr lang="en-US" altLang="zh-CN"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化</a:t>
            </a:r>
            <a:endParaRPr lang="zh-CN" altLang="en-US" sz="1600"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lang="en-US" altLang="zh-CN"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、全国第三批深圳数字化转型升级</a:t>
            </a:r>
            <a:endParaRPr lang="zh-CN" altLang="en-US" sz="1600"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lang="en-US" altLang="zh-CN"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、港珠澳大桥多年智能运维平台</a:t>
            </a:r>
            <a:endParaRPr lang="zh-CN" altLang="en-US" sz="1600"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lang="en-US" altLang="zh-CN"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、广韶北国产三维设计</a:t>
            </a:r>
            <a:r>
              <a:rPr lang="en-US" altLang="zh-CN"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智能建造平台</a:t>
            </a:r>
            <a:endParaRPr lang="zh-CN" altLang="en-US" sz="16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lang="en-US" altLang="zh-CN"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、十五五陕西交通基建大平台</a:t>
            </a:r>
            <a:endParaRPr lang="zh-CN" altLang="en-US" sz="1600"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lang="en-US" altLang="zh-CN"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600">
                <a:ea typeface="微软雅黑" panose="020B0503020204020204" charset="-122"/>
                <a:cs typeface="微软雅黑" panose="020B0503020204020204" charset="-122"/>
                <a:sym typeface="+mn-ea"/>
              </a:rPr>
              <a:t>......</a:t>
            </a:r>
            <a:endParaRPr lang="en-US" altLang="zh-CN" sz="1600"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5486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重构 · AI时代的三重进化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11880"/>
            <a:ext cx="1828800" cy="381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5486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CCD5E0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内部生产AI化 → 公司产品AI化 → AI能力产品化，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0">
                <a:solidFill>
                  <a:srgbClr val="CCD5E0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从组织到产品的全面AI重构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698480" cy="127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411353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2.1 AI时代的工程咨询行业大变革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64592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0590" y="1210310"/>
            <a:ext cx="10881360" cy="36595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300"/>
              </a:spcAft>
              <a:defRPr sz="1400" b="1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AI正在重塑工程咨询行业的底层逻辑</a:t>
            </a:r>
            <a:endParaRPr sz="16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rPr lang="zh-CN" sz="1600">
                <a:ea typeface="微软雅黑" panose="020B0503020204020204" charset="-122"/>
                <a:cs typeface="微软雅黑" panose="020B0503020204020204" charset="-122"/>
              </a:rPr>
              <a:t>一、</a:t>
            </a: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传统工程咨询的三大痛点</a:t>
            </a:r>
            <a:endParaRPr sz="16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600"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人力密集 — 收入与工程师数量线性相关，天花板明显</a:t>
            </a:r>
            <a:endParaRPr sz="16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600"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经验依赖 — 资深工程师的隐性知识难以标准化传承</a:t>
            </a:r>
            <a:endParaRPr sz="16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600"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效率瓶颈 — 每个项目重复"从零开始"，知识复用率极低</a:t>
            </a:r>
            <a:endParaRPr sz="16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rPr lang="zh-CN" sz="1600">
                <a:ea typeface="微软雅黑" panose="020B0503020204020204" charset="-122"/>
                <a:cs typeface="微软雅黑" panose="020B0503020204020204" charset="-122"/>
              </a:rPr>
              <a:t>二、</a:t>
            </a: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AI如何解这些题？</a:t>
            </a:r>
            <a:endParaRPr sz="16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600"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AI Agent替代重复性劳动 → 人力上限被突破</a:t>
            </a:r>
            <a:endParaRPr sz="16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600"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行业大模型沉淀隐性知识 → 经验可复制可传承</a:t>
            </a:r>
            <a:endParaRPr sz="16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600"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600"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智能平台复用知识 → 每个新项目站在所有历史项目的肩膀上</a:t>
            </a:r>
            <a:endParaRPr sz="16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endParaRPr sz="16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D49B2C"/>
                </a:solidFill>
                <a:latin typeface="微软雅黑" panose="020B0503020204020204" charset="-122"/>
              </a:defRPr>
            </a:pPr>
            <a:endParaRPr sz="16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6263640"/>
            <a:ext cx="11064240" cy="12700"/>
          </a:xfrm>
          <a:prstGeom prst="rect">
            <a:avLst/>
          </a:prstGeom>
          <a:solidFill>
            <a:srgbClr val="E5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19150" y="5257165"/>
            <a:ext cx="6096000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D49B2C"/>
                </a:solidFill>
                <a:latin typeface="微软雅黑" panose="020B0503020204020204" charset="-122"/>
              </a:defRPr>
            </a:pPr>
            <a:r>
              <a:rPr sz="1800">
                <a:solidFill>
                  <a:srgbClr val="C00000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这是一场从"卖人天"到"卖AI</a:t>
            </a:r>
            <a:r>
              <a:rPr lang="zh-CN" sz="1800">
                <a:solidFill>
                  <a:srgbClr val="C00000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产出</a:t>
            </a:r>
            <a:r>
              <a:rPr sz="1800">
                <a:solidFill>
                  <a:srgbClr val="C00000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"的生产力革命</a:t>
            </a:r>
            <a:endParaRPr lang="zh-CN" altLang="en-US" sz="1800">
              <a:solidFill>
                <a:srgbClr val="C00000"/>
              </a:solidFill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4"/>
            <a:ext cx="12189155" cy="6856571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274263" y="274977"/>
            <a:ext cx="457105" cy="0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74263" y="274977"/>
            <a:ext cx="0" cy="457105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457787" y="274977"/>
            <a:ext cx="457105" cy="0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914892" y="274977"/>
            <a:ext cx="0" cy="457105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263" y="6583023"/>
            <a:ext cx="457105" cy="0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263" y="6125918"/>
            <a:ext cx="0" cy="457105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457787" y="6583023"/>
            <a:ext cx="457105" cy="0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914892" y="6125918"/>
            <a:ext cx="0" cy="457105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0" y="714"/>
            <a:ext cx="12189155" cy="548526"/>
          </a:xfrm>
          <a:prstGeom prst="rect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0" y="549240"/>
            <a:ext cx="12189155" cy="0"/>
          </a:xfrm>
          <a:prstGeom prst="line">
            <a:avLst/>
          </a:prstGeom>
          <a:ln w="63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105" y="6445891"/>
            <a:ext cx="11274945" cy="0"/>
          </a:xfrm>
          <a:prstGeom prst="line">
            <a:avLst/>
          </a:prstGeom>
          <a:ln w="6350">
            <a:solidFill>
              <a:srgbClr val="305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360736" y="6509886"/>
            <a:ext cx="1371314" cy="165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A90"/>
                </a:solidFill>
                <a:latin typeface="微软雅黑" panose="020B0503020204020204" charset="-122"/>
                <a:ea typeface="微软雅黑" panose="020B0503020204020204" charset="-122"/>
              </a:rPr>
              <a:t>12 / 34</a:t>
            </a:r>
            <a:endParaRPr sz="900" b="0">
              <a:solidFill>
                <a:srgbClr val="6B7A9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105" y="626904"/>
            <a:ext cx="1097051" cy="10331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5600" b="1">
                <a:solidFill>
                  <a:srgbClr val="D4AF37"/>
                </a:solidFill>
                <a:latin typeface="微软雅黑" panose="020B0503020204020204" charset="-122"/>
                <a:ea typeface="微软雅黑" panose="020B0503020204020204" charset="-122"/>
              </a:rPr>
              <a:t>2.2 </a:t>
            </a:r>
            <a:endParaRPr lang="en-US" sz="5600" b="1">
              <a:solidFill>
                <a:srgbClr val="D4AF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45577" y="922179"/>
            <a:ext cx="10056304" cy="4425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第一级火箭：内部生产 AI 化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457105" y="1783423"/>
            <a:ext cx="1828419" cy="0"/>
          </a:xfrm>
          <a:prstGeom prst="line">
            <a:avLst/>
          </a:prstGeom>
          <a:ln w="254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57105" y="2011975"/>
            <a:ext cx="5485257" cy="2194103"/>
          </a:xfrm>
          <a:prstGeom prst="rect">
            <a:avLst/>
          </a:prstGeom>
          <a:solidFill>
            <a:srgbClr val="12294A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947" y="2149107"/>
            <a:ext cx="5119573" cy="22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4AF37"/>
                </a:solidFill>
                <a:latin typeface="微软雅黑" panose="020B0503020204020204" charset="-122"/>
                <a:ea typeface="微软雅黑" panose="020B0503020204020204" charset="-122"/>
              </a:rPr>
              <a:t>【核 心 定 义】</a:t>
            </a:r>
            <a:endParaRPr sz="1200" b="1">
              <a:solidFill>
                <a:srgbClr val="D4AF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9947" y="2469080"/>
            <a:ext cx="5119573" cy="170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</a:rPr>
              <a:t>把公司内部的流程、服务、运营，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</a:rPr>
              <a:t>用 AI 重新做一遍。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</a:rPr>
              <a:t>不是为了“省成本”——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</a:rPr>
              <a:t>是为了“让公司变成 AI 公司的'母体'”。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16625" y="2011975"/>
            <a:ext cx="5485257" cy="2194103"/>
          </a:xfrm>
          <a:prstGeom prst="rect">
            <a:avLst/>
          </a:prstGeom>
          <a:solidFill>
            <a:srgbClr val="12294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9466" y="2149107"/>
            <a:ext cx="5119573" cy="22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【已 落 地 场 景】请提前准备真实案例</a:t>
            </a:r>
            <a:endParaRPr sz="12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99466" y="2469080"/>
            <a:ext cx="5119573" cy="1615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• 文档 / 合同 / 标书自动生成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• 客户咨询智能客服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• 项目交付辅助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• 数据分析自动化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• 内部知识库智能检索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57105" y="4434630"/>
            <a:ext cx="11244777" cy="2011261"/>
          </a:xfrm>
          <a:prstGeom prst="rect">
            <a:avLst/>
          </a:prstGeom>
          <a:solidFill>
            <a:srgbClr val="12294A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947" y="4571762"/>
            <a:ext cx="457105" cy="627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D4AF37"/>
                </a:solidFill>
                <a:latin typeface="微软雅黑" panose="020B0503020204020204" charset="-122"/>
                <a:ea typeface="微软雅黑" panose="020B0503020204020204" charset="-122"/>
              </a:rPr>
              <a:t>「</a:t>
            </a:r>
            <a:endParaRPr sz="3400" b="1">
              <a:solidFill>
                <a:srgbClr val="D4AF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27525" y="4736193"/>
            <a:ext cx="9242404" cy="148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</a:rPr>
              <a:t>当一家公司的内部生产流程被 AI 改造完成时，</a:t>
            </a:r>
            <a:endParaRPr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</a:rPr>
              <a:t>这家公司就不再是“传统公司 + AI 工具”——</a:t>
            </a:r>
            <a:endParaRPr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</a:rPr>
              <a:t>它本身就是一家 AI 公司的原型。</a:t>
            </a:r>
            <a:endParaRPr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4"/>
            <a:ext cx="12189155" cy="6856571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74263" y="274977"/>
            <a:ext cx="0" cy="457105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914892" y="274977"/>
            <a:ext cx="0" cy="457105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263" y="6583023"/>
            <a:ext cx="457105" cy="0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263" y="6125918"/>
            <a:ext cx="0" cy="457105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457787" y="6583023"/>
            <a:ext cx="457105" cy="0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914892" y="6125918"/>
            <a:ext cx="0" cy="457105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105" y="6445891"/>
            <a:ext cx="11274945" cy="0"/>
          </a:xfrm>
          <a:prstGeom prst="line">
            <a:avLst/>
          </a:prstGeom>
          <a:ln w="6350">
            <a:solidFill>
              <a:srgbClr val="305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360736" y="6509886"/>
            <a:ext cx="1371314" cy="165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A90"/>
                </a:solidFill>
                <a:latin typeface="微软雅黑" panose="020B0503020204020204" charset="-122"/>
                <a:ea typeface="微软雅黑" panose="020B0503020204020204" charset="-122"/>
              </a:rPr>
              <a:t>13 / 34</a:t>
            </a:r>
            <a:endParaRPr sz="900" b="0">
              <a:solidFill>
                <a:srgbClr val="6B7A9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105" y="626904"/>
            <a:ext cx="1097051" cy="10331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5600" b="1">
                <a:solidFill>
                  <a:srgbClr val="D4AF37"/>
                </a:solidFill>
                <a:latin typeface="微软雅黑" panose="020B0503020204020204" charset="-122"/>
                <a:ea typeface="微软雅黑" panose="020B0503020204020204" charset="-122"/>
              </a:rPr>
              <a:t>2.3</a:t>
            </a:r>
            <a:endParaRPr lang="en-US" sz="5600" b="1">
              <a:solidFill>
                <a:srgbClr val="D4AF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45577" y="922179"/>
            <a:ext cx="10056304" cy="4425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第二级火箭：公司产品 AI 化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457105" y="1783423"/>
            <a:ext cx="1828419" cy="0"/>
          </a:xfrm>
          <a:prstGeom prst="line">
            <a:avLst/>
          </a:prstGeom>
          <a:ln w="254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57105" y="2011975"/>
            <a:ext cx="3656838" cy="4113943"/>
          </a:xfrm>
          <a:prstGeom prst="rect">
            <a:avLst/>
          </a:prstGeom>
          <a:solidFill>
            <a:srgbClr val="12294A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>
            <p:custDataLst>
              <p:tags r:id="rId1"/>
            </p:custDataLst>
          </p:nvPr>
        </p:nvSpPr>
        <p:spPr>
          <a:xfrm>
            <a:off x="457105" y="2011975"/>
            <a:ext cx="3656838" cy="45710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>
            <p:custDataLst>
              <p:tags r:id="rId2"/>
            </p:custDataLst>
          </p:nvPr>
        </p:nvSpPr>
        <p:spPr>
          <a:xfrm>
            <a:off x="457105" y="2111623"/>
            <a:ext cx="3656838" cy="2578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</a:rPr>
              <a:t>核 心 定 义</a:t>
            </a:r>
            <a:endParaRPr sz="1400" b="1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9947" y="2651922"/>
            <a:ext cx="3291154" cy="1846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在现有产品中嵌入 AI 能力。</a:t>
            </a:r>
            <a:endParaRPr sz="1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endParaRPr sz="1600"/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让客户从“用我们的产品”</a:t>
            </a:r>
            <a:endParaRPr lang="en-US" sz="1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endParaRPr sz="1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变成“用我们的 AI 产品”。</a:t>
            </a:r>
            <a:endParaRPr sz="1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251074" y="2011975"/>
            <a:ext cx="3656838" cy="4113943"/>
          </a:xfrm>
          <a:prstGeom prst="rect">
            <a:avLst/>
          </a:prstGeom>
          <a:solidFill>
            <a:srgbClr val="12294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>
            <p:custDataLst>
              <p:tags r:id="rId3"/>
            </p:custDataLst>
          </p:nvPr>
        </p:nvSpPr>
        <p:spPr>
          <a:xfrm>
            <a:off x="4251074" y="2011975"/>
            <a:ext cx="3656838" cy="45710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>
            <p:custDataLst>
              <p:tags r:id="rId4"/>
            </p:custDataLst>
          </p:nvPr>
        </p:nvSpPr>
        <p:spPr>
          <a:xfrm>
            <a:off x="4251074" y="2111623"/>
            <a:ext cx="3656838" cy="2578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</a:rPr>
              <a:t>战 略 意 义</a:t>
            </a:r>
            <a:endParaRPr sz="1400" b="1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434205" y="2651760"/>
            <a:ext cx="3468370" cy="17214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用最小的阻力把 AI 能力送到客户面前</a:t>
            </a:r>
            <a:endParaRPr sz="1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endParaRPr sz="1600"/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老客户迁移成本最低 收入增量最高</a:t>
            </a:r>
            <a:endParaRPr sz="1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endParaRPr sz="1600"/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为“第三级火箭” 做客户教育</a:t>
            </a:r>
            <a:endParaRPr sz="1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045044" y="2011975"/>
            <a:ext cx="3656838" cy="4113943"/>
          </a:xfrm>
          <a:prstGeom prst="rect">
            <a:avLst/>
          </a:prstGeom>
          <a:solidFill>
            <a:srgbClr val="12294A"/>
          </a:solidFill>
          <a:ln w="6350">
            <a:solidFill>
              <a:srgbClr val="F4D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>
            <p:custDataLst>
              <p:tags r:id="rId5"/>
            </p:custDataLst>
          </p:nvPr>
        </p:nvSpPr>
        <p:spPr>
          <a:xfrm>
            <a:off x="8045044" y="2011975"/>
            <a:ext cx="3656838" cy="457105"/>
          </a:xfrm>
          <a:prstGeom prst="rect">
            <a:avLst/>
          </a:prstGeom>
          <a:solidFill>
            <a:srgbClr val="F4D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>
            <p:custDataLst>
              <p:tags r:id="rId6"/>
            </p:custDataLst>
          </p:nvPr>
        </p:nvSpPr>
        <p:spPr>
          <a:xfrm>
            <a:off x="8045044" y="2111623"/>
            <a:ext cx="3656838" cy="2578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</a:rPr>
              <a:t>关 键 话 术</a:t>
            </a:r>
            <a:endParaRPr sz="1400" b="1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27885" y="2651922"/>
            <a:ext cx="3291154" cy="17214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indent="0" algn="l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这一级火箭</a:t>
            </a:r>
            <a:r>
              <a:rPr lang="en-US"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是给老客户的“礼物”</a:t>
            </a:r>
            <a:endParaRPr sz="1600"/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也是给我们自己的“缓冲带”。</a:t>
            </a:r>
            <a:endParaRPr sz="1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endParaRPr sz="1600"/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让我们在不丢掉旧饭碗的同时，</a:t>
            </a:r>
            <a:endParaRPr sz="1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把新饭碗递到客户手里。</a:t>
            </a:r>
            <a:endParaRPr sz="1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4"/>
            <a:ext cx="12189155" cy="6856571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74263" y="274977"/>
            <a:ext cx="0" cy="457105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914892" y="274977"/>
            <a:ext cx="0" cy="457105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263" y="6583023"/>
            <a:ext cx="457105" cy="0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263" y="6125918"/>
            <a:ext cx="0" cy="457105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457787" y="6583023"/>
            <a:ext cx="457105" cy="0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914892" y="6125918"/>
            <a:ext cx="0" cy="457105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0" y="714"/>
            <a:ext cx="12189155" cy="548526"/>
          </a:xfrm>
          <a:prstGeom prst="rect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0" y="549240"/>
            <a:ext cx="12189155" cy="0"/>
          </a:xfrm>
          <a:prstGeom prst="line">
            <a:avLst/>
          </a:prstGeom>
          <a:ln w="63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105" y="6445891"/>
            <a:ext cx="11274945" cy="0"/>
          </a:xfrm>
          <a:prstGeom prst="line">
            <a:avLst/>
          </a:prstGeom>
          <a:ln w="6350">
            <a:solidFill>
              <a:srgbClr val="305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360736" y="6509886"/>
            <a:ext cx="1371314" cy="165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A90"/>
                </a:solidFill>
                <a:latin typeface="微软雅黑" panose="020B0503020204020204" charset="-122"/>
                <a:ea typeface="微软雅黑" panose="020B0503020204020204" charset="-122"/>
              </a:rPr>
              <a:t>14 / 34</a:t>
            </a:r>
            <a:endParaRPr sz="900" b="0">
              <a:solidFill>
                <a:srgbClr val="6B7A9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105" y="626904"/>
            <a:ext cx="1097051" cy="10331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5600" b="1">
                <a:solidFill>
                  <a:srgbClr val="D4AF37"/>
                </a:solidFill>
                <a:latin typeface="微软雅黑" panose="020B0503020204020204" charset="-122"/>
                <a:ea typeface="微软雅黑" panose="020B0503020204020204" charset="-122"/>
              </a:rPr>
              <a:t>2.4 </a:t>
            </a:r>
            <a:endParaRPr lang="en-US" sz="5600" b="1">
              <a:solidFill>
                <a:srgbClr val="D4AF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45577" y="922179"/>
            <a:ext cx="10056304" cy="4425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第三级火箭：AI 能力产品化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457105" y="1783423"/>
            <a:ext cx="1828419" cy="0"/>
          </a:xfrm>
          <a:prstGeom prst="line">
            <a:avLst/>
          </a:prstGeom>
          <a:ln w="254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57105" y="2011975"/>
            <a:ext cx="5485257" cy="2285524"/>
          </a:xfrm>
          <a:prstGeom prst="rect">
            <a:avLst/>
          </a:prstGeom>
          <a:solidFill>
            <a:srgbClr val="12294A"/>
          </a:solidFill>
          <a:ln w="6350">
            <a:solidFill>
              <a:srgbClr val="6B7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105" y="2111623"/>
            <a:ext cx="5485257" cy="2578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商业模式的根本性变化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9947" y="2743343"/>
            <a:ext cx="5119573" cy="774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</a:rPr>
              <a:t>❌ 卖 License（一次性收入）</a:t>
            </a:r>
            <a:endParaRPr sz="12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</a:rPr>
              <a:t>❌ 卖 SaaS 订阅（按年付费）</a:t>
            </a:r>
            <a:endParaRPr sz="12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</a:rPr>
              <a:t>✅ 按效果付费 / 按调用付费 / 按结果付费   （与客户业绩挂钩）</a:t>
            </a:r>
            <a:endParaRPr sz="12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16625" y="2011975"/>
            <a:ext cx="5485257" cy="2285524"/>
          </a:xfrm>
          <a:prstGeom prst="rect">
            <a:avLst/>
          </a:prstGeom>
          <a:solidFill>
            <a:srgbClr val="12294A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6625" y="2111623"/>
            <a:ext cx="5485257" cy="2578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D4AF37"/>
                </a:solidFill>
                <a:latin typeface="微软雅黑" panose="020B0503020204020204" charset="-122"/>
                <a:ea typeface="微软雅黑" panose="020B0503020204020204" charset="-122"/>
              </a:rPr>
              <a:t>客户关系的变化</a:t>
            </a:r>
            <a:endParaRPr sz="1400" b="1">
              <a:solidFill>
                <a:srgbClr val="D4AF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99466" y="2560501"/>
            <a:ext cx="5119573" cy="1505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客户从“买软件”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变成“雇 AI 员工”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形态：行业 Agent（行业智能体）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把 AI 能力本身做成产品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7105" y="4579988"/>
            <a:ext cx="11244777" cy="2578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4AF37"/>
                </a:solidFill>
                <a:latin typeface="微软雅黑" panose="020B0503020204020204" charset="-122"/>
                <a:ea typeface="微软雅黑" panose="020B0503020204020204" charset="-122"/>
              </a:rPr>
              <a:t>Agent 产品的三个特征</a:t>
            </a:r>
            <a:endParaRPr sz="1400" b="1">
              <a:solidFill>
                <a:srgbClr val="D4AF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57105" y="4983156"/>
            <a:ext cx="3656838" cy="1371314"/>
          </a:xfrm>
          <a:prstGeom prst="rect">
            <a:avLst/>
          </a:prstGeom>
          <a:solidFill>
            <a:srgbClr val="12294A"/>
          </a:solidFill>
          <a:ln w="6350">
            <a:solidFill>
              <a:srgbClr val="F4D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105" y="5082804"/>
            <a:ext cx="3656838" cy="2578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4D35A"/>
                </a:solidFill>
                <a:latin typeface="微软雅黑" panose="020B0503020204020204" charset="-122"/>
                <a:ea typeface="微软雅黑" panose="020B0503020204020204" charset="-122"/>
              </a:rPr>
              <a:t>a. 标准化</a:t>
            </a:r>
            <a:endParaRPr sz="1400" b="1">
              <a:solidFill>
                <a:srgbClr val="F4D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7105" y="5617966"/>
            <a:ext cx="3656838" cy="55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一次开发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千人复用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251074" y="4983156"/>
            <a:ext cx="3656838" cy="1371314"/>
          </a:xfrm>
          <a:prstGeom prst="rect">
            <a:avLst/>
          </a:prstGeom>
          <a:solidFill>
            <a:srgbClr val="12294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51074" y="5082804"/>
            <a:ext cx="3656838" cy="2578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b. 可进化</a:t>
            </a:r>
            <a:endParaRPr sz="14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251074" y="5617966"/>
            <a:ext cx="3656838" cy="55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用得越多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越聪明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045044" y="4983156"/>
            <a:ext cx="3656838" cy="1371314"/>
          </a:xfrm>
          <a:prstGeom prst="rect">
            <a:avLst/>
          </a:prstGeom>
          <a:solidFill>
            <a:srgbClr val="12294A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5044" y="5082804"/>
            <a:ext cx="3656838" cy="2578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D4AF37"/>
                </a:solidFill>
                <a:latin typeface="微软雅黑" panose="020B0503020204020204" charset="-122"/>
                <a:ea typeface="微软雅黑" panose="020B0503020204020204" charset="-122"/>
              </a:rPr>
              <a:t>c. 可定价</a:t>
            </a:r>
            <a:endParaRPr sz="1400" b="1">
              <a:solidFill>
                <a:srgbClr val="D4AF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45044" y="5617966"/>
            <a:ext cx="3656838" cy="55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价值可量化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可计量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0" b="1">
                <a:solidFill>
                  <a:srgbClr val="D49B2C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5486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破局 · Agent标准化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11880"/>
            <a:ext cx="1828800" cy="381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5486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CCD5E0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基于行业大模型打造Agent产品，让产品标准化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698480" cy="127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370078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lang="en-US"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破局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机会已经浮现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645920" cy="254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881360" cy="42919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300"/>
              </a:spcAft>
              <a:defRPr sz="1400" b="1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不是所有人都还在迟疑，有些人已经行动起来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D49B2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市场信号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  AI工具类产品在工程领域的搜索量和试用量爆发式增长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  多家设计院主动联系我们，寻求AI审查合作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  有独立工程师已经开始用我们的BIM+AI工具承接更多项目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D49B2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内部信号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  技术团队主动学习AI技术，将AI融入日常工作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  新业务客户咨询量显著回升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  率先觉醒的核心员工已经看到了"不一样的未来"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D49B2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外部验证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  AI工程领域的投融资热度持续攀升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  海外已有AI工程审查公司获得高额融资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D49B2C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rgbClr val="C00000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新机会窗口已经打开，关键是谁能率先抓住</a:t>
            </a:r>
            <a:endParaRPr sz="1600">
              <a:solidFill>
                <a:srgbClr val="C00000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D49B2C"/>
                </a:solidFill>
                <a:latin typeface="微软雅黑" panose="020B0503020204020204" charset="-122"/>
              </a:defRPr>
            </a:pPr>
            <a:endParaRPr sz="1600">
              <a:solidFill>
                <a:srgbClr val="C0000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6263640"/>
            <a:ext cx="11064240" cy="12700"/>
          </a:xfrm>
          <a:prstGeom prst="rect">
            <a:avLst/>
          </a:prstGeom>
          <a:solidFill>
            <a:srgbClr val="E5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337693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lang="en-US"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 Agent：AI时代的"新物种"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645920" cy="254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022985"/>
            <a:ext cx="10881360" cy="4434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300"/>
              </a:spcAft>
              <a:defRPr sz="1400" b="1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sz="1800">
                <a:ea typeface="微软雅黑" panose="020B0503020204020204" charset="-122"/>
                <a:cs typeface="微软雅黑" panose="020B0503020204020204" charset="-122"/>
              </a:rPr>
              <a:t>为什么Agent是AI商业化的终极形态？</a:t>
            </a:r>
            <a:endParaRPr sz="1800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D49B2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Agent与普通软件的本质区别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  <a:defRPr sz="1300" b="1">
                <a:solidFill>
                  <a:srgbClr val="D49B2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传统软件：你告诉它做什么，它做什么（工具）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100"/>
              </a:spcAft>
              <a:defRPr sz="1100" b="0">
                <a:solidFill>
                  <a:srgbClr val="8896A8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 需要人工操作、人工决策、人工判断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  <a:defRPr sz="1300" b="1">
                <a:solidFill>
                  <a:srgbClr val="D49B2C"/>
                </a:solidFill>
                <a:latin typeface="微软雅黑" panose="020B0503020204020204" charset="-122"/>
              </a:defRPr>
            </a:pP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  <a:defRPr sz="1300" b="1">
                <a:solidFill>
                  <a:srgbClr val="D49B2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AI Agent：你告诉它目标，它自己完成（数字员工）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100"/>
              </a:spcAft>
              <a:defRPr sz="1100" b="0">
                <a:solidFill>
                  <a:srgbClr val="8896A8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 自主理解任务、自主规划步骤、自主执行操作、自主判断结果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100"/>
              </a:spcAft>
              <a:defRPr sz="1100" b="0">
                <a:solidFill>
                  <a:srgbClr val="8896A8"/>
                </a:solidFill>
                <a:latin typeface="微软雅黑" panose="020B0503020204020204" charset="-122"/>
              </a:defRPr>
            </a:pP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D49B2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工程咨询Agent的典型场景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  "帮我审查这份桥梁设计图纸" → Agent自主完成规范匹配、逐项审查、报告生成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  "估算这个高速公路项目的造价" → Agent自主分析历史数据、生成精准造价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  "监控这个隧道的安全状态" → Agent 7×24自主监测、异常预警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endParaRPr sz="1400">
              <a:solidFill>
                <a:srgbClr val="C0000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6263640"/>
            <a:ext cx="11064240" cy="12700"/>
          </a:xfrm>
          <a:prstGeom prst="rect">
            <a:avLst/>
          </a:prstGeom>
          <a:solidFill>
            <a:srgbClr val="E5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896A8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Agent不是下一个软件形态，而是一种全新的"物种"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1840" y="5731510"/>
            <a:ext cx="6096000" cy="386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sz="1600" b="1">
                <a:solidFill>
                  <a:srgbClr val="C00000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Agent = 可复制、可规模化的"数字工程师"</a:t>
            </a:r>
            <a:endParaRPr lang="zh-CN" altLang="en-US" sz="1600" b="1">
              <a:solidFill>
                <a:srgbClr val="C00000"/>
              </a:solidFill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8330" y="324993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lang="en-US"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 Agent产品矩阵规划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645920" cy="254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>
            <p:custDataLst>
              <p:tags r:id="rId1"/>
            </p:custDataLst>
          </p:nvPr>
        </p:nvSpPr>
        <p:spPr>
          <a:xfrm>
            <a:off x="685800" y="1395095"/>
            <a:ext cx="2011680" cy="3474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685800" y="1395095"/>
            <a:ext cx="201168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822960" y="1623695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设计Agent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>
            <p:custDataLst>
              <p:tags r:id="rId4"/>
            </p:custDataLst>
          </p:nvPr>
        </p:nvSpPr>
        <p:spPr>
          <a:xfrm>
            <a:off x="960120" y="2126615"/>
            <a:ext cx="1463040" cy="12700"/>
          </a:xfrm>
          <a:prstGeom prst="rect">
            <a:avLst/>
          </a:prstGeom>
          <a:solidFill>
            <a:srgbClr val="E5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868680" y="2309495"/>
            <a:ext cx="164592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BIM建模</a:t>
            </a:r>
            <a:br>
              <a:rPr>
                <a:ea typeface="微软雅黑" panose="020B0503020204020204" charset="-122"/>
                <a:cs typeface="微软雅黑" panose="020B0503020204020204" charset="-122"/>
              </a:rPr>
            </a:br>
            <a:r>
              <a:rPr>
                <a:ea typeface="微软雅黑" panose="020B0503020204020204" charset="-122"/>
                <a:cs typeface="微软雅黑" panose="020B0503020204020204" charset="-122"/>
              </a:rPr>
              <a:t>方案比选</a:t>
            </a:r>
            <a:br>
              <a:rPr>
                <a:ea typeface="微软雅黑" panose="020B0503020204020204" charset="-122"/>
                <a:cs typeface="微软雅黑" panose="020B0503020204020204" charset="-122"/>
              </a:rPr>
            </a:br>
            <a:r>
              <a:rPr>
                <a:ea typeface="微软雅黑" panose="020B0503020204020204" charset="-122"/>
                <a:cs typeface="微软雅黑" panose="020B0503020204020204" charset="-122"/>
              </a:rPr>
              <a:t>图纸生成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lang="en-US" altLang="zh-CN">
                <a:ea typeface="微软雅黑" panose="020B0503020204020204" charset="-122"/>
                <a:cs typeface="微软雅黑" panose="020B0503020204020204" charset="-122"/>
              </a:rPr>
              <a:t>......</a:t>
            </a:r>
            <a:endParaRPr lang="en-US" altLang="zh-CN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>
            <p:custDataLst>
              <p:tags r:id="rId6"/>
            </p:custDataLst>
          </p:nvPr>
        </p:nvSpPr>
        <p:spPr>
          <a:xfrm>
            <a:off x="2880360" y="1395095"/>
            <a:ext cx="2011680" cy="3474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>
            <p:custDataLst>
              <p:tags r:id="rId7"/>
            </p:custDataLst>
          </p:nvPr>
        </p:nvSpPr>
        <p:spPr>
          <a:xfrm>
            <a:off x="2880360" y="1395095"/>
            <a:ext cx="2011680" cy="73152"/>
          </a:xfrm>
          <a:prstGeom prst="rect">
            <a:avLst/>
          </a:prstGeom>
          <a:solidFill>
            <a:srgbClr val="1A5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3017520" y="1623695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A5CB5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审查Agent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>
            <p:custDataLst>
              <p:tags r:id="rId9"/>
            </p:custDataLst>
          </p:nvPr>
        </p:nvSpPr>
        <p:spPr>
          <a:xfrm>
            <a:off x="3154680" y="2126615"/>
            <a:ext cx="1463040" cy="12700"/>
          </a:xfrm>
          <a:prstGeom prst="rect">
            <a:avLst/>
          </a:prstGeom>
          <a:solidFill>
            <a:srgbClr val="E5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3063240" y="2309495"/>
            <a:ext cx="164592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规范审查</a:t>
            </a:r>
            <a:br>
              <a:rPr>
                <a:ea typeface="微软雅黑" panose="020B0503020204020204" charset="-122"/>
                <a:cs typeface="微软雅黑" panose="020B0503020204020204" charset="-122"/>
              </a:rPr>
            </a:br>
            <a:r>
              <a:rPr>
                <a:ea typeface="微软雅黑" panose="020B0503020204020204" charset="-122"/>
                <a:cs typeface="微软雅黑" panose="020B0503020204020204" charset="-122"/>
              </a:rPr>
              <a:t>碰撞检测</a:t>
            </a:r>
            <a:br>
              <a:rPr>
                <a:ea typeface="微软雅黑" panose="020B0503020204020204" charset="-122"/>
                <a:cs typeface="微软雅黑" panose="020B0503020204020204" charset="-122"/>
              </a:rPr>
            </a:br>
            <a:r>
              <a:rPr>
                <a:ea typeface="微软雅黑" panose="020B0503020204020204" charset="-122"/>
                <a:cs typeface="微软雅黑" panose="020B0503020204020204" charset="-122"/>
              </a:rPr>
              <a:t>质量报告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lang="en-US" altLang="zh-CN">
                <a:ea typeface="微软雅黑" panose="020B0503020204020204" charset="-122"/>
                <a:cs typeface="微软雅黑" panose="020B0503020204020204" charset="-122"/>
                <a:sym typeface="+mn-ea"/>
              </a:rPr>
              <a:t>......</a:t>
            </a:r>
            <a:endParaRPr lang="en-US" altLang="zh-CN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00" b="0">
                <a:solidFill>
                  <a:srgbClr val="1A2A3A"/>
                </a:solidFill>
                <a:latin typeface="微软雅黑" panose="020B0503020204020204" charset="-122"/>
              </a:defRPr>
            </a:pP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>
            <p:custDataLst>
              <p:tags r:id="rId11"/>
            </p:custDataLst>
          </p:nvPr>
        </p:nvSpPr>
        <p:spPr>
          <a:xfrm>
            <a:off x="5074920" y="1395095"/>
            <a:ext cx="2011680" cy="3474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>
            <p:custDataLst>
              <p:tags r:id="rId12"/>
            </p:custDataLst>
          </p:nvPr>
        </p:nvSpPr>
        <p:spPr>
          <a:xfrm>
            <a:off x="5074920" y="1395095"/>
            <a:ext cx="2011680" cy="73152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3"/>
            </p:custDataLst>
          </p:nvPr>
        </p:nvSpPr>
        <p:spPr>
          <a:xfrm>
            <a:off x="5212080" y="1623695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D49B2C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造价Agent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>
            <p:custDataLst>
              <p:tags r:id="rId14"/>
            </p:custDataLst>
          </p:nvPr>
        </p:nvSpPr>
        <p:spPr>
          <a:xfrm>
            <a:off x="5349240" y="2126615"/>
            <a:ext cx="1463040" cy="12700"/>
          </a:xfrm>
          <a:prstGeom prst="rect">
            <a:avLst/>
          </a:prstGeom>
          <a:solidFill>
            <a:srgbClr val="E5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5"/>
            </p:custDataLst>
          </p:nvPr>
        </p:nvSpPr>
        <p:spPr>
          <a:xfrm>
            <a:off x="5257800" y="2309495"/>
            <a:ext cx="164592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造价估算</a:t>
            </a:r>
            <a:br>
              <a:rPr>
                <a:ea typeface="微软雅黑" panose="020B0503020204020204" charset="-122"/>
                <a:cs typeface="微软雅黑" panose="020B0503020204020204" charset="-122"/>
              </a:rPr>
            </a:br>
            <a:r>
              <a:rPr>
                <a:ea typeface="微软雅黑" panose="020B0503020204020204" charset="-122"/>
                <a:cs typeface="微软雅黑" panose="020B0503020204020204" charset="-122"/>
              </a:rPr>
              <a:t>工程量计算</a:t>
            </a:r>
            <a:br>
              <a:rPr>
                <a:ea typeface="微软雅黑" panose="020B0503020204020204" charset="-122"/>
                <a:cs typeface="微软雅黑" panose="020B0503020204020204" charset="-122"/>
              </a:rPr>
            </a:br>
            <a:r>
              <a:rPr>
                <a:ea typeface="微软雅黑" panose="020B0503020204020204" charset="-122"/>
                <a:cs typeface="微软雅黑" panose="020B0503020204020204" charset="-122"/>
              </a:rPr>
              <a:t>招投标辅助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lang="en-US" altLang="zh-CN">
                <a:ea typeface="微软雅黑" panose="020B0503020204020204" charset="-122"/>
                <a:cs typeface="微软雅黑" panose="020B0503020204020204" charset="-122"/>
                <a:sym typeface="+mn-ea"/>
              </a:rPr>
              <a:t>......</a:t>
            </a:r>
            <a:endParaRPr lang="en-US" altLang="zh-CN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00" b="0">
                <a:solidFill>
                  <a:srgbClr val="1A2A3A"/>
                </a:solidFill>
                <a:latin typeface="微软雅黑" panose="020B0503020204020204" charset="-122"/>
              </a:defRPr>
            </a:pP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>
            <p:custDataLst>
              <p:tags r:id="rId16"/>
            </p:custDataLst>
          </p:nvPr>
        </p:nvSpPr>
        <p:spPr>
          <a:xfrm>
            <a:off x="7269480" y="1395095"/>
            <a:ext cx="2011680" cy="3474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>
            <p:custDataLst>
              <p:tags r:id="rId17"/>
            </p:custDataLst>
          </p:nvPr>
        </p:nvSpPr>
        <p:spPr>
          <a:xfrm>
            <a:off x="7269480" y="1395095"/>
            <a:ext cx="201168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>
            <p:custDataLst>
              <p:tags r:id="rId18"/>
            </p:custDataLst>
          </p:nvPr>
        </p:nvSpPr>
        <p:spPr>
          <a:xfrm>
            <a:off x="7406640" y="1623695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监理Agent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>
            <p:custDataLst>
              <p:tags r:id="rId19"/>
            </p:custDataLst>
          </p:nvPr>
        </p:nvSpPr>
        <p:spPr>
          <a:xfrm>
            <a:off x="7543800" y="2126615"/>
            <a:ext cx="1463040" cy="12700"/>
          </a:xfrm>
          <a:prstGeom prst="rect">
            <a:avLst/>
          </a:prstGeom>
          <a:solidFill>
            <a:srgbClr val="E5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>
            <p:custDataLst>
              <p:tags r:id="rId20"/>
            </p:custDataLst>
          </p:nvPr>
        </p:nvSpPr>
        <p:spPr>
          <a:xfrm>
            <a:off x="7452360" y="2309495"/>
            <a:ext cx="164592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施工监测</a:t>
            </a:r>
            <a:br>
              <a:rPr>
                <a:ea typeface="微软雅黑" panose="020B0503020204020204" charset="-122"/>
                <a:cs typeface="微软雅黑" panose="020B0503020204020204" charset="-122"/>
              </a:rPr>
            </a:br>
            <a:r>
              <a:rPr>
                <a:ea typeface="微软雅黑" panose="020B0503020204020204" charset="-122"/>
                <a:cs typeface="微软雅黑" panose="020B0503020204020204" charset="-122"/>
              </a:rPr>
              <a:t>质量预警</a:t>
            </a:r>
            <a:br>
              <a:rPr>
                <a:ea typeface="微软雅黑" panose="020B0503020204020204" charset="-122"/>
                <a:cs typeface="微软雅黑" panose="020B0503020204020204" charset="-122"/>
              </a:rPr>
            </a:br>
            <a:r>
              <a:rPr>
                <a:ea typeface="微软雅黑" panose="020B0503020204020204" charset="-122"/>
                <a:cs typeface="微软雅黑" panose="020B0503020204020204" charset="-122"/>
              </a:rPr>
              <a:t>进度管理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lang="en-US" altLang="zh-CN">
                <a:ea typeface="微软雅黑" panose="020B0503020204020204" charset="-122"/>
                <a:cs typeface="微软雅黑" panose="020B0503020204020204" charset="-122"/>
                <a:sym typeface="+mn-ea"/>
              </a:rPr>
              <a:t>......</a:t>
            </a:r>
            <a:endParaRPr lang="en-US" altLang="zh-CN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00" b="0">
                <a:solidFill>
                  <a:srgbClr val="1A2A3A"/>
                </a:solidFill>
                <a:latin typeface="微软雅黑" panose="020B0503020204020204" charset="-122"/>
              </a:defRPr>
            </a:pP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>
            <p:custDataLst>
              <p:tags r:id="rId21"/>
            </p:custDataLst>
          </p:nvPr>
        </p:nvSpPr>
        <p:spPr>
          <a:xfrm>
            <a:off x="9464040" y="1395095"/>
            <a:ext cx="2011680" cy="3474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>
            <p:custDataLst>
              <p:tags r:id="rId22"/>
            </p:custDataLst>
          </p:nvPr>
        </p:nvSpPr>
        <p:spPr>
          <a:xfrm>
            <a:off x="9464040" y="1395095"/>
            <a:ext cx="201168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>
            <p:custDataLst>
              <p:tags r:id="rId23"/>
            </p:custDataLst>
          </p:nvPr>
        </p:nvSpPr>
        <p:spPr>
          <a:xfrm>
            <a:off x="9601200" y="1623695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运维Agent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>
            <p:custDataLst>
              <p:tags r:id="rId24"/>
            </p:custDataLst>
          </p:nvPr>
        </p:nvSpPr>
        <p:spPr>
          <a:xfrm>
            <a:off x="9738360" y="2126615"/>
            <a:ext cx="1463040" cy="12700"/>
          </a:xfrm>
          <a:prstGeom prst="rect">
            <a:avLst/>
          </a:prstGeom>
          <a:solidFill>
            <a:srgbClr val="E5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>
            <p:custDataLst>
              <p:tags r:id="rId25"/>
            </p:custDataLst>
          </p:nvPr>
        </p:nvSpPr>
        <p:spPr>
          <a:xfrm>
            <a:off x="9646920" y="2309495"/>
            <a:ext cx="164592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预测维护</a:t>
            </a:r>
            <a:br>
              <a:rPr>
                <a:ea typeface="微软雅黑" panose="020B0503020204020204" charset="-122"/>
                <a:cs typeface="微软雅黑" panose="020B0503020204020204" charset="-122"/>
              </a:rPr>
            </a:br>
            <a:r>
              <a:rPr>
                <a:ea typeface="微软雅黑" panose="020B0503020204020204" charset="-122"/>
                <a:cs typeface="微软雅黑" panose="020B0503020204020204" charset="-122"/>
              </a:rPr>
              <a:t>安全监测</a:t>
            </a:r>
            <a:br>
              <a:rPr>
                <a:ea typeface="微软雅黑" panose="020B0503020204020204" charset="-122"/>
                <a:cs typeface="微软雅黑" panose="020B0503020204020204" charset="-122"/>
              </a:rPr>
            </a:br>
            <a:r>
              <a:rPr>
                <a:ea typeface="微软雅黑" panose="020B0503020204020204" charset="-122"/>
                <a:cs typeface="微软雅黑" panose="020B0503020204020204" charset="-122"/>
              </a:rPr>
              <a:t>能效优化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 lang="en-US" altLang="zh-CN">
                <a:ea typeface="微软雅黑" panose="020B0503020204020204" charset="-122"/>
                <a:cs typeface="微软雅黑" panose="020B0503020204020204" charset="-122"/>
                <a:sym typeface="+mn-ea"/>
              </a:rPr>
              <a:t>......</a:t>
            </a:r>
            <a:endParaRPr lang="en-US" altLang="zh-CN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00" b="0">
                <a:solidFill>
                  <a:srgbClr val="1A2A3A"/>
                </a:solidFill>
                <a:latin typeface="微软雅黑" panose="020B0503020204020204" charset="-122"/>
              </a:defRPr>
            </a:pP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370078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lang="en-US"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 为什么云基可以做到？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645920" cy="254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004570"/>
            <a:ext cx="10881360" cy="46113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D49B2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我们的独特优势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  <a:defRPr sz="1300" b="1">
                <a:solidFill>
                  <a:srgbClr val="D49B2C"/>
                </a:solidFill>
                <a:latin typeface="微软雅黑" panose="020B0503020204020204" charset="-122"/>
              </a:defRPr>
            </a:pPr>
            <a:r>
              <a:rPr lang="en-US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数据优势</a:t>
            </a:r>
            <a:endParaRPr sz="1200"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 二十多年积累的数万个真实工程项目数据 — 这是AI训练的"金矿"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 没有这些数据，再好的AI技术也无从落地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  <a:defRPr sz="1300" b="1">
                <a:solidFill>
                  <a:srgbClr val="D49B2C"/>
                </a:solidFill>
                <a:latin typeface="微软雅黑" panose="020B0503020204020204" charset="-122"/>
              </a:defRPr>
            </a:pPr>
            <a:r>
              <a:rPr lang="en-US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技术优势</a:t>
            </a:r>
            <a:endParaRPr sz="1200"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 玄镜平台 — 国内唯一自主可控的交通BIM三维引擎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 已经完成AI引擎的对接架构设计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  <a:defRPr sz="1300" b="1">
                <a:solidFill>
                  <a:srgbClr val="D49B2C"/>
                </a:solidFill>
                <a:latin typeface="微软雅黑" panose="020B0503020204020204" charset="-122"/>
              </a:defRPr>
            </a:pPr>
            <a:r>
              <a:rPr lang="en-US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团队优势</a:t>
            </a:r>
            <a:endParaRPr sz="1200"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 既懂工程业务又懂数字化技术的复合型团队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 这在市场上极其稀缺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200"/>
              </a:spcAft>
              <a:defRPr sz="1300" b="1">
                <a:solidFill>
                  <a:srgbClr val="D49B2C"/>
                </a:solidFill>
                <a:latin typeface="微软雅黑" panose="020B0503020204020204" charset="-122"/>
              </a:defRPr>
            </a:pPr>
            <a:r>
              <a:rPr lang="en-US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20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先发优势</a:t>
            </a:r>
            <a:endParaRPr sz="1200"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 同行业其他公司尚未系统性地将AI与工程咨询深度融合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</a:rPr>
              <a:t> 我们已经完成了从战略到执行的完整规划</a:t>
            </a:r>
            <a:endParaRPr>
              <a:solidFill>
                <a:schemeClr val="tx1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A2A3A"/>
                </a:solidFill>
                <a:latin typeface="微软雅黑" panose="020B0503020204020204" charset="-122"/>
              </a:defRPr>
            </a:pP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D49B2C"/>
                </a:solidFill>
                <a:latin typeface="微软雅黑" panose="020B0503020204020204" charset="-122"/>
              </a:defRPr>
            </a:pPr>
            <a:r>
              <a:rPr sz="1800">
                <a:solidFill>
                  <a:srgbClr val="C00000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窗口期稍纵即逝，先发优势要转化为市场地位</a:t>
            </a:r>
            <a:endParaRPr sz="1800">
              <a:solidFill>
                <a:srgbClr val="C00000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D49B2C"/>
                </a:solidFill>
                <a:latin typeface="微软雅黑" panose="020B0503020204020204" charset="-122"/>
              </a:defRPr>
            </a:pPr>
            <a:endParaRPr sz="1800">
              <a:solidFill>
                <a:srgbClr val="C00000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6263640"/>
            <a:ext cx="11064240" cy="12700"/>
          </a:xfrm>
          <a:prstGeom prst="rect">
            <a:avLst/>
          </a:prstGeom>
          <a:solidFill>
            <a:srgbClr val="E5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698480" cy="127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2"/>
          <p:cNvSpPr txBox="1"/>
          <p:nvPr/>
        </p:nvSpPr>
        <p:spPr>
          <a:xfrm>
            <a:off x="731520" y="914400"/>
            <a:ext cx="3657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0" b="1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0</a:t>
            </a:r>
            <a:r>
              <a:rPr lang="en-US"/>
              <a:t>4</a:t>
            </a:r>
            <a:endParaRPr lang="en-US"/>
          </a:p>
        </p:txBody>
      </p:sp>
      <p:sp>
        <p:nvSpPr>
          <p:cNvPr id="10" name="TextBox 3"/>
          <p:cNvSpPr txBox="1"/>
          <p:nvPr/>
        </p:nvSpPr>
        <p:spPr>
          <a:xfrm>
            <a:off x="731520" y="2446020"/>
            <a:ext cx="57785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共赢 · 第二轮股权激励方案</a:t>
            </a:r>
          </a:p>
        </p:txBody>
      </p:sp>
      <p:sp>
        <p:nvSpPr>
          <p:cNvPr id="11" name="Rectangle 5"/>
          <p:cNvSpPr/>
          <p:nvPr/>
        </p:nvSpPr>
        <p:spPr>
          <a:xfrm>
            <a:off x="731520" y="3611880"/>
            <a:ext cx="1828800" cy="381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6"/>
          <p:cNvSpPr txBox="1"/>
          <p:nvPr/>
        </p:nvSpPr>
        <p:spPr>
          <a:xfrm>
            <a:off x="731520" y="3931920"/>
            <a:ext cx="5486400" cy="42291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CCD5E0"/>
                </a:solidFill>
                <a:latin typeface="微软雅黑" panose="020B0503020204020204" charset="-122"/>
              </a:defRPr>
            </a:pP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让每个人成为AI时代云基智慧的共创者和受益者</a:t>
            </a:r>
            <a:endParaRPr sz="1600"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4"/>
            <a:ext cx="12189155" cy="6856571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274263" y="274977"/>
            <a:ext cx="457105" cy="0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74263" y="274977"/>
            <a:ext cx="0" cy="457105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457787" y="274977"/>
            <a:ext cx="457105" cy="0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914892" y="274977"/>
            <a:ext cx="0" cy="457105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263" y="6583023"/>
            <a:ext cx="457105" cy="0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263" y="6125918"/>
            <a:ext cx="0" cy="457105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457787" y="6583023"/>
            <a:ext cx="457105" cy="0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914892" y="6125918"/>
            <a:ext cx="0" cy="457105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0" y="714"/>
            <a:ext cx="12189155" cy="548526"/>
          </a:xfrm>
          <a:prstGeom prst="rect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6793" y="164487"/>
            <a:ext cx="5485257" cy="220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</a:rPr>
              <a:t>重新定义“股权激励”四个字</a:t>
            </a:r>
            <a:endParaRPr sz="12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0" y="549240"/>
            <a:ext cx="12189155" cy="0"/>
          </a:xfrm>
          <a:prstGeom prst="line">
            <a:avLst/>
          </a:prstGeom>
          <a:ln w="63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105" y="6445891"/>
            <a:ext cx="11274945" cy="0"/>
          </a:xfrm>
          <a:prstGeom prst="line">
            <a:avLst/>
          </a:prstGeom>
          <a:ln w="6350">
            <a:solidFill>
              <a:srgbClr val="305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360736" y="6509886"/>
            <a:ext cx="1371314" cy="165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7A90"/>
                </a:solidFill>
                <a:latin typeface="微软雅黑" panose="020B0503020204020204" charset="-122"/>
                <a:ea typeface="微软雅黑" panose="020B0503020204020204" charset="-122"/>
              </a:rPr>
              <a:t>25 / 34</a:t>
            </a:r>
            <a:endParaRPr sz="900" b="0">
              <a:solidFill>
                <a:srgbClr val="6B7A9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105" y="785047"/>
            <a:ext cx="11244777" cy="4425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rgbClr val="D4AF37"/>
                </a:solidFill>
                <a:latin typeface="微软雅黑" panose="020B0503020204020204" charset="-122"/>
                <a:ea typeface="微软雅黑" panose="020B0503020204020204" charset="-122"/>
              </a:rPr>
              <a:t>4.1 </a:t>
            </a:r>
            <a:r>
              <a:rPr sz="2400" b="1">
                <a:solidFill>
                  <a:srgbClr val="D4AF37"/>
                </a:solidFill>
                <a:latin typeface="微软雅黑" panose="020B0503020204020204" charset="-122"/>
                <a:ea typeface="微软雅黑" panose="020B0503020204020204" charset="-122"/>
              </a:rPr>
              <a:t>重新定义“股权激励”四个字</a:t>
            </a:r>
            <a:endParaRPr sz="2400" b="1">
              <a:solidFill>
                <a:srgbClr val="D4AF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57105" y="1234897"/>
            <a:ext cx="2285524" cy="0"/>
          </a:xfrm>
          <a:prstGeom prst="line">
            <a:avLst/>
          </a:prstGeom>
          <a:ln w="254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57105" y="1646291"/>
            <a:ext cx="5485257" cy="4113943"/>
          </a:xfrm>
          <a:prstGeom prst="rect">
            <a:avLst/>
          </a:prstGeom>
          <a:solidFill>
            <a:srgbClr val="12294A"/>
          </a:solidFill>
          <a:ln w="6350">
            <a:solidFill>
              <a:srgbClr val="E6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105" y="1646291"/>
            <a:ext cx="5485257" cy="457105"/>
          </a:xfrm>
          <a:prstGeom prst="rect">
            <a:avLst/>
          </a:prstGeom>
          <a:solidFill>
            <a:srgbClr val="E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105" y="1708791"/>
            <a:ext cx="5485257" cy="3321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b="1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</a:rPr>
              <a:t>它  不  是</a:t>
            </a:r>
            <a:endParaRPr b="1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1387" y="2880881"/>
            <a:ext cx="5119573" cy="1771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60000"/>
              </a:lnSpc>
            </a:pPr>
            <a:r>
              <a:rPr sz="2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❌  不是“福利”</a:t>
            </a:r>
          </a:p>
          <a:p>
            <a:pPr algn="ctr">
              <a:lnSpc>
                <a:spcPct val="160000"/>
              </a:lnSpc>
            </a:pPr>
            <a:r>
              <a:rPr sz="2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❌  不是“奖励”</a:t>
            </a:r>
          </a:p>
          <a:p>
            <a:pPr algn="ctr">
              <a:lnSpc>
                <a:spcPct val="160000"/>
              </a:lnSpc>
            </a:pPr>
            <a:r>
              <a:rPr sz="2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❌  不是“画饼”</a:t>
            </a:r>
            <a:endParaRPr sz="2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16625" y="1646291"/>
            <a:ext cx="5485257" cy="4113943"/>
          </a:xfrm>
          <a:prstGeom prst="rect">
            <a:avLst/>
          </a:prstGeom>
          <a:solidFill>
            <a:srgbClr val="12294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6625" y="1646291"/>
            <a:ext cx="5485257" cy="45710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6625" y="1708791"/>
            <a:ext cx="5485257" cy="3321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b="1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</a:rPr>
              <a:t>它  是</a:t>
            </a:r>
            <a:endParaRPr b="1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99466" y="2810713"/>
            <a:ext cx="5119573" cy="2164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60000"/>
              </a:lnSpc>
            </a:pPr>
            <a:r>
              <a:rPr sz="2200" b="1">
                <a:solidFill>
                  <a:srgbClr val="D4AF37"/>
                </a:solidFill>
                <a:latin typeface="微软雅黑" panose="020B0503020204020204" charset="-122"/>
                <a:ea typeface="微软雅黑" panose="020B0503020204020204" charset="-122"/>
              </a:rPr>
              <a:t>✅  「二次合伙的邀请函」</a:t>
            </a:r>
            <a:endParaRPr sz="2200" b="1">
              <a:solidFill>
                <a:srgbClr val="D4AF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60000"/>
              </a:lnSpc>
            </a:pPr>
            <a:r>
              <a:rPr sz="2200" b="1">
                <a:solidFill>
                  <a:srgbClr val="D4AF37"/>
                </a:solidFill>
                <a:latin typeface="微软雅黑" panose="020B0503020204020204" charset="-122"/>
                <a:ea typeface="微软雅黑" panose="020B0503020204020204" charset="-122"/>
              </a:rPr>
              <a:t>✅  「AI 时代的船票」</a:t>
            </a:r>
            <a:endParaRPr sz="2200" b="1">
              <a:solidFill>
                <a:srgbClr val="D4AF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60000"/>
              </a:lnSpc>
            </a:pPr>
            <a:r>
              <a:rPr sz="2200" b="1">
                <a:solidFill>
                  <a:srgbClr val="D4AF37"/>
                </a:solidFill>
                <a:latin typeface="微软雅黑" panose="020B0503020204020204" charset="-122"/>
                <a:ea typeface="微软雅黑" panose="020B0503020204020204" charset="-122"/>
              </a:rPr>
              <a:t>✅  「我们对未来下注的证据」</a:t>
            </a:r>
            <a:endParaRPr sz="2200" b="1">
              <a:solidFill>
                <a:srgbClr val="D4AF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60000"/>
              </a:lnSpc>
            </a:pPr>
            <a:r>
              <a:rPr sz="2200" b="1">
                <a:solidFill>
                  <a:srgbClr val="D4AF37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✅  「</a:t>
            </a:r>
            <a:r>
              <a:rPr lang="zh-CN" altLang="en-US" sz="2200" b="1">
                <a:solidFill>
                  <a:srgbClr val="D4AF37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共享第二曲线红利</a:t>
            </a:r>
            <a:r>
              <a:rPr sz="2200" b="1">
                <a:solidFill>
                  <a:srgbClr val="D4AF37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」</a:t>
            </a:r>
            <a:endParaRPr sz="2200" b="1">
              <a:solidFill>
                <a:srgbClr val="D4AF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57105" y="5943076"/>
            <a:ext cx="11244777" cy="54852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105" y="6070019"/>
            <a:ext cx="11244777" cy="294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</a:rPr>
              <a:t>这一轮股权的本质，是“参与定义 AI 时代”的机会。</a:t>
            </a:r>
            <a:endParaRPr sz="1600" b="1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93"/>
            <a:ext cx="12188825" cy="73133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Text 1"/>
          <p:cNvSpPr/>
          <p:nvPr/>
        </p:nvSpPr>
        <p:spPr>
          <a:xfrm>
            <a:off x="682435" y="481524"/>
            <a:ext cx="10726166" cy="6703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35" b="1" dirty="0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4.2 </a:t>
            </a:r>
            <a:r>
              <a:rPr lang="zh-CN" altLang="en-US" sz="2935" b="1" dirty="0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我们希望的合伙人</a:t>
            </a:r>
            <a:r>
              <a:rPr lang="en-US" sz="2935" b="1" dirty="0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 </a:t>
            </a:r>
            <a:endParaRPr lang="en-US" sz="2935" dirty="0"/>
          </a:p>
        </p:txBody>
      </p:sp>
      <p:sp>
        <p:nvSpPr>
          <p:cNvPr id="5" name="Shape 3"/>
          <p:cNvSpPr/>
          <p:nvPr/>
        </p:nvSpPr>
        <p:spPr>
          <a:xfrm>
            <a:off x="731330" y="1317286"/>
            <a:ext cx="1462659" cy="36566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609441" y="1646384"/>
            <a:ext cx="3473815" cy="4387977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609441" y="1646384"/>
            <a:ext cx="73133" cy="4387977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853218" y="1743895"/>
            <a:ext cx="3047206" cy="4266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65" b="1" dirty="0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对坚守者的致敬</a:t>
            </a:r>
            <a:endParaRPr lang="en-US" sz="1865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853218" y="2194881"/>
            <a:ext cx="3047206" cy="3717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6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第二轮激励是对</a:t>
            </a:r>
            <a:r>
              <a:rPr lang="en-US" sz="1465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“穿越至暗时刻的坚守者”</a:t>
            </a:r>
            <a:r>
              <a:rPr lang="en-US" sz="146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的正式致敬——你们的坚持，值得被看见、被回报。</a:t>
            </a:r>
            <a:endParaRPr lang="en-US" sz="1465" dirty="0"/>
          </a:p>
        </p:txBody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4387977" y="1646384"/>
            <a:ext cx="3473815" cy="4387977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4387977" y="1646384"/>
            <a:ext cx="73133" cy="4387977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4623498" y="1743895"/>
            <a:ext cx="3047206" cy="4266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65" b="1" dirty="0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对</a:t>
            </a:r>
            <a:r>
              <a:rPr lang="zh-CN" altLang="en-US" sz="1865" b="1" dirty="0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相信者的激励</a:t>
            </a:r>
            <a:endParaRPr lang="zh-CN" altLang="en-US" sz="1865" b="1" dirty="0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4631754" y="2194881"/>
            <a:ext cx="3047206" cy="3717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zh-CN" altLang="en-US" sz="146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第二轮</a:t>
            </a:r>
            <a:r>
              <a:rPr lang="en-US" sz="146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股权激励是双向选择：</a:t>
            </a:r>
            <a:endParaRPr lang="en-US" sz="1465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6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公司选择你，你也选择相信云基的未来。</a:t>
            </a:r>
            <a:r>
              <a:rPr lang="en-US" sz="1465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这是一次信心的双向投票</a:t>
            </a:r>
            <a:r>
              <a:rPr lang="en-US" sz="146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。</a:t>
            </a:r>
            <a:endParaRPr lang="en-US" sz="1465" dirty="0"/>
          </a:p>
        </p:txBody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8166513" y="1646384"/>
            <a:ext cx="3473815" cy="4387977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>
            <p:custDataLst>
              <p:tags r:id="rId10"/>
            </p:custDataLst>
          </p:nvPr>
        </p:nvSpPr>
        <p:spPr>
          <a:xfrm>
            <a:off x="8166513" y="1646384"/>
            <a:ext cx="73133" cy="4387977"/>
          </a:xfrm>
          <a:prstGeom prst="rect">
            <a:avLst/>
          </a:prstGeom>
          <a:solidFill>
            <a:srgbClr val="F77F00"/>
          </a:solidFill>
        </p:spPr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8410289" y="1743895"/>
            <a:ext cx="3047206" cy="4266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865" b="1" dirty="0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对长期者的肯定</a:t>
            </a:r>
            <a:endParaRPr lang="zh-CN" altLang="en-US" sz="1865" b="1" dirty="0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8410289" y="2194881"/>
            <a:ext cx="3047206" cy="3717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6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当前正是</a:t>
            </a:r>
            <a:r>
              <a:rPr lang="en-US" sz="1465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云基价洼地期</a:t>
            </a:r>
            <a:r>
              <a:rPr lang="en-US" sz="146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。随着数智化业务的持续落地，</a:t>
            </a:r>
            <a:r>
              <a:rPr lang="zh-CN" altLang="en-US" sz="146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长期主义者</a:t>
            </a:r>
            <a:r>
              <a:rPr lang="en-US" sz="146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将获得最大的价值增长空间。</a:t>
            </a:r>
            <a:endParaRPr lang="en-US" sz="146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93"/>
            <a:ext cx="12188825" cy="73133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Text 1"/>
          <p:cNvSpPr/>
          <p:nvPr/>
        </p:nvSpPr>
        <p:spPr>
          <a:xfrm>
            <a:off x="657670" y="454219"/>
            <a:ext cx="10726166" cy="6703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35" b="1" dirty="0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4.3 时间节奏与行动路线</a:t>
            </a:r>
            <a:endParaRPr lang="en-US" sz="2935" dirty="0"/>
          </a:p>
        </p:txBody>
      </p:sp>
      <p:sp>
        <p:nvSpPr>
          <p:cNvPr id="5" name="Shape 3"/>
          <p:cNvSpPr/>
          <p:nvPr/>
        </p:nvSpPr>
        <p:spPr>
          <a:xfrm>
            <a:off x="731330" y="1317286"/>
            <a:ext cx="1462659" cy="36566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1803946" y="2072993"/>
            <a:ext cx="8580933" cy="30472"/>
          </a:xfrm>
          <a:prstGeom prst="rect">
            <a:avLst/>
          </a:prstGeom>
          <a:solidFill>
            <a:srgbClr val="C8D6E5"/>
          </a:solidFill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1529698" y="1804839"/>
            <a:ext cx="548497" cy="548497"/>
          </a:xfrm>
          <a:prstGeom prst="ellipse">
            <a:avLst/>
          </a:prstGeom>
          <a:solidFill>
            <a:srgbClr val="0077B6"/>
          </a:solidFill>
        </p:spPr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1529698" y="1804839"/>
            <a:ext cx="548497" cy="548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731330" y="2475224"/>
            <a:ext cx="2145233" cy="3656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0077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第1周</a:t>
            </a:r>
            <a:endParaRPr lang="en-US" sz="1465" dirty="0"/>
          </a:p>
        </p:txBody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804462" y="2926211"/>
            <a:ext cx="1998967" cy="3534759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804462" y="2926211"/>
            <a:ext cx="1998967" cy="54850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877595" y="3048099"/>
            <a:ext cx="1852701" cy="4266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5" b="1" dirty="0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宣讲动员</a:t>
            </a:r>
            <a:endParaRPr lang="en-US" sz="1735" dirty="0"/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877595" y="3535652"/>
            <a:ext cx="1852701" cy="26815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zh-CN" altLang="en-US" sz="133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动员</a:t>
            </a:r>
            <a:r>
              <a:rPr lang="en-US" altLang="zh-CN" sz="133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-</a:t>
            </a:r>
            <a:r>
              <a:rPr lang="zh-CN" altLang="en-US" sz="133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文</a:t>
            </a:r>
            <a:r>
              <a:rPr lang="en-US" sz="133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化再觉醒</a:t>
            </a:r>
            <a:endParaRPr lang="en-US" sz="1335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algn="ctr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133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用</a:t>
            </a:r>
            <a:r>
              <a:rPr lang="zh-CN" altLang="en-US" sz="1335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“更深的相信”</a:t>
            </a:r>
            <a:endParaRPr lang="zh-CN" altLang="en-US" sz="1335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algn="ctr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1335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点燃相信</a:t>
            </a:r>
            <a:endParaRPr lang="zh-CN" altLang="en-US" sz="1335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3674931" y="1804839"/>
            <a:ext cx="548497" cy="548497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3674931" y="1804839"/>
            <a:ext cx="548497" cy="548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2876563" y="2475224"/>
            <a:ext cx="2145233" cy="3656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第2周</a:t>
            </a:r>
            <a:endParaRPr lang="en-US" sz="1465" dirty="0"/>
          </a:p>
        </p:txBody>
      </p:sp>
      <p:sp>
        <p:nvSpPr>
          <p:cNvPr id="17" name="Shape 15"/>
          <p:cNvSpPr/>
          <p:nvPr>
            <p:custDataLst>
              <p:tags r:id="rId12"/>
            </p:custDataLst>
          </p:nvPr>
        </p:nvSpPr>
        <p:spPr>
          <a:xfrm>
            <a:off x="2949696" y="2926211"/>
            <a:ext cx="1998967" cy="3534759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2949696" y="2926211"/>
            <a:ext cx="1998967" cy="5485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3022829" y="3048099"/>
            <a:ext cx="1852701" cy="4266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735" b="1" dirty="0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调研摸底</a:t>
            </a:r>
            <a:endParaRPr lang="zh-CN" altLang="en-US" sz="1735" b="1" dirty="0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3022829" y="3535652"/>
            <a:ext cx="1852701" cy="26815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zh-CN" altLang="en-US" sz="133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各板块宣讲</a:t>
            </a:r>
            <a:endParaRPr lang="zh-CN" altLang="en-US" sz="1335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3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收集与反馈</a:t>
            </a:r>
            <a:endParaRPr lang="en-US" sz="1335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sz="133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员工</a:t>
            </a:r>
            <a:r>
              <a:rPr lang="en-US" sz="133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顾虑</a:t>
            </a:r>
            <a:endParaRPr lang="en-US" sz="1335" dirty="0"/>
          </a:p>
        </p:txBody>
      </p:sp>
      <p:sp>
        <p:nvSpPr>
          <p:cNvPr id="21" name="Shape 19"/>
          <p:cNvSpPr/>
          <p:nvPr>
            <p:custDataLst>
              <p:tags r:id="rId16"/>
            </p:custDataLst>
          </p:nvPr>
        </p:nvSpPr>
        <p:spPr>
          <a:xfrm>
            <a:off x="5820164" y="1804839"/>
            <a:ext cx="548497" cy="548497"/>
          </a:xfrm>
          <a:prstGeom prst="ellipse">
            <a:avLst/>
          </a:prstGeom>
          <a:solidFill>
            <a:srgbClr val="F77F00"/>
          </a:solidFill>
        </p:spPr>
      </p:sp>
      <p:sp>
        <p:nvSpPr>
          <p:cNvPr id="22" name="Text 20"/>
          <p:cNvSpPr/>
          <p:nvPr>
            <p:custDataLst>
              <p:tags r:id="rId17"/>
            </p:custDataLst>
          </p:nvPr>
        </p:nvSpPr>
        <p:spPr>
          <a:xfrm>
            <a:off x="5820164" y="1804839"/>
            <a:ext cx="548497" cy="548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>
            <p:custDataLst>
              <p:tags r:id="rId18"/>
            </p:custDataLst>
          </p:nvPr>
        </p:nvSpPr>
        <p:spPr>
          <a:xfrm>
            <a:off x="5021796" y="2475224"/>
            <a:ext cx="2145233" cy="3656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F77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第3周</a:t>
            </a:r>
            <a:endParaRPr lang="en-US" sz="1465" dirty="0"/>
          </a:p>
        </p:txBody>
      </p:sp>
      <p:sp>
        <p:nvSpPr>
          <p:cNvPr id="24" name="Shape 22"/>
          <p:cNvSpPr/>
          <p:nvPr>
            <p:custDataLst>
              <p:tags r:id="rId19"/>
            </p:custDataLst>
          </p:nvPr>
        </p:nvSpPr>
        <p:spPr>
          <a:xfrm>
            <a:off x="5094929" y="2926211"/>
            <a:ext cx="1998967" cy="3534759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>
            <p:custDataLst>
              <p:tags r:id="rId20"/>
            </p:custDataLst>
          </p:nvPr>
        </p:nvSpPr>
        <p:spPr>
          <a:xfrm>
            <a:off x="5094929" y="2926211"/>
            <a:ext cx="1998967" cy="54850"/>
          </a:xfrm>
          <a:prstGeom prst="rect">
            <a:avLst/>
          </a:prstGeom>
          <a:solidFill>
            <a:srgbClr val="F77F00"/>
          </a:solidFill>
        </p:spPr>
      </p:sp>
      <p:sp>
        <p:nvSpPr>
          <p:cNvPr id="26" name="Text 24"/>
          <p:cNvSpPr/>
          <p:nvPr>
            <p:custDataLst>
              <p:tags r:id="rId21"/>
            </p:custDataLst>
          </p:nvPr>
        </p:nvSpPr>
        <p:spPr>
          <a:xfrm>
            <a:off x="5168062" y="3048099"/>
            <a:ext cx="1852701" cy="4266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735" b="1" dirty="0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名单审定</a:t>
            </a:r>
            <a:endParaRPr lang="zh-CN" altLang="en-US" sz="1735" b="1" dirty="0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7" name="Text 25"/>
          <p:cNvSpPr/>
          <p:nvPr>
            <p:custDataLst>
              <p:tags r:id="rId22"/>
            </p:custDataLst>
          </p:nvPr>
        </p:nvSpPr>
        <p:spPr>
          <a:xfrm>
            <a:off x="5168062" y="3535652"/>
            <a:ext cx="1852701" cy="26815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zh-CN" altLang="en-US" sz="133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员工个人申请</a:t>
            </a:r>
            <a:endParaRPr lang="zh-CN" altLang="en-US" sz="1335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sz="133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人力资源部初步审核</a:t>
            </a:r>
            <a:endParaRPr lang="zh-CN" altLang="en-US" sz="1335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sz="133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公司会议决策</a:t>
            </a:r>
            <a:endParaRPr lang="zh-CN" altLang="en-US" sz="1335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zh-CN" altLang="en-US" sz="1335" dirty="0"/>
          </a:p>
        </p:txBody>
      </p:sp>
      <p:sp>
        <p:nvSpPr>
          <p:cNvPr id="28" name="Shape 26"/>
          <p:cNvSpPr/>
          <p:nvPr>
            <p:custDataLst>
              <p:tags r:id="rId23"/>
            </p:custDataLst>
          </p:nvPr>
        </p:nvSpPr>
        <p:spPr>
          <a:xfrm>
            <a:off x="7965397" y="1804839"/>
            <a:ext cx="548497" cy="548497"/>
          </a:xfrm>
          <a:prstGeom prst="ellipse">
            <a:avLst/>
          </a:prstGeom>
          <a:solidFill>
            <a:srgbClr val="2E8B57"/>
          </a:solidFill>
        </p:spPr>
      </p:sp>
      <p:sp>
        <p:nvSpPr>
          <p:cNvPr id="29" name="Text 27"/>
          <p:cNvSpPr/>
          <p:nvPr>
            <p:custDataLst>
              <p:tags r:id="rId24"/>
            </p:custDataLst>
          </p:nvPr>
        </p:nvSpPr>
        <p:spPr>
          <a:xfrm>
            <a:off x="7965397" y="1804839"/>
            <a:ext cx="548497" cy="548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>
            <p:custDataLst>
              <p:tags r:id="rId25"/>
            </p:custDataLst>
          </p:nvPr>
        </p:nvSpPr>
        <p:spPr>
          <a:xfrm>
            <a:off x="7167029" y="2475224"/>
            <a:ext cx="2145233" cy="3656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第4周</a:t>
            </a:r>
            <a:endParaRPr lang="en-US" sz="1465" dirty="0"/>
          </a:p>
        </p:txBody>
      </p:sp>
      <p:sp>
        <p:nvSpPr>
          <p:cNvPr id="31" name="Shape 29"/>
          <p:cNvSpPr/>
          <p:nvPr>
            <p:custDataLst>
              <p:tags r:id="rId26"/>
            </p:custDataLst>
          </p:nvPr>
        </p:nvSpPr>
        <p:spPr>
          <a:xfrm>
            <a:off x="7240162" y="2926211"/>
            <a:ext cx="1998967" cy="3534759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>
            <p:custDataLst>
              <p:tags r:id="rId27"/>
            </p:custDataLst>
          </p:nvPr>
        </p:nvSpPr>
        <p:spPr>
          <a:xfrm>
            <a:off x="7240162" y="2926211"/>
            <a:ext cx="1998967" cy="54850"/>
          </a:xfrm>
          <a:prstGeom prst="rect">
            <a:avLst/>
          </a:prstGeom>
          <a:solidFill>
            <a:srgbClr val="2E8B57"/>
          </a:solidFill>
        </p:spPr>
      </p:sp>
      <p:sp>
        <p:nvSpPr>
          <p:cNvPr id="35" name="Shape 33"/>
          <p:cNvSpPr/>
          <p:nvPr>
            <p:custDataLst>
              <p:tags r:id="rId28"/>
            </p:custDataLst>
          </p:nvPr>
        </p:nvSpPr>
        <p:spPr>
          <a:xfrm>
            <a:off x="10110630" y="1804839"/>
            <a:ext cx="548497" cy="548497"/>
          </a:xfrm>
          <a:prstGeom prst="ellipse">
            <a:avLst/>
          </a:prstGeom>
          <a:solidFill>
            <a:srgbClr val="6A4C93"/>
          </a:solidFill>
        </p:spPr>
      </p:sp>
      <p:sp>
        <p:nvSpPr>
          <p:cNvPr id="36" name="Text 34"/>
          <p:cNvSpPr/>
          <p:nvPr>
            <p:custDataLst>
              <p:tags r:id="rId29"/>
            </p:custDataLst>
          </p:nvPr>
        </p:nvSpPr>
        <p:spPr>
          <a:xfrm>
            <a:off x="10110630" y="1804839"/>
            <a:ext cx="548497" cy="548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35"/>
          <p:cNvSpPr/>
          <p:nvPr>
            <p:custDataLst>
              <p:tags r:id="rId30"/>
            </p:custDataLst>
          </p:nvPr>
        </p:nvSpPr>
        <p:spPr>
          <a:xfrm>
            <a:off x="9312262" y="2475224"/>
            <a:ext cx="2145233" cy="3656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65" b="1" dirty="0">
                <a:solidFill>
                  <a:srgbClr val="6A4C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</a:t>
            </a:r>
            <a:r>
              <a:rPr lang="en-US" altLang="zh-CN" sz="1465" b="1" dirty="0">
                <a:solidFill>
                  <a:srgbClr val="6A4C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5-8</a:t>
            </a:r>
            <a:r>
              <a:rPr lang="zh-CN" altLang="en-US" sz="1465" b="1" dirty="0">
                <a:solidFill>
                  <a:srgbClr val="6A4C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周</a:t>
            </a:r>
            <a:endParaRPr lang="en-US" sz="1465" dirty="0"/>
          </a:p>
        </p:txBody>
      </p:sp>
      <p:sp>
        <p:nvSpPr>
          <p:cNvPr id="38" name="Shape 36"/>
          <p:cNvSpPr/>
          <p:nvPr>
            <p:custDataLst>
              <p:tags r:id="rId31"/>
            </p:custDataLst>
          </p:nvPr>
        </p:nvSpPr>
        <p:spPr>
          <a:xfrm>
            <a:off x="9385395" y="2926211"/>
            <a:ext cx="1998967" cy="3534759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>
            <p:custDataLst>
              <p:tags r:id="rId32"/>
            </p:custDataLst>
          </p:nvPr>
        </p:nvSpPr>
        <p:spPr>
          <a:xfrm>
            <a:off x="9385395" y="2926211"/>
            <a:ext cx="1998967" cy="54850"/>
          </a:xfrm>
          <a:prstGeom prst="rect">
            <a:avLst/>
          </a:prstGeom>
          <a:solidFill>
            <a:srgbClr val="6A4C93"/>
          </a:solidFill>
        </p:spPr>
      </p:sp>
      <p:sp>
        <p:nvSpPr>
          <p:cNvPr id="34" name="Text 32"/>
          <p:cNvSpPr/>
          <p:nvPr>
            <p:custDataLst>
              <p:tags r:id="rId33"/>
            </p:custDataLst>
          </p:nvPr>
        </p:nvSpPr>
        <p:spPr>
          <a:xfrm>
            <a:off x="9459036" y="3578821"/>
            <a:ext cx="1852701" cy="26815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3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持股平台调整</a:t>
            </a:r>
            <a:endParaRPr lang="en-US" sz="1335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3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行权条件确认</a:t>
            </a:r>
            <a:endParaRPr lang="en-US" sz="1335" dirty="0"/>
          </a:p>
        </p:txBody>
      </p:sp>
      <p:sp>
        <p:nvSpPr>
          <p:cNvPr id="33" name="Text 31"/>
          <p:cNvSpPr/>
          <p:nvPr>
            <p:custDataLst>
              <p:tags r:id="rId34"/>
            </p:custDataLst>
          </p:nvPr>
        </p:nvSpPr>
        <p:spPr>
          <a:xfrm>
            <a:off x="9459036" y="3066721"/>
            <a:ext cx="1852701" cy="4266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5" b="1" dirty="0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落地执行</a:t>
            </a:r>
            <a:endParaRPr lang="en-US" sz="1735" dirty="0"/>
          </a:p>
        </p:txBody>
      </p:sp>
      <p:sp>
        <p:nvSpPr>
          <p:cNvPr id="42" name="Text 25"/>
          <p:cNvSpPr/>
          <p:nvPr>
            <p:custDataLst>
              <p:tags r:id="rId35"/>
            </p:custDataLst>
          </p:nvPr>
        </p:nvSpPr>
        <p:spPr>
          <a:xfrm>
            <a:off x="7350200" y="3550042"/>
            <a:ext cx="1852701" cy="26815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3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正式发布激励方案</a:t>
            </a:r>
            <a:endParaRPr lang="en-US" sz="1335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3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签署激励协议</a:t>
            </a:r>
            <a:endParaRPr lang="en-US" sz="1335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35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合伙人公约仪式</a:t>
            </a:r>
            <a:endParaRPr lang="en-US" sz="1335" dirty="0"/>
          </a:p>
        </p:txBody>
      </p:sp>
      <p:sp>
        <p:nvSpPr>
          <p:cNvPr id="43" name="Text 24"/>
          <p:cNvSpPr/>
          <p:nvPr>
            <p:custDataLst>
              <p:tags r:id="rId36"/>
            </p:custDataLst>
          </p:nvPr>
        </p:nvSpPr>
        <p:spPr>
          <a:xfrm>
            <a:off x="7312956" y="3052331"/>
            <a:ext cx="1852701" cy="4266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735" b="1" dirty="0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方案确认</a:t>
            </a:r>
            <a:endParaRPr lang="zh-CN" altLang="en-US" sz="1735" b="1" dirty="0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14"/>
            <a:ext cx="12189155" cy="6856571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714"/>
            <a:ext cx="0" cy="6856571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57105" y="714"/>
            <a:ext cx="0" cy="6856571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209" y="714"/>
            <a:ext cx="0" cy="6856571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371314" y="714"/>
            <a:ext cx="0" cy="6856571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28419" y="714"/>
            <a:ext cx="0" cy="6856571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285524" y="714"/>
            <a:ext cx="0" cy="6856571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42628" y="714"/>
            <a:ext cx="0" cy="6856571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199733" y="714"/>
            <a:ext cx="0" cy="6856571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56838" y="714"/>
            <a:ext cx="0" cy="6856571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3943" y="714"/>
            <a:ext cx="0" cy="6856571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1047" y="714"/>
            <a:ext cx="0" cy="6856571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28152" y="714"/>
            <a:ext cx="0" cy="6856571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485257" y="714"/>
            <a:ext cx="0" cy="6856571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2362" y="714"/>
            <a:ext cx="0" cy="6856571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399466" y="714"/>
            <a:ext cx="0" cy="6856571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6571" y="714"/>
            <a:ext cx="0" cy="6856571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13676" y="714"/>
            <a:ext cx="0" cy="6856571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770781" y="714"/>
            <a:ext cx="0" cy="6856571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7885" y="714"/>
            <a:ext cx="0" cy="6856571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684990" y="714"/>
            <a:ext cx="0" cy="6856571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42095" y="714"/>
            <a:ext cx="0" cy="6856571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599200" y="714"/>
            <a:ext cx="0" cy="6856571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056304" y="714"/>
            <a:ext cx="0" cy="6856571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513409" y="714"/>
            <a:ext cx="0" cy="6856571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970514" y="714"/>
            <a:ext cx="0" cy="6856571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427619" y="714"/>
            <a:ext cx="0" cy="6856571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884723" y="714"/>
            <a:ext cx="0" cy="6856571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714"/>
            <a:ext cx="12189155" cy="0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57819"/>
            <a:ext cx="12189155" cy="0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977120" y="5689489"/>
            <a:ext cx="12189155" cy="0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132634"/>
            <a:ext cx="12189155" cy="0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1589738"/>
            <a:ext cx="12189155" cy="0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2046843"/>
            <a:ext cx="12189155" cy="0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2503948"/>
            <a:ext cx="12189155" cy="0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2961053"/>
            <a:ext cx="12189155" cy="0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3418157"/>
            <a:ext cx="12189155" cy="0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3875262"/>
            <a:ext cx="12189155" cy="0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4332367"/>
            <a:ext cx="12189155" cy="0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4789472"/>
            <a:ext cx="12189155" cy="0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5246576"/>
            <a:ext cx="12189155" cy="0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5703681"/>
            <a:ext cx="12189155" cy="0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6160786"/>
            <a:ext cx="12189155" cy="0"/>
          </a:xfrm>
          <a:prstGeom prst="line">
            <a:avLst/>
          </a:prstGeom>
          <a:ln w="3175">
            <a:solidFill>
              <a:srgbClr val="152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0" y="714"/>
            <a:ext cx="12189155" cy="137131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105" y="1204014"/>
            <a:ext cx="11244777" cy="4057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D4AF37"/>
                </a:solidFill>
                <a:latin typeface="微软雅黑" panose="020B0503020204020204" charset="-122"/>
                <a:ea typeface="微软雅黑" panose="020B0503020204020204" charset="-122"/>
              </a:rPr>
              <a:t>云基智慧 · 第二轮股权激励</a:t>
            </a:r>
            <a:endParaRPr sz="2200" b="1">
              <a:solidFill>
                <a:srgbClr val="D4AF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7105" y="1915023"/>
            <a:ext cx="11244777" cy="812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我们在选</a:t>
            </a:r>
            <a:endParaRPr sz="4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57105" y="2662209"/>
            <a:ext cx="11244777" cy="1329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200" b="1">
                <a:solidFill>
                  <a:srgbClr val="D4AF37"/>
                </a:solidFill>
                <a:latin typeface="微软雅黑" panose="020B0503020204020204" charset="-122"/>
                <a:ea typeface="微软雅黑" panose="020B0503020204020204" charset="-122"/>
              </a:rPr>
              <a:t>「 二 次  合  伙  人 」</a:t>
            </a:r>
            <a:endParaRPr sz="7200" b="1">
              <a:solidFill>
                <a:srgbClr val="D4AF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4571047" y="4058104"/>
            <a:ext cx="3016891" cy="0"/>
          </a:xfrm>
          <a:prstGeom prst="line">
            <a:avLst/>
          </a:prstGeom>
          <a:ln w="317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57105" y="4285031"/>
            <a:ext cx="11244777" cy="3689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</a:rPr>
              <a:t>20 年磨一剑 · AI 时代 · 再出发</a:t>
            </a:r>
            <a:endParaRPr sz="20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113943" y="4972314"/>
            <a:ext cx="3931101" cy="7313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3943" y="5116700"/>
            <a:ext cx="3931101" cy="4425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0A1628"/>
                </a:solidFill>
                <a:latin typeface="微软雅黑" panose="020B0503020204020204" charset="-122"/>
                <a:ea typeface="微软雅黑" panose="020B0503020204020204" charset="-122"/>
              </a:rPr>
              <a:t>登  船  ·  出  征</a:t>
            </a:r>
            <a:endParaRPr sz="2400" b="1">
              <a:solidFill>
                <a:srgbClr val="0A16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57105" y="6013793"/>
            <a:ext cx="11244777" cy="202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A0AEC0"/>
                </a:solidFill>
                <a:latin typeface="微软雅黑" panose="020B0503020204020204" charset="-122"/>
                <a:ea typeface="微软雅黑" panose="020B0503020204020204" charset="-122"/>
              </a:rPr>
              <a:t>云基智慧 · 创始人 &amp; 核心团队   </a:t>
            </a:r>
            <a:endParaRPr sz="1100" b="0">
              <a:solidFill>
                <a:srgbClr val="A0AE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10"/>
          <p:cNvSpPr txBox="1"/>
          <p:nvPr/>
        </p:nvSpPr>
        <p:spPr>
          <a:xfrm>
            <a:off x="731520" y="6339078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0C05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行正道，造市场，做事业，过好日子  |  至诚为本  |  2026年7月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98.16,&quot;left&quot;:72,&quot;top&quot;:93.6,&quot;width&quot;:565.8}"/>
</p:tagLst>
</file>

<file path=ppt/tags/tag2.xml><?xml version="1.0" encoding="utf-8"?>
<p:tagLst xmlns:p="http://schemas.openxmlformats.org/presentationml/2006/main">
  <p:tag name="KSO_WM_DIAGRAM_VIRTUALLY_FRAME" val="{&quot;height&quot;:398.16,&quot;left&quot;:72,&quot;top&quot;:93.6,&quot;width&quot;:565.8}"/>
</p:tagLst>
</file>

<file path=ppt/tags/tag3.xml><?xml version="1.0" encoding="utf-8"?>
<p:tagLst xmlns:p="http://schemas.openxmlformats.org/presentationml/2006/main">
  <p:tag name="KSO_WM_DIAGRAM_VIRTUALLY_FRAME" val="{&quot;height&quot;:398.16,&quot;left&quot;:72,&quot;top&quot;:93.6,&quot;width&quot;:565.8}"/>
</p:tagLst>
</file>

<file path=ppt/tags/tag4.xml><?xml version="1.0" encoding="utf-8"?>
<p:tagLst xmlns:p="http://schemas.openxmlformats.org/presentationml/2006/main">
  <p:tag name="KSO_WM_DIAGRAM_VIRTUALLY_FRAME" val="{&quot;height&quot;:398.16,&quot;left&quot;:72,&quot;top&quot;:93.6,&quot;width&quot;:565.8}"/>
</p:tagLst>
</file>

<file path=ppt/tags/tag5.xml><?xml version="1.0" encoding="utf-8"?>
<p:tagLst xmlns:p="http://schemas.openxmlformats.org/presentationml/2006/main">
  <p:tag name="KSO_WM_DIAGRAM_VIRTUALLY_FRAME" val="{&quot;height&quot;:398.16,&quot;left&quot;:72,&quot;top&quot;:93.6,&quot;width&quot;:565.8}"/>
</p:tagLst>
</file>

<file path=ppt/tags/tag6.xml><?xml version="1.0" encoding="utf-8"?>
<p:tagLst xmlns:p="http://schemas.openxmlformats.org/presentationml/2006/main">
  <p:tag name="KSO_WM_DIAGRAM_VIRTUALLY_FRAME" val="{&quot;height&quot;:398.16,&quot;left&quot;:72,&quot;top&quot;:93.6,&quot;width&quot;:565.8}"/>
</p:tagLst>
</file>

<file path=ppt/tags/tag7.xml><?xml version="1.0" encoding="utf-8"?>
<p:tagLst xmlns:p="http://schemas.openxmlformats.org/presentationml/2006/main">
  <p:tag name="KSO_WM_DIAGRAM_VIRTUALLY_FRAME" val="{&quot;height&quot;:398.16,&quot;left&quot;:72,&quot;top&quot;:93.6,&quot;width&quot;:565.8}"/>
</p:tagLst>
</file>

<file path=ppt/tags/tag8.xml><?xml version="1.0" encoding="utf-8"?>
<p:tagLst xmlns:p="http://schemas.openxmlformats.org/presentationml/2006/main">
  <p:tag name="KSO_WM_DIAGRAM_VIRTUALLY_FRAME" val="{&quot;height&quot;:398.16,&quot;left&quot;:72,&quot;top&quot;:93.6,&quot;width&quot;:565.8}"/>
</p:tagLst>
</file>

<file path=ppt/tags/tag9.xml><?xml version="1.0" encoding="utf-8"?>
<p:tagLst xmlns:p="http://schemas.openxmlformats.org/presentationml/2006/main">
  <p:tag name="KSO_WM_DIAGRAM_VIRTUALLY_FRAME" val="{&quot;height&quot;:398.16,&quot;left&quot;:72,&quot;top&quot;:93.6,&quot;width&quot;:565.8}"/>
</p:tagLst>
</file>

<file path=ppt/tags/tag10.xml><?xml version="1.0" encoding="utf-8"?>
<p:tagLst xmlns:p="http://schemas.openxmlformats.org/presentationml/2006/main">
  <p:tag name="KSO_WM_DIAGRAM_VIRTUALLY_FRAME" val="{&quot;height&quot;:398.16,&quot;left&quot;:72,&quot;top&quot;:93.6,&quot;width&quot;:565.8}"/>
</p:tagLst>
</file>

<file path=ppt/tags/tag11.xml><?xml version="1.0" encoding="utf-8"?>
<p:tagLst xmlns:p="http://schemas.openxmlformats.org/presentationml/2006/main">
  <p:tag name="KSO_WM_DIAGRAM_VIRTUALLY_FRAME" val="{&quot;height&quot;:398.16,&quot;left&quot;:72,&quot;top&quot;:93.6,&quot;width&quot;:565.8}"/>
</p:tagLst>
</file>

<file path=ppt/tags/tag12.xml><?xml version="1.0" encoding="utf-8"?>
<p:tagLst xmlns:p="http://schemas.openxmlformats.org/presentationml/2006/main">
  <p:tag name="KSO_WM_DIAGRAM_VIRTUALLY_FRAME" val="{&quot;height&quot;:398.16,&quot;left&quot;:72,&quot;top&quot;:93.6,&quot;width&quot;:565.8}"/>
</p:tagLst>
</file>

<file path=ppt/tags/tag13.xml><?xml version="1.0" encoding="utf-8"?>
<p:tagLst xmlns:p="http://schemas.openxmlformats.org/presentationml/2006/main">
  <p:tag name="KSO_WM_DIAGRAM_VIRTUALLY_FRAME" val="{&quot;height&quot;:323.93249648419186,&quot;left&quot;:35.99249960935465,&quot;top&quot;:158.42325121100058,&quot;width&quot;:885.4154903901244}"/>
</p:tagLst>
</file>

<file path=ppt/tags/tag14.xml><?xml version="1.0" encoding="utf-8"?>
<p:tagLst xmlns:p="http://schemas.openxmlformats.org/presentationml/2006/main">
  <p:tag name="KSO_WM_DIAGRAM_VIRTUALLY_FRAME" val="{&quot;height&quot;:323.93249648419186,&quot;left&quot;:35.99249960935465,&quot;top&quot;:158.42325121100058,&quot;width&quot;:885.4154903901244}"/>
</p:tagLst>
</file>

<file path=ppt/tags/tag15.xml><?xml version="1.0" encoding="utf-8"?>
<p:tagLst xmlns:p="http://schemas.openxmlformats.org/presentationml/2006/main">
  <p:tag name="KSO_WM_DIAGRAM_VIRTUALLY_FRAME" val="{&quot;height&quot;:323.93249648419186,&quot;left&quot;:35.99249960935465,&quot;top&quot;:158.42325121100058,&quot;width&quot;:885.4154903901244}"/>
</p:tagLst>
</file>

<file path=ppt/tags/tag16.xml><?xml version="1.0" encoding="utf-8"?>
<p:tagLst xmlns:p="http://schemas.openxmlformats.org/presentationml/2006/main">
  <p:tag name="KSO_WM_DIAGRAM_VIRTUALLY_FRAME" val="{&quot;height&quot;:323.93249648419186,&quot;left&quot;:35.99249960935465,&quot;top&quot;:158.42325121100058,&quot;width&quot;:885.4154903901244}"/>
</p:tagLst>
</file>

<file path=ppt/tags/tag17.xml><?xml version="1.0" encoding="utf-8"?>
<p:tagLst xmlns:p="http://schemas.openxmlformats.org/presentationml/2006/main">
  <p:tag name="KSO_WM_DIAGRAM_VIRTUALLY_FRAME" val="{&quot;height&quot;:323.93249648419186,&quot;left&quot;:35.99249960935465,&quot;top&quot;:158.42325121100058,&quot;width&quot;:885.4154903901244}"/>
</p:tagLst>
</file>

<file path=ppt/tags/tag18.xml><?xml version="1.0" encoding="utf-8"?>
<p:tagLst xmlns:p="http://schemas.openxmlformats.org/presentationml/2006/main">
  <p:tag name="KSO_WM_DIAGRAM_VIRTUALLY_FRAME" val="{&quot;height&quot;:323.93249648419186,&quot;left&quot;:35.99249960935465,&quot;top&quot;:158.42325121100058,&quot;width&quot;:885.4154903901244}"/>
</p:tagLst>
</file>

<file path=ppt/tags/tag19.xml><?xml version="1.0" encoding="utf-8"?>
<p:tagLst xmlns:p="http://schemas.openxmlformats.org/presentationml/2006/main">
  <p:tag name="KSO_WM_DIAGRAM_VIRTUALLY_FRAME" val="{&quot;height&quot;:289.85,&quot;left&quot;:54,&quot;top&quot;:93.6,&quot;width&quot;:849.6}"/>
</p:tagLst>
</file>

<file path=ppt/tags/tag20.xml><?xml version="1.0" encoding="utf-8"?>
<p:tagLst xmlns:p="http://schemas.openxmlformats.org/presentationml/2006/main">
  <p:tag name="KSO_WM_DIAGRAM_VIRTUALLY_FRAME" val="{&quot;height&quot;:289.85,&quot;left&quot;:54,&quot;top&quot;:93.6,&quot;width&quot;:849.6}"/>
</p:tagLst>
</file>

<file path=ppt/tags/tag21.xml><?xml version="1.0" encoding="utf-8"?>
<p:tagLst xmlns:p="http://schemas.openxmlformats.org/presentationml/2006/main">
  <p:tag name="KSO_WM_DIAGRAM_VIRTUALLY_FRAME" val="{&quot;height&quot;:289.85,&quot;left&quot;:54,&quot;top&quot;:93.6,&quot;width&quot;:849.6}"/>
</p:tagLst>
</file>

<file path=ppt/tags/tag22.xml><?xml version="1.0" encoding="utf-8"?>
<p:tagLst xmlns:p="http://schemas.openxmlformats.org/presentationml/2006/main">
  <p:tag name="KSO_WM_DIAGRAM_VIRTUALLY_FRAME" val="{&quot;height&quot;:289.85,&quot;left&quot;:54,&quot;top&quot;:93.6,&quot;width&quot;:849.6}"/>
</p:tagLst>
</file>

<file path=ppt/tags/tag23.xml><?xml version="1.0" encoding="utf-8"?>
<p:tagLst xmlns:p="http://schemas.openxmlformats.org/presentationml/2006/main">
  <p:tag name="KSO_WM_DIAGRAM_VIRTUALLY_FRAME" val="{&quot;height&quot;:289.85,&quot;left&quot;:54,&quot;top&quot;:93.6,&quot;width&quot;:849.6}"/>
</p:tagLst>
</file>

<file path=ppt/tags/tag24.xml><?xml version="1.0" encoding="utf-8"?>
<p:tagLst xmlns:p="http://schemas.openxmlformats.org/presentationml/2006/main">
  <p:tag name="KSO_WM_DIAGRAM_VIRTUALLY_FRAME" val="{&quot;height&quot;:289.85,&quot;left&quot;:54,&quot;top&quot;:93.6,&quot;width&quot;:849.6}"/>
</p:tagLst>
</file>

<file path=ppt/tags/tag25.xml><?xml version="1.0" encoding="utf-8"?>
<p:tagLst xmlns:p="http://schemas.openxmlformats.org/presentationml/2006/main">
  <p:tag name="KSO_WM_DIAGRAM_VIRTUALLY_FRAME" val="{&quot;height&quot;:289.85,&quot;left&quot;:54,&quot;top&quot;:93.6,&quot;width&quot;:849.6}"/>
</p:tagLst>
</file>

<file path=ppt/tags/tag26.xml><?xml version="1.0" encoding="utf-8"?>
<p:tagLst xmlns:p="http://schemas.openxmlformats.org/presentationml/2006/main">
  <p:tag name="KSO_WM_DIAGRAM_VIRTUALLY_FRAME" val="{&quot;height&quot;:289.85,&quot;left&quot;:54,&quot;top&quot;:93.6,&quot;width&quot;:849.6}"/>
</p:tagLst>
</file>

<file path=ppt/tags/tag27.xml><?xml version="1.0" encoding="utf-8"?>
<p:tagLst xmlns:p="http://schemas.openxmlformats.org/presentationml/2006/main">
  <p:tag name="KSO_WM_DIAGRAM_VIRTUALLY_FRAME" val="{&quot;height&quot;:289.85,&quot;left&quot;:54,&quot;top&quot;:93.6,&quot;width&quot;:849.6}"/>
</p:tagLst>
</file>

<file path=ppt/tags/tag28.xml><?xml version="1.0" encoding="utf-8"?>
<p:tagLst xmlns:p="http://schemas.openxmlformats.org/presentationml/2006/main">
  <p:tag name="KSO_WM_DIAGRAM_VIRTUALLY_FRAME" val="{&quot;height&quot;:289.85,&quot;left&quot;:54,&quot;top&quot;:93.6,&quot;width&quot;:849.6}"/>
</p:tagLst>
</file>

<file path=ppt/tags/tag29.xml><?xml version="1.0" encoding="utf-8"?>
<p:tagLst xmlns:p="http://schemas.openxmlformats.org/presentationml/2006/main">
  <p:tag name="KSO_WM_DIAGRAM_VIRTUALLY_FRAME" val="{&quot;height&quot;:289.85,&quot;left&quot;:54,&quot;top&quot;:93.6,&quot;width&quot;:849.6}"/>
</p:tagLst>
</file>

<file path=ppt/tags/tag30.xml><?xml version="1.0" encoding="utf-8"?>
<p:tagLst xmlns:p="http://schemas.openxmlformats.org/presentationml/2006/main">
  <p:tag name="KSO_WM_DIAGRAM_VIRTUALLY_FRAME" val="{&quot;height&quot;:289.85,&quot;left&quot;:54,&quot;top&quot;:93.6,&quot;width&quot;:849.6}"/>
</p:tagLst>
</file>

<file path=ppt/tags/tag31.xml><?xml version="1.0" encoding="utf-8"?>
<p:tagLst xmlns:p="http://schemas.openxmlformats.org/presentationml/2006/main">
  <p:tag name="KSO_WM_DIAGRAM_VIRTUALLY_FRAME" val="{&quot;height&quot;:289.85,&quot;left&quot;:54,&quot;top&quot;:93.6,&quot;width&quot;:849.6}"/>
</p:tagLst>
</file>

<file path=ppt/tags/tag32.xml><?xml version="1.0" encoding="utf-8"?>
<p:tagLst xmlns:p="http://schemas.openxmlformats.org/presentationml/2006/main">
  <p:tag name="KSO_WM_DIAGRAM_VIRTUALLY_FRAME" val="{&quot;height&quot;:289.85,&quot;left&quot;:54,&quot;top&quot;:93.6,&quot;width&quot;:849.6}"/>
</p:tagLst>
</file>

<file path=ppt/tags/tag33.xml><?xml version="1.0" encoding="utf-8"?>
<p:tagLst xmlns:p="http://schemas.openxmlformats.org/presentationml/2006/main">
  <p:tag name="KSO_WM_DIAGRAM_VIRTUALLY_FRAME" val="{&quot;height&quot;:289.85,&quot;left&quot;:54,&quot;top&quot;:93.6,&quot;width&quot;:849.6}"/>
</p:tagLst>
</file>

<file path=ppt/tags/tag34.xml><?xml version="1.0" encoding="utf-8"?>
<p:tagLst xmlns:p="http://schemas.openxmlformats.org/presentationml/2006/main">
  <p:tag name="KSO_WM_DIAGRAM_VIRTUALLY_FRAME" val="{&quot;height&quot;:289.85,&quot;left&quot;:54,&quot;top&quot;:93.6,&quot;width&quot;:849.6}"/>
</p:tagLst>
</file>

<file path=ppt/tags/tag35.xml><?xml version="1.0" encoding="utf-8"?>
<p:tagLst xmlns:p="http://schemas.openxmlformats.org/presentationml/2006/main">
  <p:tag name="KSO_WM_DIAGRAM_VIRTUALLY_FRAME" val="{&quot;height&quot;:289.85,&quot;left&quot;:54,&quot;top&quot;:93.6,&quot;width&quot;:849.6}"/>
</p:tagLst>
</file>

<file path=ppt/tags/tag36.xml><?xml version="1.0" encoding="utf-8"?>
<p:tagLst xmlns:p="http://schemas.openxmlformats.org/presentationml/2006/main">
  <p:tag name="KSO_WM_DIAGRAM_VIRTUALLY_FRAME" val="{&quot;height&quot;:289.85,&quot;left&quot;:54,&quot;top&quot;:93.6,&quot;width&quot;:849.6}"/>
</p:tagLst>
</file>

<file path=ppt/tags/tag37.xml><?xml version="1.0" encoding="utf-8"?>
<p:tagLst xmlns:p="http://schemas.openxmlformats.org/presentationml/2006/main">
  <p:tag name="KSO_WM_DIAGRAM_VIRTUALLY_FRAME" val="{&quot;height&quot;:289.85,&quot;left&quot;:54,&quot;top&quot;:93.6,&quot;width&quot;:849.6}"/>
</p:tagLst>
</file>

<file path=ppt/tags/tag38.xml><?xml version="1.0" encoding="utf-8"?>
<p:tagLst xmlns:p="http://schemas.openxmlformats.org/presentationml/2006/main">
  <p:tag name="KSO_WM_DIAGRAM_VIRTUALLY_FRAME" val="{&quot;height&quot;:289.85,&quot;left&quot;:54,&quot;top&quot;:93.6,&quot;width&quot;:849.6}"/>
</p:tagLst>
</file>

<file path=ppt/tags/tag39.xml><?xml version="1.0" encoding="utf-8"?>
<p:tagLst xmlns:p="http://schemas.openxmlformats.org/presentationml/2006/main">
  <p:tag name="KSO_WM_DIAGRAM_VIRTUALLY_FRAME" val="{&quot;height&quot;:289.85,&quot;left&quot;:54,&quot;top&quot;:93.6,&quot;width&quot;:849.6}"/>
</p:tagLst>
</file>

<file path=ppt/tags/tag40.xml><?xml version="1.0" encoding="utf-8"?>
<p:tagLst xmlns:p="http://schemas.openxmlformats.org/presentationml/2006/main">
  <p:tag name="KSO_WM_DIAGRAM_VIRTUALLY_FRAME" val="{&quot;height&quot;:289.85,&quot;left&quot;:54,&quot;top&quot;:93.6,&quot;width&quot;:849.6}"/>
</p:tagLst>
</file>

<file path=ppt/tags/tag41.xml><?xml version="1.0" encoding="utf-8"?>
<p:tagLst xmlns:p="http://schemas.openxmlformats.org/presentationml/2006/main">
  <p:tag name="KSO_WM_DIAGRAM_VIRTUALLY_FRAME" val="{&quot;height&quot;:289.85,&quot;left&quot;:54,&quot;top&quot;:93.6,&quot;width&quot;:849.6}"/>
</p:tagLst>
</file>

<file path=ppt/tags/tag42.xml><?xml version="1.0" encoding="utf-8"?>
<p:tagLst xmlns:p="http://schemas.openxmlformats.org/presentationml/2006/main">
  <p:tag name="KSO_WM_DIAGRAM_VIRTUALLY_FRAME" val="{&quot;height&quot;:289.85,&quot;left&quot;:54,&quot;top&quot;:93.6,&quot;width&quot;:849.6}"/>
</p:tagLst>
</file>

<file path=ppt/tags/tag43.xml><?xml version="1.0" encoding="utf-8"?>
<p:tagLst xmlns:p="http://schemas.openxmlformats.org/presentationml/2006/main">
  <p:tag name="KSO_WM_DIAGRAM_VIRTUALLY_FRAME" val="{&quot;height&quot;:289.85,&quot;left&quot;:54,&quot;top&quot;:93.6,&quot;width&quot;:849.6}"/>
</p:tagLst>
</file>

<file path=ppt/tags/tag44.xml><?xml version="1.0" encoding="utf-8"?>
<p:tagLst xmlns:p="http://schemas.openxmlformats.org/presentationml/2006/main">
  <p:tag name="KSO_WM_DIAGRAM_VIRTUALLY_FRAME" val="{&quot;height&quot;:259.2,&quot;left&quot;:36,&quot;top&quot;:97.2,&quot;width&quot;:651.6}"/>
</p:tagLst>
</file>

<file path=ppt/tags/tag45.xml><?xml version="1.0" encoding="utf-8"?>
<p:tagLst xmlns:p="http://schemas.openxmlformats.org/presentationml/2006/main">
  <p:tag name="KSO_WM_DIAGRAM_VIRTUALLY_FRAME" val="{&quot;height&quot;:259.2,&quot;left&quot;:36,&quot;top&quot;:97.2,&quot;width&quot;:651.6}"/>
</p:tagLst>
</file>

<file path=ppt/tags/tag46.xml><?xml version="1.0" encoding="utf-8"?>
<p:tagLst xmlns:p="http://schemas.openxmlformats.org/presentationml/2006/main">
  <p:tag name="KSO_WM_DIAGRAM_VIRTUALLY_FRAME" val="{&quot;height&quot;:259.2,&quot;left&quot;:36,&quot;top&quot;:97.2,&quot;width&quot;:651.6}"/>
</p:tagLst>
</file>

<file path=ppt/tags/tag47.xml><?xml version="1.0" encoding="utf-8"?>
<p:tagLst xmlns:p="http://schemas.openxmlformats.org/presentationml/2006/main">
  <p:tag name="KSO_WM_DIAGRAM_VIRTUALLY_FRAME" val="{&quot;height&quot;:259.2,&quot;left&quot;:36,&quot;top&quot;:97.2,&quot;width&quot;:651.6}"/>
</p:tagLst>
</file>

<file path=ppt/tags/tag48.xml><?xml version="1.0" encoding="utf-8"?>
<p:tagLst xmlns:p="http://schemas.openxmlformats.org/presentationml/2006/main">
  <p:tag name="KSO_WM_DIAGRAM_VIRTUALLY_FRAME" val="{&quot;height&quot;:259.2,&quot;left&quot;:36,&quot;top&quot;:97.2,&quot;width&quot;:651.6}"/>
</p:tagLst>
</file>

<file path=ppt/tags/tag49.xml><?xml version="1.0" encoding="utf-8"?>
<p:tagLst xmlns:p="http://schemas.openxmlformats.org/presentationml/2006/main">
  <p:tag name="KSO_WM_DIAGRAM_VIRTUALLY_FRAME" val="{&quot;height&quot;:259.2,&quot;left&quot;:36,&quot;top&quot;:97.2,&quot;width&quot;:651.6}"/>
</p:tagLst>
</file>

<file path=ppt/tags/tag50.xml><?xml version="1.0" encoding="utf-8"?>
<p:tagLst xmlns:p="http://schemas.openxmlformats.org/presentationml/2006/main">
  <p:tag name="KSO_WM_DIAGRAM_VIRTUALLY_FRAME" val="{&quot;height&quot;:259.2,&quot;left&quot;:36,&quot;top&quot;:97.2,&quot;width&quot;:651.6}"/>
</p:tagLst>
</file>

<file path=ppt/tags/tag51.xml><?xml version="1.0" encoding="utf-8"?>
<p:tagLst xmlns:p="http://schemas.openxmlformats.org/presentationml/2006/main">
  <p:tag name="KSO_WM_DIAGRAM_VIRTUALLY_FRAME" val="{&quot;height&quot;:259.2,&quot;left&quot;:36,&quot;top&quot;:97.2,&quot;width&quot;:651.6}"/>
</p:tagLst>
</file>

<file path=ppt/tags/tag52.xml><?xml version="1.0" encoding="utf-8"?>
<p:tagLst xmlns:p="http://schemas.openxmlformats.org/presentationml/2006/main">
  <p:tag name="KSO_WM_DIAGRAM_VIRTUALLY_FRAME" val="{&quot;height&quot;:259.2,&quot;left&quot;:36,&quot;top&quot;:97.2,&quot;width&quot;:651.6}"/>
</p:tagLst>
</file>

<file path=ppt/tags/tag53.xml><?xml version="1.0" encoding="utf-8"?>
<p:tagLst xmlns:p="http://schemas.openxmlformats.org/presentationml/2006/main">
  <p:tag name="KSO_WM_DIAGRAM_VIRTUALLY_FRAME" val="{&quot;height&quot;:259.2,&quot;left&quot;:36,&quot;top&quot;:97.2,&quot;width&quot;:651.6}"/>
</p:tagLst>
</file>

<file path=ppt/tags/tag54.xml><?xml version="1.0" encoding="utf-8"?>
<p:tagLst xmlns:p="http://schemas.openxmlformats.org/presentationml/2006/main">
  <p:tag name="KSO_WM_DIAGRAM_VIRTUALLY_FRAME" val="{&quot;height&quot;:259.2,&quot;left&quot;:36,&quot;top&quot;:97.2,&quot;width&quot;:651.6}"/>
</p:tagLst>
</file>

<file path=ppt/tags/tag55.xml><?xml version="1.0" encoding="utf-8"?>
<p:tagLst xmlns:p="http://schemas.openxmlformats.org/presentationml/2006/main">
  <p:tag name="KSO_WM_DIAGRAM_VIRTUALLY_FRAME" val="{&quot;height&quot;:259.2,&quot;left&quot;:36,&quot;top&quot;:97.2,&quot;width&quot;:651.6}"/>
</p:tagLst>
</file>

<file path=ppt/tags/tag56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57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58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59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60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61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62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63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64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65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66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67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68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69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70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71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72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73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74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75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76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77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78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79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80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81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82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83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84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85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86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87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88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89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90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ags/tag91.xml><?xml version="1.0" encoding="utf-8"?>
<p:tagLst xmlns:p="http://schemas.openxmlformats.org/presentationml/2006/main">
  <p:tag name="KSO_WM_DIAGRAM_VIRTUALLY_FRAME" val="{&quot;height&quot;:275.04,&quot;left&quot;:43.2,&quot;top&quot;:106.55999999999999,&quot;width&quot;:633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3680</Words>
  <Application>WPS 演示</Application>
  <PresentationFormat>On-screen Show (4:3)</PresentationFormat>
  <Paragraphs>437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Georgia</vt:lpstr>
      <vt:lpstr>Georgia</vt:lpstr>
      <vt:lpstr>Georgia</vt:lpstr>
      <vt:lpstr>微软雅黑</vt:lpstr>
      <vt:lpstr>Calibri</vt:lpstr>
      <vt:lpstr>Calibri</vt:lpstr>
      <vt:lpstr>隶书</vt:lpstr>
      <vt:lpstr>楷体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张睿卓</cp:lastModifiedBy>
  <cp:revision>12</cp:revision>
  <dcterms:created xsi:type="dcterms:W3CDTF">2013-01-27T09:14:00Z</dcterms:created>
  <dcterms:modified xsi:type="dcterms:W3CDTF">2026-07-17T11:32:43Z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77E208D83D1D422780C566031F36AFAC_13</vt:lpwstr>
  </property>
  <property fmtid="{D5CDD505-2E9C-101B-9397-08002B2CF9AE}" pid="3" name="KSOProductBuildVer">
    <vt:lpwstr>2052-12.1.0.26895</vt:lpwstr>
  </property>
</Properties>
</file>