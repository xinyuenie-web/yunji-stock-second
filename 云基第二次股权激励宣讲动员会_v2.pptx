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D4A853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731520" y="3200400"/>
            <a:ext cx="1645920" cy="1645920"/>
          </a:xfrm>
          <a:prstGeom prst="ellipse">
            <a:avLst/>
          </a:prstGeom>
          <a:solidFill>
            <a:srgbClr val="D4A853">
              <a:alpha val="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至诚 · 行正道 · 造市场 · 做事业 · 过好日子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云基智慧工程</a:t>
            </a:r>
            <a:pPr algn="ctr" indent="0" marL="0">
              <a:buNone/>
            </a:pPr>
            <a:endParaRPr lang="en-US" sz="44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第二次股权激励宣讲动员会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19050">
            <a:solidFill>
              <a:srgbClr val="D4A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AI驱动 · 资本视角 · 第二曲线价值重估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云基智慧工程股份有限公司  |  2026年7月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宣讲议程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430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0789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回望来时路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35331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至暗时刻 · 拐点显现 · 曙光已至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645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AI重构一切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9202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七大叙事逻辑 · 每一步都算数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276856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22128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资本视角看云基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48716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对标分析 · 估值逻辑 · 市场空间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1430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66360" y="10789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产品战略 · 技术管理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66360" y="135331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分类分级 · 决策机制 · 实施路径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70992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66360" y="1645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回归初心 · 组织与人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66360" y="19202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至诚文化 · 从组织回归生命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276856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陆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66360" y="22128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第二次股权激励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66360" y="248716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窗口期 · 最佳时机 · 共享成长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从资本视角重新发现云基的价值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D4A853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56032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7011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回望来时路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至暗时刻 · 拐点显现 · 曙光已至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1371600" cy="0"/>
          </a:xfrm>
          <a:prstGeom prst="line">
            <a:avLst/>
          </a:prstGeom>
          <a:noFill/>
          <a:ln w="38100">
            <a:solidFill>
              <a:srgbClr val="D4A85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2024-2025：至暗时刻与坚守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38404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371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营收减半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大幅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传统业务缩减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严峻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人员规模压缩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寒冬中的云基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基础设施投资增速放缓，传统工程咨询业务遭遇断崖式下滑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行业洗牌加剧，大量同行企业退出市场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公司果断降本增效、优化组织，活了下来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更重要的是 — 在绝境中完成核心能力的重新审视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发现：二十年数据积累 + AI 的化学反应正在发生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至暗时刻，我们扛住了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0891B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280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" y="1360627"/>
            <a:ext cx="204826" cy="204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234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坚守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28016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核心技术团队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37560" y="109728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13274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280160"/>
            <a:ext cx="365760" cy="365760"/>
          </a:xfrm>
          <a:prstGeom prst="ellipse">
            <a:avLst/>
          </a:prstGeom>
          <a:solidFill>
            <a:srgbClr val="1327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187" y="1360627"/>
            <a:ext cx="204826" cy="204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1234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不变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397764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对行业数字化的信念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09728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0891B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1280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667" y="1360627"/>
            <a:ext cx="204826" cy="204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1234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667512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玄镜平台研发投入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269748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13274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2880360"/>
            <a:ext cx="365760" cy="365760"/>
          </a:xfrm>
          <a:prstGeom prst="ellipse">
            <a:avLst/>
          </a:prstGeom>
          <a:solidFill>
            <a:srgbClr val="13274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" y="2960827"/>
            <a:ext cx="204826" cy="2048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深化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128016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AI技术探索与应用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3337560" y="269748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0891B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74720" y="28803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5187" y="2960827"/>
            <a:ext cx="204826" cy="20482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776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凝聚</a:t>
            </a:r>
            <a:endParaRPr lang="en-US" sz="2800" dirty="0"/>
          </a:p>
        </p:txBody>
      </p:sp>
      <p:sp>
        <p:nvSpPr>
          <p:cNvPr id="28" name="Text 21"/>
          <p:cNvSpPr/>
          <p:nvPr/>
        </p:nvSpPr>
        <p:spPr>
          <a:xfrm>
            <a:off x="397764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核心骨干向心力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035040" y="269748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13274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72200" y="2880360"/>
            <a:ext cx="365760" cy="365760"/>
          </a:xfrm>
          <a:prstGeom prst="ellipse">
            <a:avLst/>
          </a:prstGeom>
          <a:solidFill>
            <a:srgbClr val="13274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2667" y="2960827"/>
            <a:ext cx="204826" cy="20482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7512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蓄势</a:t>
            </a:r>
            <a:endParaRPr lang="en-US" sz="2800" dirty="0"/>
          </a:p>
        </p:txBody>
      </p:sp>
      <p:sp>
        <p:nvSpPr>
          <p:cNvPr id="33" name="Text 25"/>
          <p:cNvSpPr/>
          <p:nvPr/>
        </p:nvSpPr>
        <p:spPr>
          <a:xfrm>
            <a:off x="667512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等待行业拐点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"那些打不倒我们的，终将使我们更强大"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绝境中，率先觉醒者看到了曙光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508760"/>
            <a:ext cx="7498080" cy="0"/>
          </a:xfrm>
          <a:prstGeom prst="line">
            <a:avLst/>
          </a:prstGeom>
          <a:noFill/>
          <a:ln w="38100">
            <a:solidFill>
              <a:srgbClr val="DFF1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H2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1417320" cy="16459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谷底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营收触底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人员优化到位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41732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960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Q1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8840" y="1828800"/>
            <a:ext cx="1417320" cy="16459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4028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政策东风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40280" y="23317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交通运输部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"一网四化"规划出台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77640" y="141732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960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Q3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03320" y="1828800"/>
            <a:ext cx="1417320" cy="16459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9476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AI觉醒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94760" y="23317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AI新生产力工具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内部试点成功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32120" y="141732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960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57800" y="1828800"/>
            <a:ext cx="1417320" cy="16459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4924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曙光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49240" y="23317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数智化新业务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逐步落地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86600" y="1417320"/>
            <a:ext cx="182880" cy="18288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960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12280" y="1828800"/>
            <a:ext cx="1417320" cy="1645920"/>
          </a:xfrm>
          <a:prstGeom prst="roundRect">
            <a:avLst>
              <a:gd name="adj" fmla="val 3871"/>
            </a:avLst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0372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窗口期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03720" y="23317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第二曲线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即将爆发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"一网四化"——十五五规划的万亿级机遇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13274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80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国家综合立体交通网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一网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68680" y="22860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2356409"/>
            <a:ext cx="179222" cy="1792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2677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一体化融合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25880" y="25054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跨方式、跨区域、跨层级协同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68680" y="2953512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3023921"/>
            <a:ext cx="179222" cy="1792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9352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安全化提升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25880" y="31729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基础设施全生命周期安全管控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68680" y="3621024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3691433"/>
            <a:ext cx="179222" cy="1792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6027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数智化升级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25880" y="38404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BIM+AI+数字孪生全面赋能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68680" y="4288536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9" y="4358945"/>
            <a:ext cx="179222" cy="17922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4270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绿色化转型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325880" y="45079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低碳建造与智慧运维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029200" y="1097280"/>
            <a:ext cx="36576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521208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市场机遇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5212080" y="1828800"/>
            <a:ext cx="320040" cy="320040"/>
          </a:xfrm>
          <a:prstGeom prst="ellipse">
            <a:avLst/>
          </a:prstGeom>
          <a:solidFill>
            <a:srgbClr val="DFF1F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2489" y="1899209"/>
            <a:ext cx="179222" cy="17922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69280" y="18470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十五五交通数字化投入预计超万亿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5212080" y="2450592"/>
            <a:ext cx="320040" cy="320040"/>
          </a:xfrm>
          <a:prstGeom prst="ellipse">
            <a:avLst/>
          </a:prstGeom>
          <a:solidFill>
            <a:srgbClr val="DFF1F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2489" y="2521001"/>
            <a:ext cx="179222" cy="17922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66928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全国路网BIM模型建设需求爆发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5212080" y="3072384"/>
            <a:ext cx="320040" cy="320040"/>
          </a:xfrm>
          <a:prstGeom prst="ellipse">
            <a:avLst/>
          </a:prstGeom>
          <a:solidFill>
            <a:srgbClr val="DFF1F6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2489" y="3142793"/>
            <a:ext cx="179222" cy="17922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669280" y="3090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AI+工程场景应用市场空白巨大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5212080" y="3694176"/>
            <a:ext cx="320040" cy="320040"/>
          </a:xfrm>
          <a:prstGeom prst="ellipse">
            <a:avLst/>
          </a:prstGeom>
          <a:solidFill>
            <a:srgbClr val="DFF1F6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2489" y="3764585"/>
            <a:ext cx="179222" cy="17922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669280" y="37124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"一带一路"交通基建数字化输出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云基的核心能力与"一网四化"高度契合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D4A853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56032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7011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AI重构一切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七步叙事逻辑 · 每一步路都不会白走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1371600" cy="0"/>
          </a:xfrm>
          <a:prstGeom prst="line">
            <a:avLst/>
          </a:prstGeom>
          <a:noFill/>
          <a:ln w="38100">
            <a:solidFill>
              <a:srgbClr val="D4A85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828800"/>
            <a:ext cx="3657600" cy="36576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D4A853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核心叙事：AI重构一切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0789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内部生产AI化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AI重塑工作流程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5819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公司产品AI化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7830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产品注入AI能力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0848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AI能力产品化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2860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AI变成可售产品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587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行业大模型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27889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二十年积累蒸馏淬炼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09728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66360" y="10789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Agent产品标准化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66360" y="12801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打造标准化Agent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60020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66360" y="15819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TOB/TOG → TOC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66360" y="17830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市场空间百亿→万亿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10312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D4A853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66360" y="20848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未来空间巨大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66360" y="22860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每一步路都不白走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第一步：内部生产AI化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传统生产方式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人工编写方案、报告，耗时数周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图纸审查依赖人工逐项核对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数据采集与处理效率低下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经验传承靠师徒制，知识流失严重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项目管理依赖Excel和微信群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33088" y="246888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256032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46320" y="109728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0891B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AI赋能生产方式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0" y="164592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AI自动生成方案初稿，人机协同精修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智能审图，分钟级完成全面核查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数据自动采集、清洗、结构化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知识库+大模型，经验永不流失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智能项目管理，全流程可视化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第二步：公司产品AI化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2514600" cy="34747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280160"/>
            <a:ext cx="411480" cy="411480"/>
          </a:xfrm>
          <a:prstGeom prst="ellipse">
            <a:avLst/>
          </a:prstGeom>
          <a:solidFill>
            <a:srgbClr val="DFF1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766" y="1370686"/>
            <a:ext cx="230429" cy="230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3075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玄镜BIM平台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之前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三维图形引擎，人工建模效率低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" y="2788920"/>
            <a:ext cx="2240280" cy="0"/>
          </a:xfrm>
          <a:prstGeom prst="line">
            <a:avLst/>
          </a:prstGeom>
          <a:noFill/>
          <a:ln w="12700">
            <a:solidFill>
              <a:srgbClr val="DFF1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AI化之后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31089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AI自动建模、智能碰撞检测、生成式设计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83280" y="1097280"/>
            <a:ext cx="2514600" cy="34747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20440" y="1280160"/>
            <a:ext cx="411480" cy="411480"/>
          </a:xfrm>
          <a:prstGeom prst="ellipse">
            <a:avLst/>
          </a:prstGeom>
          <a:solidFill>
            <a:srgbClr val="DFF1F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966" y="1370686"/>
            <a:ext cx="230429" cy="23042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69080" y="13075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工程项目管理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52044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之前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52044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流程线上化，但决策仍靠人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520440" y="2788920"/>
            <a:ext cx="2240280" cy="0"/>
          </a:xfrm>
          <a:prstGeom prst="line">
            <a:avLst/>
          </a:prstGeom>
          <a:noFill/>
          <a:ln w="12700">
            <a:solidFill>
              <a:srgbClr val="DFF1F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2044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AI化之后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520440" y="31089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AI辅助决策、风险预测、智能调度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126480" y="1097280"/>
            <a:ext cx="2514600" cy="34747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63640" y="1280160"/>
            <a:ext cx="411480" cy="411480"/>
          </a:xfrm>
          <a:prstGeom prst="ellipse">
            <a:avLst/>
          </a:prstGeom>
          <a:solidFill>
            <a:srgbClr val="DFF1F6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166" y="1370686"/>
            <a:ext cx="230429" cy="23042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812280" y="13075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数据分析平台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26364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之前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26364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数据报表，人工分析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263640" y="2788920"/>
            <a:ext cx="2240280" cy="0"/>
          </a:xfrm>
          <a:prstGeom prst="line">
            <a:avLst/>
          </a:prstGeom>
          <a:noFill/>
          <a:ln w="12700">
            <a:solidFill>
              <a:srgbClr val="DFF1F6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26364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AI化之后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263640" y="31089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智能洞察、预测性分析、自动报告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第三步：AI能力产品化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0891B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3258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4264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智能审查Agent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63040" y="1737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工程图纸AI审查，支持200+规范自动检查，准确率95%+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13274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325880"/>
            <a:ext cx="457200" cy="457200"/>
          </a:xfrm>
          <a:prstGeom prst="ellipse">
            <a:avLst/>
          </a:prstGeom>
          <a:solidFill>
            <a:srgbClr val="1327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142646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代码生成与运维Agent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577840" y="1737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自动化代码生成、测试、部署，运维效率提升10倍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292608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0891B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1546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25526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智能报告生成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46304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工程报告自动撰写，专业规范，分钟级出稿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92608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13274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154680"/>
            <a:ext cx="457200" cy="457200"/>
          </a:xfrm>
          <a:prstGeom prst="ellipse">
            <a:avLst/>
          </a:prstGeom>
          <a:solidFill>
            <a:srgbClr val="13274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325526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工程知识大脑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57784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企业知识库+RAG，专家经验永久沉淀、随时调用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AI能力不再是成本中心，而是利润中心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第四步：二十年积累 → 行业大模型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097280"/>
            <a:ext cx="7315200" cy="640080"/>
          </a:xfrm>
          <a:prstGeom prst="roundRect">
            <a:avLst>
              <a:gd name="adj" fmla="val 8571"/>
            </a:avLst>
          </a:prstGeom>
          <a:solidFill>
            <a:srgbClr val="DFF1F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二十余年工程数据积累：设计图纸 · 施工方案 · 运维记录 · 规范标准 · 专家经验 · 项目文档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3192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219456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2194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AI蒸馏 · 知识萃取 · 模型训练 · 持续优化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2880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86000" y="329184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13274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3337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交通基础设施行业大模型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68880" y="3749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垂直领域 · 深度理解 · 精准可控 · 持续进化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核心竞争力：通用大模型做不到的行业深度，我们做得到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第五步：Agent产品标准化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1327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底层：行业大模型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交通工程知识图谱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专业规范语义理解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多模态图纸识别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工程计算引擎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09728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09728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097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中层：Agent框架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1828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标准化Agent SDK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低代码编排平台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2834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多Agent协作引擎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安全合规沙箱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9728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D4A853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097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上层：产品矩阵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1828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设计/审查/施工/运维Agent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管理/决策/定制/个人Agent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834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一次开发，多场景复用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 = 可规模化、可盈利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 = 可复制 · 可规模化 · 可盈利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828800"/>
            <a:ext cx="3657600" cy="36576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D4A853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第六步：客户转型 — TOB/TOG → TOC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0F1D3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 / TO G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政府交通部门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大型工程企业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设计院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项目制、定制化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市场空间：百亿级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2194560"/>
            <a:ext cx="640080" cy="640080"/>
          </a:xfrm>
          <a:prstGeom prst="ellipse">
            <a:avLst/>
          </a:prstGeom>
          <a:solidFill>
            <a:srgbClr val="D4A85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2286000"/>
            <a:ext cx="457200" cy="457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0" y="100584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521208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12080" y="1554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5212080" y="23774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百万级工程师用户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中小施工企业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个人从业者订阅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标准化产品、SaaS模式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市场空间：万亿级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从服务几百个机构 → 服务数百万从业者，市场空间扩大100倍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第七步：新机会 · 未来空间巨大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13274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143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基于二十多年的积累，之前的每一步路都不会白走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0891B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246888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3682" y="2579522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数据壁垒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二十余年工程数据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行业Know-how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无可替代的深度积累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228600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13274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06240" y="2468880"/>
            <a:ext cx="502920" cy="502920"/>
          </a:xfrm>
          <a:prstGeom prst="ellipse">
            <a:avLst/>
          </a:prstGeom>
          <a:solidFill>
            <a:srgbClr val="13274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882" y="257952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技术先发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52044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国产BIM+AI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行业大模型+Agent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技术护城河持续加深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228600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0891B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49440" y="246888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082" y="257952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市场蓝海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26364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TOB→TOC范式转移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百万级用户市场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万亿级市场空间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D4A853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56032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7011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资本视角看云基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对标分析 · 估值逻辑 · 市场空间 · 重新发现价值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1371600" cy="0"/>
          </a:xfrm>
          <a:prstGeom prst="line">
            <a:avLst/>
          </a:prstGeom>
          <a:noFill/>
          <a:ln w="38100">
            <a:solidFill>
              <a:srgbClr val="D4A853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828800"/>
            <a:ext cx="3657600" cy="36576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D4A853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云基在两个世界之间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0F1D3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过去的云基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资本市场怎么看？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传统工程咨询公司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项目制、非标、难规模化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营收依赖基建投资周期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没有可比上市公司对标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资本市场无法给出估值锚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2011680"/>
            <a:ext cx="594360" cy="594360"/>
          </a:xfrm>
          <a:prstGeom prst="ellipse">
            <a:avLst/>
          </a:prstGeom>
          <a:solidFill>
            <a:srgbClr val="D4A85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210312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846320" y="109728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188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AI时代的云基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资本市场会怎么定价？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29200" y="20116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AI驱动的行业科技平台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标准化Agent产品、SaaS模式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行业大模型+数据资产重估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C百万级用户线性增长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对标：工程SaaS + AI平台公司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同一个公司，两种估值逻辑 — 这就是AI带来的范式转换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对标：工程数字化上市公司一览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7863840" cy="365760"/>
          </a:xfrm>
          <a:prstGeom prst="roundRect">
            <a:avLst>
              <a:gd name="adj" fmla="val 10000"/>
            </a:avLst>
          </a:prstGeom>
          <a:solidFill>
            <a:srgbClr val="1327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0" y="1097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领域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市值(亿元)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1097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营收(亿元)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0" y="1097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PS倍数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PE(TTM)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554480"/>
            <a:ext cx="7863840" cy="429768"/>
          </a:xfrm>
          <a:prstGeom prst="roundRect">
            <a:avLst>
              <a:gd name="adj" fmla="val 6383"/>
            </a:avLst>
          </a:prstGeom>
          <a:solidFill>
            <a:srgbClr val="DFF1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554480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广联达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1554480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建筑信息化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554480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554480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155448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0" y="1554480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029968"/>
            <a:ext cx="7863840" cy="429768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029968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中望软件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0" y="2029968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工业CAD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2029968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2029968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2029968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0" y="2029968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亏损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2505456"/>
            <a:ext cx="7863840" cy="429768"/>
          </a:xfrm>
          <a:prstGeom prst="roundRect">
            <a:avLst>
              <a:gd name="adj" fmla="val 6383"/>
            </a:avLst>
          </a:prstGeom>
          <a:solidFill>
            <a:srgbClr val="DFF1F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505456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品茗科技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2505456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BIM+智慧工地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0" y="2505456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2505456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2505456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13.8x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0" y="2505456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2980944"/>
            <a:ext cx="7863840" cy="429768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2980944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浩辰软件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828800" y="2980944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CAD+BIM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0" y="2980944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2980944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2980944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10.3x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98080" y="2980944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3456432"/>
            <a:ext cx="7863840" cy="429768"/>
          </a:xfrm>
          <a:prstGeom prst="roundRect">
            <a:avLst>
              <a:gd name="adj" fmla="val 6383"/>
            </a:avLst>
          </a:prstGeom>
          <a:solidFill>
            <a:srgbClr val="DFF1F6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456432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明源云(HK)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828800" y="3456432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地产SaaS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00400" y="3456432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25(港元)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63440" y="3456432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17920" y="3456432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1.9x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98080" y="3456432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" y="3931920"/>
            <a:ext cx="7863840" cy="429768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3931920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盈建科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828800" y="3931920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建筑结构+BIM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200400" y="3931920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63440" y="3931920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17920" y="393192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16.2x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498080" y="3931920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亏损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" y="466344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数据来源：东方财富、同花顺，市值为2026年7月近似值。PS = 市值/营收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云基估值推演：如果按AI公司重新定价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5156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传统工程软件公司 PS 倍数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广联达：PS 2-3x | 中望软件：PS 11x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浩辰软件：PS 10x | 品茗科技：PS 14x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明源云：PS 2x | 盈建科：PS 16x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行业平均PS：约 8-10x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0891B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AI公司 PS 倍数（参照系）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Palantir：PS 96x | ServiceNow：PS 13x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智谱(港股)：PS 733x | MiniMax：PS 281x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OpenAI(未上市)：PS 34x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SaaS行业中位数：PS 15-20x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估值情景分析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8745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3832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保守情景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 PS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对标广联达、明源云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51760" y="3749040"/>
            <a:ext cx="1874520" cy="1188720"/>
          </a:xfrm>
          <a:prstGeom prst="roundRect">
            <a:avLst>
              <a:gd name="adj" fmla="val 4615"/>
            </a:avLst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0" y="37947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基准情景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4023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8x PS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43200" y="4434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对标品茗科技、浩辰软件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4160520"/>
            <a:ext cx="1874520" cy="1188720"/>
          </a:xfrm>
          <a:prstGeom prst="roundRect">
            <a:avLst>
              <a:gd name="adj" fmla="val 4615"/>
            </a:avLst>
          </a:prstGeom>
          <a:solidFill>
            <a:srgbClr val="13274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4206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乐观情景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4434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15x PS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54880" y="4846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AI产品线规模化落地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675120" y="4572000"/>
            <a:ext cx="1874520" cy="1188720"/>
          </a:xfrm>
          <a:prstGeom prst="roundRect">
            <a:avLst>
              <a:gd name="adj" fmla="val 4615"/>
            </a:avLst>
          </a:prstGeom>
          <a:solidFill>
            <a:srgbClr val="D4A853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46177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蓝海情景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25x PS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66560" y="5257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Agent标准化+百万级用户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市场空间：从百亿到万亿的跃迁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132744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传统TO B/G 市场（百亿级）  →  AI Agent TO C 市场（万亿级）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965960" cy="25603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8600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86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AI化转型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内部AI工具部署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Agent产品原型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传统业务企稳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1417320" cy="411480"/>
          </a:xfrm>
          <a:prstGeom prst="roundRect">
            <a:avLst>
              <a:gd name="adj" fmla="val 8889"/>
            </a:avLst>
          </a:prstGeom>
          <a:solidFill>
            <a:srgbClr val="DFF1F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3x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2286000"/>
            <a:ext cx="1965960" cy="25603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228600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2286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9748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产品突破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97480" y="32004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行业大模型发布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3款Agent上市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C试点启动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80360" y="3977640"/>
            <a:ext cx="1417320" cy="411480"/>
          </a:xfrm>
          <a:prstGeom prst="roundRect">
            <a:avLst>
              <a:gd name="adj" fmla="val 8889"/>
            </a:avLst>
          </a:prstGeom>
          <a:solidFill>
            <a:srgbClr val="DFF1F6"/>
          </a:solidFill>
          <a:ln/>
        </p:spPr>
      </p:sp>
      <p:sp>
        <p:nvSpPr>
          <p:cNvPr id="19" name="Text 17"/>
          <p:cNvSpPr/>
          <p:nvPr/>
        </p:nvSpPr>
        <p:spPr>
          <a:xfrm>
            <a:off x="2880360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8x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1965960" cy="25603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8600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286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规模增长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2004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Agent产品线10+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C用户10万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营收超越历史峰值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3977640"/>
            <a:ext cx="1417320" cy="411480"/>
          </a:xfrm>
          <a:prstGeom prst="roundRect">
            <a:avLst>
              <a:gd name="adj" fmla="val 8889"/>
            </a:avLst>
          </a:prstGeom>
          <a:solidFill>
            <a:srgbClr val="DFF1F6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15x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03720" y="2286000"/>
            <a:ext cx="1965960" cy="25603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03720" y="228600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D4A853"/>
          </a:solidFill>
          <a:ln/>
        </p:spPr>
      </p:sp>
      <p:sp>
        <p:nvSpPr>
          <p:cNvPr id="29" name="Text 27"/>
          <p:cNvSpPr/>
          <p:nvPr/>
        </p:nvSpPr>
        <p:spPr>
          <a:xfrm>
            <a:off x="6995160" y="2286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2029+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9516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平台生态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95160" y="32004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百万级TO C用户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开发者生态成形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行业标准制定者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78040" y="3977640"/>
            <a:ext cx="1417320" cy="411480"/>
          </a:xfrm>
          <a:prstGeom prst="roundRect">
            <a:avLst>
              <a:gd name="adj" fmla="val 8889"/>
            </a:avLst>
          </a:prstGeom>
          <a:solidFill>
            <a:srgbClr val="D4A853"/>
          </a:solidFill>
          <a:ln/>
        </p:spPr>
      </p:sp>
      <p:sp>
        <p:nvSpPr>
          <p:cNvPr id="33" name="Text 31"/>
          <p:cNvSpPr/>
          <p:nvPr/>
        </p:nvSpPr>
        <p:spPr>
          <a:xfrm>
            <a:off x="7178040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25x+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为什么云基应该被AI公司重新定价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5156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216152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766" y="1306678"/>
            <a:ext cx="230429" cy="230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1612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大模型重塑估值逻辑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600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智谱AI PS 733倍、MiniMax PS 281倍——资本为正拥有大模型的公司支付极高溢价。云基正在构建行业大模型，底层逻辑一致但行业壁垒更深。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216152"/>
            <a:ext cx="411480" cy="411480"/>
          </a:xfrm>
          <a:prstGeom prst="ellipse">
            <a:avLst/>
          </a:prstGeom>
          <a:solidFill>
            <a:srgbClr val="1327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566" y="1306678"/>
            <a:ext cx="230429" cy="2304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1612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Agent标准化 → SaaS模式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92040" y="1600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标准化Agent产品具备SaaS属性：高毛利（80%+）、可复制、订阅制。广联达PS 3x，品茗科技PS 14x——标准化程度决定PS倍数。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274320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2907792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6" y="2998318"/>
            <a:ext cx="230429" cy="23042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852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C打开百倍市场天花板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77240" y="3291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从服务几百个机构到服务数百万工程师，市场空间从百亿级跃升至万亿级。Palantir PS 96x——资本市场为TO C平台支付最高溢价。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274320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2907792"/>
            <a:ext cx="411480" cy="411480"/>
          </a:xfrm>
          <a:prstGeom prst="ellipse">
            <a:avLst/>
          </a:prstGeom>
          <a:solidFill>
            <a:srgbClr val="13274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566" y="2998318"/>
            <a:ext cx="230429" cy="2304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2852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数据资产重估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892040" y="3291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二十余年工程数据+行业Know-how，在AI时代成为训练行业大模型的"燃料"。数据壁垒越深，PS倍数越高。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深度对标：云基 vs 行业可比公司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51560"/>
            <a:ext cx="7863840" cy="347472"/>
          </a:xfrm>
          <a:prstGeom prst="roundRect">
            <a:avLst>
              <a:gd name="adj" fmla="val 10526"/>
            </a:avLst>
          </a:prstGeom>
          <a:solidFill>
            <a:srgbClr val="1327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03120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10515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AI化程度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63440" y="1051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客户模式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1051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PS倍数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490472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490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广联达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03120" y="14904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造价+施工管理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14904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●●○○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14904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14904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0" y="14904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2-3x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2020824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0208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明源云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03120" y="20208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地产ERP SaaS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20208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202082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20208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0" y="202082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551176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5511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中望软件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03120" y="255117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CAD/CAE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0" y="25511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●○○○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25511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●●●●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0" y="255117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0" y="25511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11x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3081528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DFF1F6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0815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品茗科技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103120" y="30815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BIM+智慧工地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74720" y="30815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●●○○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30815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30815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30815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14x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" y="3611880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FFF3D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008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云基(现在)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103120" y="3611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BIM+工程咨询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74720" y="3611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●○○○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3440" y="3611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●○○○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43600" y="3611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15200" y="3611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0080" y="4142232"/>
            <a:ext cx="7863840" cy="457200"/>
          </a:xfrm>
          <a:prstGeom prst="roundRect">
            <a:avLst>
              <a:gd name="adj" fmla="val 6000"/>
            </a:avLst>
          </a:prstGeom>
          <a:solidFill>
            <a:srgbClr val="FFF3D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40080" y="4142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云基(AI时代)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103120" y="41422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行业大模型+Agent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474720" y="41422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●●●●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63440" y="41422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●●●●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43600" y="41422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B+C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5200" y="41422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?x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云基从"项目制工程公司"向"AI行业平台"的转型，对应PS倍数从2-3x向15-20x跃迁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D4A853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56032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7011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产品战略 · 实施路径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分类分级 · 决策机制 · 技术管理 · 生产方式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1371600" cy="0"/>
          </a:xfrm>
          <a:prstGeom prst="line">
            <a:avLst/>
          </a:prstGeom>
          <a:noFill/>
          <a:ln w="38100">
            <a:solidFill>
              <a:srgbClr val="D4A853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产品分类分级体系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S级 · 战略核心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34640" y="1097280"/>
            <a:ext cx="3017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0" y="1097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玄镜BIM平台、行业大模型、Agent开发框架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0972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DFF1F6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097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公司命脉，持续重仓投入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A级 · 主营业务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2057400"/>
            <a:ext cx="3017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0" y="20574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工程项目管理平台、数据分析平台、智能审查系统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05740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DFF1F6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057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现金流来源，AI化升级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13274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175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B级 · 孵化业务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34640" y="3017520"/>
            <a:ext cx="3017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26080" y="30175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AI个人助手、行业知识付费、SaaS工具集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301752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DFF1F6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3017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C转型先锋，快速验证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64748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C级 · 待评估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34640" y="3977640"/>
            <a:ext cx="3017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926080" y="39776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传统咨询工具、非核心定制项目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397764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DFF1F6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977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逐步退出或AI替代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分级决定资源配置优先级，集中力量办大事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产品决策机制与技术管理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决策机制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4114800" cy="502920"/>
          </a:xfrm>
          <a:prstGeom prst="roundRect">
            <a:avLst>
              <a:gd name="adj" fmla="val 5455"/>
            </a:avLst>
          </a:prstGeom>
          <a:solidFill>
            <a:srgbClr val="DFF1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立项决策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产品委员会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0896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季度评审会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463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战略匹配度、市场空间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4114800" cy="5029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资源分配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2057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+ CTO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08960" y="2057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年度预算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分级权重、ROI预期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4114800" cy="502920"/>
          </a:xfrm>
          <a:prstGeom prst="roundRect">
            <a:avLst>
              <a:gd name="adj" fmla="val 5455"/>
            </a:avLst>
          </a:prstGeom>
          <a:solidFill>
            <a:srgbClr val="DFF1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51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2651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技术委员会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08960" y="2651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持续评估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651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先进性、可控性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4114800" cy="5029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46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退出决策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28800" y="3246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产品委员会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08960" y="3246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季度复盘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3246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盈利能力、战略价值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1208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技术管理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37760" y="1417320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0" y="15087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609" y="1579169"/>
            <a:ext cx="179222" cy="17922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44068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代码：统一GitLab+技术委员会Code Review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937760" y="2057400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029200" y="2148840"/>
            <a:ext cx="320040" cy="320040"/>
          </a:xfrm>
          <a:prstGeom prst="ellipse">
            <a:avLst/>
          </a:prstGeom>
          <a:solidFill>
            <a:srgbClr val="132744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609" y="2219249"/>
            <a:ext cx="179222" cy="17922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44068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运维：DevOps+AI自动化，7×24智能监控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937760" y="2697480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5029200" y="278892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609" y="2859329"/>
            <a:ext cx="179222" cy="17922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44068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核心技术：自研为主（玄镜/大模型/Agent）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4937760" y="3337560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5029200" y="3429000"/>
            <a:ext cx="320040" cy="320040"/>
          </a:xfrm>
          <a:prstGeom prst="ellipse">
            <a:avLst/>
          </a:prstGeom>
          <a:solidFill>
            <a:srgbClr val="132744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609" y="3499409"/>
            <a:ext cx="179222" cy="17922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44068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使用者：内部→外部→百万TO C用户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保留：玄镜BIM / 行业大模型 / Agent产品线 / 工程数据平台 / SaaS工具 | 退出：纯人工咨询 / 非标定制 / 传统工具 / 低端外包 / 重复性文档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AI原生生产方式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人类团队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8288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战略决策 · 创意设计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复杂判断 · 客户关系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价值观守护 · 文化传承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977640" y="2103120"/>
            <a:ext cx="548640" cy="54864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9" name="Text 6"/>
          <p:cNvSpPr/>
          <p:nvPr/>
        </p:nvSpPr>
        <p:spPr>
          <a:xfrm>
            <a:off x="39776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0891B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3776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数字化新员工</a:t>
            </a:r>
            <a:endParaRPr lang="en-US" sz="1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731520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37760" y="2743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7×24不间断工作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海量数据处理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模式识别·自动执行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知识永不流失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371600" y="3931920"/>
            <a:ext cx="6400800" cy="457200"/>
          </a:xfrm>
          <a:prstGeom prst="roundRect">
            <a:avLst>
              <a:gd name="adj" fmla="val 12000"/>
            </a:avLst>
          </a:prstGeom>
          <a:solidFill>
            <a:srgbClr val="132744"/>
          </a:solidFill>
          <a:ln/>
        </p:spPr>
      </p:sp>
      <p:sp>
        <p:nvSpPr>
          <p:cNvPr id="15" name="Text 11"/>
          <p:cNvSpPr/>
          <p:nvPr/>
        </p:nvSpPr>
        <p:spPr>
          <a:xfrm>
            <a:off x="1371600" y="3931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超级团队：效率×10 · 质量×5 · 成本÷3 · 创新×N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里程碑与路线图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7863840" cy="0"/>
          </a:xfrm>
          <a:prstGeom prst="line">
            <a:avLst/>
          </a:prstGeom>
          <a:noFill/>
          <a:ln w="50800">
            <a:solidFill>
              <a:srgbClr val="DFF1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417320"/>
            <a:ext cx="274320" cy="2743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1344168" y="1298448"/>
            <a:ext cx="512064" cy="512064"/>
          </a:xfrm>
          <a:prstGeom prst="ellipse">
            <a:avLst/>
          </a:prstGeom>
          <a:solidFill>
            <a:srgbClr val="D4A853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1920240" cy="2103120"/>
          </a:xfrm>
          <a:prstGeom prst="roundRect">
            <a:avLst>
              <a:gd name="adj" fmla="val 2857"/>
            </a:avLst>
          </a:prstGeom>
          <a:solidFill>
            <a:srgbClr val="13274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AI化启动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内部AI工具全面部署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数字化新员工上岗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首批Agent产品原型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41732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1965960"/>
            <a:ext cx="1920240" cy="2103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产品突破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4688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行业大模型v1.0发布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3款Agent产品上市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C试点启动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141732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965960"/>
            <a:ext cx="1920240" cy="2103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规模增长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24688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Agent产品线扩展至10+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C用户突破10万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营收恢复并超越峰值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98080" y="141732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2029+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1965960"/>
            <a:ext cx="1920240" cy="2103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生态繁荣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24688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开发者生态成形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百万级TO C用户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行业标准制定者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2026：窗口期已至，行动就在当下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D4A853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56032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7011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回归初心 · 组织与人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至诚文化 · 行正道造市场做事业过好日子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1371600" cy="0"/>
          </a:xfrm>
          <a:prstGeom prst="line">
            <a:avLst/>
          </a:prstGeom>
          <a:noFill/>
          <a:ln w="38100">
            <a:solidFill>
              <a:srgbClr val="D4A853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828800"/>
            <a:ext cx="3657600" cy="36576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D4A853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至诚 — 我们的文化基因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9144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至 诚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371600" y="256032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对事至诚：每一个像素、每一行代码、每一个项目，力求极致</a:t>
            </a:r>
            <a:endParaRPr lang="en-US" sz="13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对人至诚：对客户坦诚、对同事真诚、对股东信诚</a:t>
            </a:r>
            <a:endParaRPr lang="en-US" sz="13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对己至诚：不自欺、不将就、不随波逐流</a:t>
            </a:r>
            <a:endParaRPr lang="en-US" sz="13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对时代至诚：以技术报国，以创新推动行业进步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至诚，是云基人面对一切不确定性的确定答案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行正道 · 造市场 · 做事业 · 过好日子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280160"/>
            <a:ext cx="502920" cy="502920"/>
          </a:xfrm>
          <a:prstGeom prst="ellipse">
            <a:avLst/>
          </a:prstGeom>
          <a:solidFill>
            <a:srgbClr val="1327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39080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行正道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63040" y="1737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合规经营，诚信为本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不走捷径，不碰红线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长期主义，价值驱动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28016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682" y="139080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造市场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577840" y="1737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不是分蛋糕，而是做蛋糕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以AI开辟新赛道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从百亿到万亿的跨越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292608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108960"/>
            <a:ext cx="502920" cy="502920"/>
          </a:xfrm>
          <a:prstGeom prst="ellipse">
            <a:avLst/>
          </a:prstGeom>
          <a:solidFill>
            <a:srgbClr val="D4A85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321960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做事业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1463040" y="3566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不是打工，而是共同创业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每一份付出都有股权对价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与公司共同成长、共享成果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92608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108960"/>
            <a:ext cx="502920" cy="502920"/>
          </a:xfrm>
          <a:prstGeom prst="ellipse">
            <a:avLst/>
          </a:prstGeom>
          <a:solidFill>
            <a:srgbClr val="13274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2682" y="321960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过好日子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5577840" y="3566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事业有成，生活有品质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奋斗有意义，未来有盼头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让每位云基人都活得体面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这十二个字，不是口号，是云基人每一天的行动准则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828800"/>
            <a:ext cx="3657600" cy="36576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D4A853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从组织回归到人 · 从人回归到生命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0" y="274320"/>
            <a:ext cx="1828800" cy="1828800"/>
          </a:xfrm>
          <a:prstGeom prst="ellipse">
            <a:avLst/>
          </a:prstGeom>
          <a:solidFill>
            <a:srgbClr val="D4A853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315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"股权激励不是公司分钱，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而是承认每一个人的创造价值。"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0" y="2286000"/>
            <a:ext cx="1645920" cy="164592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战略·制度·流程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931920" y="2286000"/>
            <a:ext cx="1645920" cy="1645920"/>
          </a:xfrm>
          <a:prstGeom prst="ellipse">
            <a:avLst/>
          </a:prstGeom>
          <a:solidFill>
            <a:srgbClr val="D4A853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93192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创造力·判断力·协作力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3560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492240" y="2286000"/>
            <a:ext cx="1645920" cy="1645920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生命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9224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意义·成长·幸福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组织的本质是人的集合，人的本质是生命的绽放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F1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D4A853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56032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7011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第二次股权激励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窗口期 · 最佳时机 · 共享成长 · 再出发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1371600" cy="0"/>
          </a:xfrm>
          <a:prstGeom prst="line">
            <a:avLst/>
          </a:prstGeom>
          <a:noFill/>
          <a:ln w="38100">
            <a:solidFill>
              <a:srgbClr val="D4A853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第二次股权激励方案要点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457200" cy="457200"/>
          </a:xfrm>
          <a:prstGeom prst="ellipse">
            <a:avLst/>
          </a:prstGeom>
          <a:solidFill>
            <a:srgbClr val="13274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激励对象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691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核心骨干员工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对公司未来发展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有坚定信念的奋斗者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2801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778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授予价格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1691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基于当前窗口期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极具吸引力的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价值洼地价格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017520"/>
            <a:ext cx="457200" cy="45720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锁定机制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429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服务期锁定+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业绩条件解锁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长期价值绑定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017520"/>
            <a:ext cx="457200" cy="457200"/>
          </a:xfrm>
          <a:prstGeom prst="ellipse">
            <a:avLst/>
          </a:prstGeom>
          <a:solidFill>
            <a:srgbClr val="13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退出机制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77840" y="3429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上市/并购退出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或公司回购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灵活多元通道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具体方案详见《第二次股权激励计划说明书》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828800"/>
            <a:ext cx="3657600" cy="36576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D4A853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为什么现在是最佳时机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822960"/>
            <a:ext cx="7863840" cy="822960"/>
          </a:xfrm>
          <a:prstGeom prst="roundRect">
            <a:avLst>
              <a:gd name="adj" fmla="val 6667"/>
            </a:avLst>
          </a:prstGeom>
          <a:solidFill>
            <a:srgbClr val="0F1D33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960120"/>
            <a:ext cx="548640" cy="54864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8686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估值低谷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1887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经历行业下行周期后，公司估值处于历史低位。以AI公司重新定价的潜力尚未被市场发现——现在入场意味着最大的增值空间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7863840" cy="822960"/>
          </a:xfrm>
          <a:prstGeom prst="roundRect">
            <a:avLst>
              <a:gd name="adj" fmla="val 6667"/>
            </a:avLst>
          </a:prstGeom>
          <a:solidFill>
            <a:srgbClr val="0F1D33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18745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三重拐点叠加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21945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"一网四化"政策红利 + AI技术成熟 + 公司Agent产品落地——三重利好在同一时间窗口交汇，这是千载难逢的机会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834640"/>
            <a:ext cx="7863840" cy="822960"/>
          </a:xfrm>
          <a:prstGeom prst="roundRect">
            <a:avLst>
              <a:gd name="adj" fmla="val 6667"/>
            </a:avLst>
          </a:prstGeom>
          <a:solidFill>
            <a:srgbClr val="0F1D33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971800"/>
            <a:ext cx="548640" cy="54864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28803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第二曲线爆发前夜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32004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AI驱动的全新商业模式即将爆发。对标已上市公司的估值逻辑，现在投入的每一分努力都将被10-50倍杠杆放大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7863840" cy="822960"/>
          </a:xfrm>
          <a:prstGeom prst="roundRect">
            <a:avLst>
              <a:gd name="adj" fmla="val 6667"/>
            </a:avLst>
          </a:prstGeom>
          <a:solidFill>
            <a:srgbClr val="0F1D33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3886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先行者红利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54480" y="42062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第一批相信并行动的人，将占据最好的位置。等所有不确定消除后再入场，最好的机会已经过去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种一棵树最好的时间是十年前，其次是现在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这一次，你选择相信什么？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0972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-914400"/>
            <a:ext cx="2743200" cy="27432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486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"悲观者正确，乐观者前行。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在至暗时刻选择相信的人，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3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将成为下一个时代的赢家。"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852160" y="91440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13274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89320" y="1005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智谱AI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733倍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大模型标杆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852160" y="224028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8932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广联达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89320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市值140亿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2-3x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356616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13274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3657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Palantir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89320" y="4069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96倍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AI平台标杆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0" y="3703320"/>
            <a:ext cx="5486400" cy="640080"/>
          </a:xfrm>
          <a:prstGeom prst="roundRect">
            <a:avLst>
              <a:gd name="adj" fmla="val 11429"/>
            </a:avLst>
          </a:prstGeom>
          <a:solidFill>
            <a:srgbClr val="0891B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3749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资本市场正在重估AI公司——云基，凭什么不能？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828800"/>
            <a:ext cx="3657600" cy="36576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D4A853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凝心聚力再出发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D4A853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73152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未来的云基，
</a:t>
            </a:r>
            <a:pPr indent="0" marL="0">
              <a:buNone/>
            </a:pPr>
            <a:r>
              <a:rPr lang="en-US" sz="2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不是一家传统工程公司，
</a:t>
            </a:r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而是</a:t>
            </a:r>
            <a:pPr indent="0" marL="0">
              <a:buNone/>
            </a:pPr>
            <a:r>
              <a:rPr lang="en-US" sz="28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工程AI Agent平台公司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" y="292608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每一步路都不会白走 — 二十年的积累是AI时代最大的估值支撑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资本市场正在重写AI公司的估值逻辑 — 云基有能力成为其中的一极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从组织到人、从人到生命 — 每一个云基人都是这场变革的主角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今天的选择，决定三年后你在哪里——观望者永远在等，行动者已在路上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371600"/>
            <a:ext cx="3657600" cy="36576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3200400"/>
            <a:ext cx="4572000" cy="2743200"/>
          </a:xfrm>
          <a:prstGeom prst="ellipse">
            <a:avLst/>
          </a:prstGeom>
          <a:solidFill>
            <a:srgbClr val="D4A85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谢谢大家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2103120"/>
            <a:ext cx="2743200" cy="0"/>
          </a:xfrm>
          <a:prstGeom prst="line">
            <a:avLst/>
          </a:prstGeom>
          <a:noFill/>
          <a:ln w="254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行正道，造市场，做事业，过好日子
</a:t>
            </a:r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云基智慧工程股份有限公司
</a:t>
            </a:r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第二次股权激励宣讲动员会
</a:t>
            </a:r>
            <a:pPr algn="ctr" indent="0" marL="0">
              <a:buNone/>
            </a:pPr>
            <a:r>
              <a:rPr lang="en-US" sz="1200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打造工程咨询领域的AI大模型公司
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期待与你一起，共创下一个二十年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云基第二次股权激励宣讲动员会</dc:title>
  <dc:subject>PptxGenJS Presentation</dc:subject>
  <dc:creator>云基智慧工程股份有限公司</dc:creator>
  <cp:lastModifiedBy>云基智慧工程股份有限公司</cp:lastModifiedBy>
  <cp:revision>1</cp:revision>
  <dcterms:created xsi:type="dcterms:W3CDTF">2026-07-17T09:41:05Z</dcterms:created>
  <dcterms:modified xsi:type="dcterms:W3CDTF">2026-07-17T09:41:05Z</dcterms:modified>
</cp:coreProperties>
</file>