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  <p:sldId id="270" r:id="rId22"/>
    <p:sldId id="271" r:id="rId23"/>
    <p:sldId id="272" r:id="rId24"/>
    <p:sldId id="273" r:id="rId25"/>
    <p:sldId id="274" r:id="rId26"/>
    <p:sldId id="275" r:id="rId27"/>
    <p:sldId id="276" r:id="rId28"/>
    <p:sldId id="277" r:id="rId29"/>
    <p:sldId id="278" r:id="rId30"/>
    <p:sldId id="279" r:id="rId31"/>
    <p:sldId id="280" r:id="rId32"/>
    <p:sldId id="281" r:id="rId33"/>
    <p:sldId id="282" r:id="rId34"/>
    <p:sldId id="283" r:id="rId35"/>
    <p:sldId id="284" r:id="rId36"/>
    <p:sldId id="285" r:id="rId37"/>
    <p:sldId id="286" r:id="rId38"/>
    <p:sldId id="287" r:id="rId39"/>
    <p:sldId id="288" r:id="rId40"/>
    <p:sldId id="289" r:id="rId41"/>
    <p:sldId id="290" r:id="rId42"/>
    <p:sldId id="291" r:id="rId43"/>
    <p:sldId id="292" r:id="rId44"/>
    <p:sldId id="293" r:id="rId45"/>
    <p:sldId id="294" r:id="rId46"/>
    <p:sldId id="295" r:id="rId47"/>
    <p:sldId id="296" r:id="rId48"/>
    <p:sldId id="297" r:id="rId49"/>
    <p:sldId id="298" r:id="rId50"/>
    <p:sldId id="299" r:id="rId51"/>
    <p:sldId id="300" r:id="rId52"/>
    <p:sldId id="301" r:id="rId53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Relationship Id="rId22" Type="http://schemas.openxmlformats.org/officeDocument/2006/relationships/slide" Target="slides/slide15.xml"/><Relationship Id="rId23" Type="http://schemas.openxmlformats.org/officeDocument/2006/relationships/slide" Target="slides/slide16.xml"/><Relationship Id="rId24" Type="http://schemas.openxmlformats.org/officeDocument/2006/relationships/slide" Target="slides/slide17.xml"/><Relationship Id="rId25" Type="http://schemas.openxmlformats.org/officeDocument/2006/relationships/slide" Target="slides/slide18.xml"/><Relationship Id="rId26" Type="http://schemas.openxmlformats.org/officeDocument/2006/relationships/slide" Target="slides/slide19.xml"/><Relationship Id="rId27" Type="http://schemas.openxmlformats.org/officeDocument/2006/relationships/slide" Target="slides/slide20.xml"/><Relationship Id="rId28" Type="http://schemas.openxmlformats.org/officeDocument/2006/relationships/slide" Target="slides/slide21.xml"/><Relationship Id="rId29" Type="http://schemas.openxmlformats.org/officeDocument/2006/relationships/slide" Target="slides/slide22.xml"/><Relationship Id="rId30" Type="http://schemas.openxmlformats.org/officeDocument/2006/relationships/slide" Target="slides/slide23.xml"/><Relationship Id="rId31" Type="http://schemas.openxmlformats.org/officeDocument/2006/relationships/slide" Target="slides/slide24.xml"/><Relationship Id="rId32" Type="http://schemas.openxmlformats.org/officeDocument/2006/relationships/slide" Target="slides/slide25.xml"/><Relationship Id="rId33" Type="http://schemas.openxmlformats.org/officeDocument/2006/relationships/slide" Target="slides/slide26.xml"/><Relationship Id="rId34" Type="http://schemas.openxmlformats.org/officeDocument/2006/relationships/slide" Target="slides/slide27.xml"/><Relationship Id="rId35" Type="http://schemas.openxmlformats.org/officeDocument/2006/relationships/slide" Target="slides/slide28.xml"/><Relationship Id="rId36" Type="http://schemas.openxmlformats.org/officeDocument/2006/relationships/slide" Target="slides/slide29.xml"/><Relationship Id="rId37" Type="http://schemas.openxmlformats.org/officeDocument/2006/relationships/slide" Target="slides/slide30.xml"/><Relationship Id="rId38" Type="http://schemas.openxmlformats.org/officeDocument/2006/relationships/slide" Target="slides/slide31.xml"/><Relationship Id="rId39" Type="http://schemas.openxmlformats.org/officeDocument/2006/relationships/slide" Target="slides/slide32.xml"/><Relationship Id="rId40" Type="http://schemas.openxmlformats.org/officeDocument/2006/relationships/slide" Target="slides/slide33.xml"/><Relationship Id="rId41" Type="http://schemas.openxmlformats.org/officeDocument/2006/relationships/slide" Target="slides/slide34.xml"/><Relationship Id="rId42" Type="http://schemas.openxmlformats.org/officeDocument/2006/relationships/slide" Target="slides/slide35.xml"/><Relationship Id="rId43" Type="http://schemas.openxmlformats.org/officeDocument/2006/relationships/slide" Target="slides/slide36.xml"/><Relationship Id="rId44" Type="http://schemas.openxmlformats.org/officeDocument/2006/relationships/slide" Target="slides/slide37.xml"/><Relationship Id="rId45" Type="http://schemas.openxmlformats.org/officeDocument/2006/relationships/slide" Target="slides/slide38.xml"/><Relationship Id="rId46" Type="http://schemas.openxmlformats.org/officeDocument/2006/relationships/slide" Target="slides/slide39.xml"/><Relationship Id="rId47" Type="http://schemas.openxmlformats.org/officeDocument/2006/relationships/slide" Target="slides/slide40.xml"/><Relationship Id="rId48" Type="http://schemas.openxmlformats.org/officeDocument/2006/relationships/slide" Target="slides/slide41.xml"/><Relationship Id="rId49" Type="http://schemas.openxmlformats.org/officeDocument/2006/relationships/slide" Target="slides/slide42.xml"/><Relationship Id="rId50" Type="http://schemas.openxmlformats.org/officeDocument/2006/relationships/slide" Target="slides/slide43.xml"/><Relationship Id="rId51" Type="http://schemas.openxmlformats.org/officeDocument/2006/relationships/slide" Target="slides/slide44.xml"/><Relationship Id="rId52" Type="http://schemas.openxmlformats.org/officeDocument/2006/relationships/slide" Target="slides/slide45.xml"/><Relationship Id="rId53" Type="http://schemas.openxmlformats.org/officeDocument/2006/relationships/slide" Target="slides/slide46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0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2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6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8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1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9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2.xml"/></Relationships>
</file>

<file path=ppt/notesSlides/_rels/notesSlide1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3.xml"/></Relationships>
</file>

<file path=ppt/notesSlides/_rels/notesSlide1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6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开场不急于讲PPT，先讲一句话——今天我不代表公司向大家推销股权，我代表和大家一起走过至暗时刻的同事，来讲讲我看到的光。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直接回应“为什么偏偏在最难的时候搞激励”——因为激励的本质是共担与共创，不是分红利，是分未来。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念出这五个问题时放慢语速：“这些问题，我自己也问过自己。”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逐条念数据，不加修饰词。“这些数字背后，是离开的同事，是留下的大家扛过来的日子。”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这一页是全场“至诚”的试金石，由负责人亲口讲，不推给外部环境。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如有可能，请1位员工代表站起来接受掌声。情感峰值点之一。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强调数据来源均为部委和公开研报：“机会不是我说的，是规划写的。”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本页是全场说服力核心，数据务必真实精确，宁少勿虚。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如实说明仍存在的风险：“我不承诺一帆风顺，我只呈现趋势。”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“大家的迟疑，恰恰是所有曲线切换期组织的标准心理，你们不是信心不足，是身处曲线交叠期的正常反应。”——共情而非说教。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离职人员份额是敏感点，给出明确原则和时间表，不含糊。这是“至诚”的第二块试金石。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风险提示逐条念：“我宁可今天把丑话说尽，不愿明天让任何人觉得被误导。”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全场情感最高点。建议脱稿，讲一个自己的真实故事——为什么留下、为什么信。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讲清“砍产品不是否定过去做产品的人”，相关同事的转岗安排一并说明。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点明“激励名单与责任地图高度重合”，让大家看到股权分配的公平逻辑。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预留至少20分钟现场问答，承诺“今天答不了的，三个工作日内书面回复全员”。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结束语建议：“第一轮股权激励，我们一起播过种；这一轮，让我们在废墟上种出春天。散会之后，我在会场留一小时，任何问题，当面聊。”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.xm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3.xml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4.xml"/></Relationships>
</file>

<file path=ppt/slides/_rels/slide4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5.xml"/></Relationships>
</file>

<file path=ppt/slides/_rels/slide4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6.xml"/></Relationships>
</file>

<file path=ppt/slides/_rels/slide4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B3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3566160" y="3310128"/>
            <a:ext cx="5029200" cy="25400"/>
          </a:xfrm>
          <a:prstGeom prst="rect">
            <a:avLst/>
          </a:prstGeom>
          <a:solidFill>
            <a:srgbClr val="F5B9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1828800"/>
            <a:ext cx="10698480" cy="12801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4800" b="1">
                <a:solidFill>
                  <a:srgbClr val="FFFFFF"/>
                </a:solidFill>
                <a:latin typeface="微软雅黑"/>
              </a:rPr>
              <a:t>至诚重光 · 二次出发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3520440"/>
            <a:ext cx="1069848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400" b="0">
                <a:solidFill>
                  <a:srgbClr val="F5B942"/>
                </a:solidFill>
                <a:latin typeface="微软雅黑"/>
              </a:rPr>
              <a:t>与坚信者同行，共赴第二曲线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4937760"/>
            <a:ext cx="1069848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600" b="0">
                <a:solidFill>
                  <a:srgbClr val="C9D8F0"/>
                </a:solidFill>
                <a:latin typeface="微软雅黑"/>
              </a:rPr>
              <a:t>云基智慧工程股份有限公司 · 第二期员工股权激励动员会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5486400"/>
            <a:ext cx="1069848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0">
                <a:solidFill>
                  <a:srgbClr val="8A9AB8"/>
                </a:solidFill>
                <a:latin typeface="微软雅黑"/>
              </a:rPr>
              <a:t>2026年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B3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48640" y="502920"/>
            <a:ext cx="82296" cy="777240"/>
          </a:xfrm>
          <a:prstGeom prst="rect">
            <a:avLst/>
          </a:prstGeom>
          <a:solidFill>
            <a:srgbClr val="1E6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77240" y="457200"/>
            <a:ext cx="1005840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800" b="1">
                <a:solidFill>
                  <a:srgbClr val="FFFFFF"/>
                </a:solidFill>
                <a:latin typeface="微软雅黑"/>
              </a:rPr>
              <a:t>目录：一条完整的故事线——从坦诚到坚信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280160" y="1554480"/>
            <a:ext cx="987552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0000"/>
              </a:lnSpc>
              <a:spcAft>
                <a:spcPts val="1200"/>
              </a:spcAft>
            </a:pPr>
            <a:r>
              <a:rPr sz="1800" b="1">
                <a:solidFill>
                  <a:srgbClr val="1E6FFF"/>
                </a:solidFill>
                <a:latin typeface="微软雅黑"/>
              </a:rPr>
              <a:t>序 章　</a:t>
            </a:r>
            <a:r>
              <a:rPr sz="1800">
                <a:solidFill>
                  <a:srgbClr val="C9D8F0"/>
                </a:solidFill>
                <a:latin typeface="微软雅黑"/>
              </a:rPr>
              <a:t>致每一位云基人：为什么是现在</a:t>
            </a:r>
          </a:p>
          <a:p>
            <a:pPr>
              <a:lnSpc>
                <a:spcPct val="110000"/>
              </a:lnSpc>
              <a:spcAft>
                <a:spcPts val="1200"/>
              </a:spcAft>
            </a:pPr>
            <a:r>
              <a:rPr sz="1800" b="1">
                <a:solidFill>
                  <a:srgbClr val="1E6FFF"/>
                </a:solidFill>
                <a:latin typeface="微软雅黑"/>
              </a:rPr>
              <a:t>第一章　</a:t>
            </a:r>
            <a:r>
              <a:rPr sz="1800">
                <a:solidFill>
                  <a:srgbClr val="C9D8F0"/>
                </a:solidFill>
                <a:latin typeface="微软雅黑"/>
              </a:rPr>
              <a:t>至暗时刻：我们坦诚面对的两年</a:t>
            </a:r>
          </a:p>
          <a:p>
            <a:pPr>
              <a:lnSpc>
                <a:spcPct val="110000"/>
              </a:lnSpc>
              <a:spcAft>
                <a:spcPts val="1200"/>
              </a:spcAft>
            </a:pPr>
            <a:r>
              <a:rPr sz="1800" b="1">
                <a:solidFill>
                  <a:srgbClr val="1E6FFF"/>
                </a:solidFill>
                <a:latin typeface="微软雅黑"/>
              </a:rPr>
              <a:t>第二章　</a:t>
            </a:r>
            <a:r>
              <a:rPr sz="1800">
                <a:solidFill>
                  <a:srgbClr val="C9D8F0"/>
                </a:solidFill>
                <a:latin typeface="微软雅黑"/>
              </a:rPr>
              <a:t>时代大势：“一网四化”打开的十五五机遇窗口</a:t>
            </a:r>
          </a:p>
          <a:p>
            <a:pPr>
              <a:lnSpc>
                <a:spcPct val="110000"/>
              </a:lnSpc>
              <a:spcAft>
                <a:spcPts val="1200"/>
              </a:spcAft>
            </a:pPr>
            <a:r>
              <a:rPr sz="1800" b="1">
                <a:solidFill>
                  <a:srgbClr val="1E6FFF"/>
                </a:solidFill>
                <a:latin typeface="微软雅黑"/>
              </a:rPr>
              <a:t>第三章　</a:t>
            </a:r>
            <a:r>
              <a:rPr sz="1800">
                <a:solidFill>
                  <a:srgbClr val="C9D8F0"/>
                </a:solidFill>
                <a:latin typeface="微软雅黑"/>
              </a:rPr>
              <a:t>事实为证：AI+工程数智化，新业务已经落地</a:t>
            </a:r>
          </a:p>
          <a:p>
            <a:pPr>
              <a:lnSpc>
                <a:spcPct val="110000"/>
              </a:lnSpc>
              <a:spcAft>
                <a:spcPts val="1200"/>
              </a:spcAft>
            </a:pPr>
            <a:r>
              <a:rPr sz="1800" b="1">
                <a:solidFill>
                  <a:srgbClr val="1E6FFF"/>
                </a:solidFill>
                <a:latin typeface="微软雅黑"/>
              </a:rPr>
              <a:t>第四章　</a:t>
            </a:r>
            <a:r>
              <a:rPr sz="1800">
                <a:solidFill>
                  <a:srgbClr val="C9D8F0"/>
                </a:solidFill>
                <a:latin typeface="微软雅黑"/>
              </a:rPr>
              <a:t>第二曲线：云基为什么能够二次崛起</a:t>
            </a:r>
          </a:p>
          <a:p>
            <a:pPr>
              <a:lnSpc>
                <a:spcPct val="110000"/>
              </a:lnSpc>
              <a:spcAft>
                <a:spcPts val="1200"/>
              </a:spcAft>
            </a:pPr>
            <a:r>
              <a:rPr sz="1800" b="1">
                <a:solidFill>
                  <a:srgbClr val="1E6FFF"/>
                </a:solidFill>
                <a:latin typeface="微软雅黑"/>
              </a:rPr>
              <a:t>第五章　</a:t>
            </a:r>
            <a:r>
              <a:rPr sz="1800">
                <a:solidFill>
                  <a:srgbClr val="C9D8F0"/>
                </a:solidFill>
                <a:latin typeface="微软雅黑"/>
              </a:rPr>
              <a:t>回顾与升级：从第一轮激励到第二轮激励</a:t>
            </a:r>
          </a:p>
          <a:p>
            <a:pPr>
              <a:lnSpc>
                <a:spcPct val="110000"/>
              </a:lnSpc>
              <a:spcAft>
                <a:spcPts val="1200"/>
              </a:spcAft>
            </a:pPr>
            <a:r>
              <a:rPr sz="1800" b="1">
                <a:solidFill>
                  <a:srgbClr val="1E6FFF"/>
                </a:solidFill>
                <a:latin typeface="微软雅黑"/>
              </a:rPr>
              <a:t>第六章　</a:t>
            </a:r>
            <a:r>
              <a:rPr sz="1800">
                <a:solidFill>
                  <a:srgbClr val="C9D8F0"/>
                </a:solidFill>
                <a:latin typeface="微软雅黑"/>
              </a:rPr>
              <a:t>从组织到人，从人到生命：我们为什么在一起</a:t>
            </a:r>
          </a:p>
          <a:p>
            <a:pPr>
              <a:lnSpc>
                <a:spcPct val="110000"/>
              </a:lnSpc>
              <a:spcAft>
                <a:spcPts val="1200"/>
              </a:spcAft>
            </a:pPr>
            <a:r>
              <a:rPr sz="1800" b="1">
                <a:solidFill>
                  <a:srgbClr val="1E6FFF"/>
                </a:solidFill>
                <a:latin typeface="微软雅黑"/>
              </a:rPr>
              <a:t>第七章　</a:t>
            </a:r>
            <a:r>
              <a:rPr sz="1800">
                <a:solidFill>
                  <a:srgbClr val="C9D8F0"/>
                </a:solidFill>
                <a:latin typeface="微软雅黑"/>
              </a:rPr>
              <a:t>产品治理：留什么、谁来管、怎么干</a:t>
            </a:r>
          </a:p>
          <a:p>
            <a:pPr>
              <a:lnSpc>
                <a:spcPct val="110000"/>
              </a:lnSpc>
              <a:spcAft>
                <a:spcPts val="1200"/>
              </a:spcAft>
            </a:pPr>
            <a:r>
              <a:rPr sz="1800" b="1">
                <a:solidFill>
                  <a:srgbClr val="1E6FFF"/>
                </a:solidFill>
                <a:latin typeface="微软雅黑"/>
              </a:rPr>
              <a:t>第八章　</a:t>
            </a:r>
            <a:r>
              <a:rPr sz="1800">
                <a:solidFill>
                  <a:srgbClr val="C9D8F0"/>
                </a:solidFill>
                <a:latin typeface="微软雅黑"/>
              </a:rPr>
              <a:t>直面疑问 + 行动号召：与坚信者同行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6446520"/>
            <a:ext cx="11091672" cy="19050"/>
          </a:xfrm>
          <a:prstGeom prst="rect">
            <a:avLst/>
          </a:prstGeom>
          <a:solidFill>
            <a:srgbClr val="1E6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6473952"/>
            <a:ext cx="82296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8A9AB8"/>
                </a:solidFill>
                <a:latin typeface="微软雅黑"/>
              </a:rPr>
              <a:t>云基智慧工程股份有限公司 · 至诚重光 · 二次出发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155680" y="6473952"/>
            <a:ext cx="82296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000" b="0">
                <a:solidFill>
                  <a:srgbClr val="8A9AB8"/>
                </a:solidFill>
                <a:latin typeface="微软雅黑"/>
              </a:rPr>
              <a:t>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B3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48640" y="502920"/>
            <a:ext cx="82296" cy="777240"/>
          </a:xfrm>
          <a:prstGeom prst="rect">
            <a:avLst/>
          </a:prstGeom>
          <a:solidFill>
            <a:srgbClr val="1E6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77240" y="457200"/>
            <a:ext cx="1078992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800" b="1">
                <a:solidFill>
                  <a:srgbClr val="FFFFFF"/>
                </a:solidFill>
                <a:latin typeface="微软雅黑"/>
              </a:rPr>
              <a:t>为什么是现在？三个时间的交汇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325880"/>
            <a:ext cx="1060704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1">
                <a:solidFill>
                  <a:srgbClr val="F5B942"/>
                </a:solidFill>
                <a:latin typeface="微软雅黑"/>
              </a:rPr>
              <a:t>核心观点：行业拐点、政策窗口、公司转机三线交汇，窗口期不等人。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2148840"/>
            <a:ext cx="1060704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25000"/>
              </a:lnSpc>
              <a:spcAft>
                <a:spcPts val="1000"/>
              </a:spcAft>
            </a:pPr>
            <a:r>
              <a:rPr sz="1700" b="1">
                <a:solidFill>
                  <a:srgbClr val="F5B942"/>
                </a:solidFill>
              </a:rPr>
              <a:t>▸ </a:t>
            </a:r>
            <a:r>
              <a:rPr sz="1700">
                <a:solidFill>
                  <a:srgbClr val="C9D8F0"/>
                </a:solidFill>
                <a:latin typeface="微软雅黑"/>
              </a:rPr>
              <a:t>行业出清接近尾声，幸存者格局初现</a:t>
            </a:r>
          </a:p>
          <a:p>
            <a:pPr>
              <a:lnSpc>
                <a:spcPct val="125000"/>
              </a:lnSpc>
              <a:spcAft>
                <a:spcPts val="1000"/>
              </a:spcAft>
            </a:pPr>
            <a:r>
              <a:rPr sz="1700" b="1">
                <a:solidFill>
                  <a:srgbClr val="F5B942"/>
                </a:solidFill>
              </a:rPr>
              <a:t>▸ </a:t>
            </a:r>
            <a:r>
              <a:rPr sz="1700">
                <a:solidFill>
                  <a:srgbClr val="C9D8F0"/>
                </a:solidFill>
                <a:latin typeface="微软雅黑"/>
              </a:rPr>
              <a:t>“十五五”规划编制期，是抢占政策红利的关键12个月</a:t>
            </a:r>
          </a:p>
          <a:p>
            <a:pPr>
              <a:lnSpc>
                <a:spcPct val="125000"/>
              </a:lnSpc>
              <a:spcAft>
                <a:spcPts val="1000"/>
              </a:spcAft>
            </a:pPr>
            <a:r>
              <a:rPr sz="1700" b="1">
                <a:solidFill>
                  <a:srgbClr val="F5B942"/>
                </a:solidFill>
              </a:rPr>
              <a:t>▸ </a:t>
            </a:r>
            <a:r>
              <a:rPr sz="1700">
                <a:solidFill>
                  <a:srgbClr val="C9D8F0"/>
                </a:solidFill>
                <a:latin typeface="微软雅黑"/>
              </a:rPr>
              <a:t>公司新业务连续落地，现金流拐点已现【此处填入公司实际数据】</a:t>
            </a:r>
          </a:p>
          <a:p>
            <a:pPr>
              <a:lnSpc>
                <a:spcPct val="125000"/>
              </a:lnSpc>
              <a:spcAft>
                <a:spcPts val="1000"/>
              </a:spcAft>
            </a:pPr>
            <a:r>
              <a:rPr sz="1700" b="1">
                <a:solidFill>
                  <a:srgbClr val="F5B942"/>
                </a:solidFill>
              </a:rPr>
              <a:t>▸ </a:t>
            </a:r>
            <a:r>
              <a:rPr sz="1700">
                <a:solidFill>
                  <a:srgbClr val="C9D8F0"/>
                </a:solidFill>
                <a:latin typeface="微软雅黑"/>
              </a:rPr>
              <a:t>股权的价值在低谷播种、在高峰收获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5897880"/>
            <a:ext cx="1060704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>
                <a:solidFill>
                  <a:srgbClr val="8A9AB8"/>
                </a:solidFill>
                <a:latin typeface="微软雅黑"/>
              </a:rPr>
              <a:t>【视觉建议】三条曲线在当前时点交汇的时间轴图，交汇点高亮“NOW”。</a:t>
            </a:r>
          </a:p>
        </p:txBody>
      </p:sp>
      <p:sp>
        <p:nvSpPr>
          <p:cNvPr id="7" name="Rectangle 6"/>
          <p:cNvSpPr/>
          <p:nvPr/>
        </p:nvSpPr>
        <p:spPr>
          <a:xfrm>
            <a:off x="548640" y="6446520"/>
            <a:ext cx="11091672" cy="19050"/>
          </a:xfrm>
          <a:prstGeom prst="rect">
            <a:avLst/>
          </a:prstGeom>
          <a:solidFill>
            <a:srgbClr val="1E6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48640" y="6473952"/>
            <a:ext cx="82296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8A9AB8"/>
                </a:solidFill>
                <a:latin typeface="微软雅黑"/>
              </a:rPr>
              <a:t>云基智慧工程股份有限公司 · 至诚重光 · 二次出发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155680" y="6473952"/>
            <a:ext cx="82296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000" b="0">
                <a:solidFill>
                  <a:srgbClr val="8A9AB8"/>
                </a:solidFill>
                <a:latin typeface="微软雅黑"/>
              </a:rPr>
              <a:t>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B3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48640" y="502920"/>
            <a:ext cx="82296" cy="777240"/>
          </a:xfrm>
          <a:prstGeom prst="rect">
            <a:avLst/>
          </a:prstGeom>
          <a:solidFill>
            <a:srgbClr val="1E6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77240" y="457200"/>
            <a:ext cx="1078992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800" b="1">
                <a:solidFill>
                  <a:srgbClr val="FFFFFF"/>
                </a:solidFill>
                <a:latin typeface="微软雅黑"/>
              </a:rPr>
              <a:t>今天我们要回答的五个问题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325880"/>
            <a:ext cx="1060704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1">
                <a:solidFill>
                  <a:srgbClr val="F5B942"/>
                </a:solidFill>
                <a:latin typeface="微软雅黑"/>
              </a:rPr>
              <a:t>核心观点：员工心里的疑问，就是今天的议程。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2148840"/>
            <a:ext cx="1060704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25000"/>
              </a:lnSpc>
              <a:spcAft>
                <a:spcPts val="1000"/>
              </a:spcAft>
            </a:pPr>
            <a:r>
              <a:rPr sz="1700" b="1">
                <a:solidFill>
                  <a:srgbClr val="F5B942"/>
                </a:solidFill>
              </a:rPr>
              <a:t>▸ </a:t>
            </a:r>
            <a:r>
              <a:rPr sz="1700">
                <a:solidFill>
                  <a:srgbClr val="C9D8F0"/>
                </a:solidFill>
                <a:latin typeface="微软雅黑"/>
              </a:rPr>
              <a:t>公司真的能翻身吗？</a:t>
            </a:r>
          </a:p>
          <a:p>
            <a:pPr>
              <a:lnSpc>
                <a:spcPct val="125000"/>
              </a:lnSpc>
              <a:spcAft>
                <a:spcPts val="1000"/>
              </a:spcAft>
            </a:pPr>
            <a:r>
              <a:rPr sz="1700" b="1">
                <a:solidFill>
                  <a:srgbClr val="F5B942"/>
                </a:solidFill>
              </a:rPr>
              <a:t>▸ </a:t>
            </a:r>
            <a:r>
              <a:rPr sz="1700">
                <a:solidFill>
                  <a:srgbClr val="C9D8F0"/>
                </a:solidFill>
                <a:latin typeface="微软雅黑"/>
              </a:rPr>
              <a:t>这次激励和上次有什么不同？</a:t>
            </a:r>
          </a:p>
          <a:p>
            <a:pPr>
              <a:lnSpc>
                <a:spcPct val="125000"/>
              </a:lnSpc>
              <a:spcAft>
                <a:spcPts val="1000"/>
              </a:spcAft>
            </a:pPr>
            <a:r>
              <a:rPr sz="1700" b="1">
                <a:solidFill>
                  <a:srgbClr val="F5B942"/>
                </a:solidFill>
              </a:rPr>
              <a:t>▸ </a:t>
            </a:r>
            <a:r>
              <a:rPr sz="1700">
                <a:solidFill>
                  <a:srgbClr val="C9D8F0"/>
                </a:solidFill>
                <a:latin typeface="微软雅黑"/>
              </a:rPr>
              <a:t>离职同事的份额怎么处理？</a:t>
            </a:r>
          </a:p>
          <a:p>
            <a:pPr>
              <a:lnSpc>
                <a:spcPct val="125000"/>
              </a:lnSpc>
              <a:spcAft>
                <a:spcPts val="1000"/>
              </a:spcAft>
            </a:pPr>
            <a:r>
              <a:rPr sz="1700" b="1">
                <a:solidFill>
                  <a:srgbClr val="F5B942"/>
                </a:solidFill>
              </a:rPr>
              <a:t>▸ </a:t>
            </a:r>
            <a:r>
              <a:rPr sz="1700">
                <a:solidFill>
                  <a:srgbClr val="C9D8F0"/>
                </a:solidFill>
                <a:latin typeface="微软雅黑"/>
              </a:rPr>
              <a:t>我投入的钱和心血值不值？</a:t>
            </a:r>
          </a:p>
          <a:p>
            <a:pPr>
              <a:lnSpc>
                <a:spcPct val="125000"/>
              </a:lnSpc>
              <a:spcAft>
                <a:spcPts val="1000"/>
              </a:spcAft>
            </a:pPr>
            <a:r>
              <a:rPr sz="1700" b="1">
                <a:solidFill>
                  <a:srgbClr val="F5B942"/>
                </a:solidFill>
              </a:rPr>
              <a:t>▸ </a:t>
            </a:r>
            <a:r>
              <a:rPr sz="1700">
                <a:solidFill>
                  <a:srgbClr val="C9D8F0"/>
                </a:solidFill>
                <a:latin typeface="微软雅黑"/>
              </a:rPr>
              <a:t>公司到底要干什么、留什么、谁来干？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5897880"/>
            <a:ext cx="1060704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>
                <a:solidFill>
                  <a:srgbClr val="8A9AB8"/>
                </a:solidFill>
                <a:latin typeface="微软雅黑"/>
              </a:rPr>
              <a:t>【视觉建议】五个问号卡片矩阵，科技蓝描边。</a:t>
            </a:r>
          </a:p>
        </p:txBody>
      </p:sp>
      <p:sp>
        <p:nvSpPr>
          <p:cNvPr id="7" name="Rectangle 6"/>
          <p:cNvSpPr/>
          <p:nvPr/>
        </p:nvSpPr>
        <p:spPr>
          <a:xfrm>
            <a:off x="548640" y="6446520"/>
            <a:ext cx="11091672" cy="19050"/>
          </a:xfrm>
          <a:prstGeom prst="rect">
            <a:avLst/>
          </a:prstGeom>
          <a:solidFill>
            <a:srgbClr val="1E6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48640" y="6473952"/>
            <a:ext cx="82296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8A9AB8"/>
                </a:solidFill>
                <a:latin typeface="微软雅黑"/>
              </a:rPr>
              <a:t>云基智慧工程股份有限公司 · 至诚重光 · 二次出发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155680" y="6473952"/>
            <a:ext cx="82296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000" b="0">
                <a:solidFill>
                  <a:srgbClr val="8A9AB8"/>
                </a:solidFill>
                <a:latin typeface="微软雅黑"/>
              </a:rPr>
              <a:t>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B3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48640" y="502920"/>
            <a:ext cx="82296" cy="777240"/>
          </a:xfrm>
          <a:prstGeom prst="rect">
            <a:avLst/>
          </a:prstGeom>
          <a:solidFill>
            <a:srgbClr val="1E6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77240" y="457200"/>
            <a:ext cx="1078992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800" b="1">
                <a:solidFill>
                  <a:srgbClr val="FFFFFF"/>
                </a:solidFill>
                <a:latin typeface="微软雅黑"/>
              </a:rPr>
              <a:t>我们的回答方式：至诚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325880"/>
            <a:ext cx="1060704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1">
                <a:solidFill>
                  <a:srgbClr val="F5B942"/>
                </a:solidFill>
                <a:latin typeface="微软雅黑"/>
              </a:rPr>
              <a:t>核心观点：至诚，就是不回避、不粉饰、拿事实说话。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2148840"/>
            <a:ext cx="1060704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25000"/>
              </a:lnSpc>
              <a:spcAft>
                <a:spcPts val="1000"/>
              </a:spcAft>
            </a:pPr>
            <a:r>
              <a:rPr sz="1700" b="1">
                <a:solidFill>
                  <a:srgbClr val="F5B942"/>
                </a:solidFill>
              </a:rPr>
              <a:t>▸ </a:t>
            </a:r>
            <a:r>
              <a:rPr sz="1700">
                <a:solidFill>
                  <a:srgbClr val="C9D8F0"/>
                </a:solidFill>
                <a:latin typeface="微软雅黑"/>
              </a:rPr>
              <a:t>今天所有数据可查、可问、可质疑</a:t>
            </a:r>
          </a:p>
          <a:p>
            <a:pPr>
              <a:lnSpc>
                <a:spcPct val="125000"/>
              </a:lnSpc>
              <a:spcAft>
                <a:spcPts val="1000"/>
              </a:spcAft>
            </a:pPr>
            <a:r>
              <a:rPr sz="1700" b="1">
                <a:solidFill>
                  <a:srgbClr val="F5B942"/>
                </a:solidFill>
              </a:rPr>
              <a:t>▸ </a:t>
            </a:r>
            <a:r>
              <a:rPr sz="1700">
                <a:solidFill>
                  <a:srgbClr val="C9D8F0"/>
                </a:solidFill>
                <a:latin typeface="微软雅黑"/>
              </a:rPr>
              <a:t>讲成绩也讲教训</a:t>
            </a:r>
          </a:p>
          <a:p>
            <a:pPr>
              <a:lnSpc>
                <a:spcPct val="125000"/>
              </a:lnSpc>
              <a:spcAft>
                <a:spcPts val="1000"/>
              </a:spcAft>
            </a:pPr>
            <a:r>
              <a:rPr sz="1700" b="1">
                <a:solidFill>
                  <a:srgbClr val="F5B942"/>
                </a:solidFill>
              </a:rPr>
              <a:t>▸ </a:t>
            </a:r>
            <a:r>
              <a:rPr sz="1700">
                <a:solidFill>
                  <a:srgbClr val="C9D8F0"/>
                </a:solidFill>
                <a:latin typeface="微软雅黑"/>
              </a:rPr>
              <a:t>“行正道，造市场，做事业，过好日子”是判断一切的标尺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5897880"/>
            <a:ext cx="1060704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>
                <a:solidFill>
                  <a:srgbClr val="8A9AB8"/>
                </a:solidFill>
                <a:latin typeface="微软雅黑"/>
              </a:rPr>
              <a:t>【视觉建议】书法体“至诚”二字居中，四句理念环绕，深色底金色字。</a:t>
            </a:r>
          </a:p>
        </p:txBody>
      </p:sp>
      <p:sp>
        <p:nvSpPr>
          <p:cNvPr id="7" name="Rectangle 6"/>
          <p:cNvSpPr/>
          <p:nvPr/>
        </p:nvSpPr>
        <p:spPr>
          <a:xfrm>
            <a:off x="548640" y="6446520"/>
            <a:ext cx="11091672" cy="19050"/>
          </a:xfrm>
          <a:prstGeom prst="rect">
            <a:avLst/>
          </a:prstGeom>
          <a:solidFill>
            <a:srgbClr val="1E6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48640" y="6473952"/>
            <a:ext cx="82296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8A9AB8"/>
                </a:solidFill>
                <a:latin typeface="微软雅黑"/>
              </a:rPr>
              <a:t>云基智慧工程股份有限公司 · 至诚重光 · 二次出发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155680" y="6473952"/>
            <a:ext cx="82296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000" b="0">
                <a:solidFill>
                  <a:srgbClr val="8A9AB8"/>
                </a:solidFill>
                <a:latin typeface="微软雅黑"/>
              </a:rPr>
              <a:t>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B3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1097280" y="2788920"/>
            <a:ext cx="2926080" cy="25400"/>
          </a:xfrm>
          <a:prstGeom prst="rect">
            <a:avLst/>
          </a:prstGeom>
          <a:solidFill>
            <a:srgbClr val="F5B9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097280" y="1645920"/>
            <a:ext cx="1005840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200" b="1">
                <a:solidFill>
                  <a:srgbClr val="1E6FFF"/>
                </a:solidFill>
                <a:latin typeface="微软雅黑"/>
              </a:rPr>
              <a:t>第一章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97280" y="2971800"/>
            <a:ext cx="10515600" cy="1463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3800" b="1">
                <a:solidFill>
                  <a:srgbClr val="FFFFFF"/>
                </a:solidFill>
                <a:latin typeface="微软雅黑"/>
              </a:rPr>
              <a:t>至暗时刻：我们坦诚面对的两年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7280" y="4480560"/>
            <a:ext cx="1005840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600" b="0">
                <a:solidFill>
                  <a:srgbClr val="C9D8F0"/>
                </a:solidFill>
                <a:latin typeface="微软雅黑"/>
              </a:rPr>
              <a:t>不敢直面过去的组织，不配谈论未来。</a:t>
            </a:r>
          </a:p>
        </p:txBody>
      </p:sp>
      <p:sp>
        <p:nvSpPr>
          <p:cNvPr id="6" name="Rectangle 5"/>
          <p:cNvSpPr/>
          <p:nvPr/>
        </p:nvSpPr>
        <p:spPr>
          <a:xfrm>
            <a:off x="548640" y="6446520"/>
            <a:ext cx="11091672" cy="19050"/>
          </a:xfrm>
          <a:prstGeom prst="rect">
            <a:avLst/>
          </a:prstGeom>
          <a:solidFill>
            <a:srgbClr val="1E6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48640" y="6473952"/>
            <a:ext cx="82296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8A9AB8"/>
                </a:solidFill>
                <a:latin typeface="微软雅黑"/>
              </a:rPr>
              <a:t>云基智慧工程股份有限公司 · 至诚重光 · 二次出发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155680" y="6473952"/>
            <a:ext cx="82296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000" b="0">
                <a:solidFill>
                  <a:srgbClr val="8A9AB8"/>
                </a:solidFill>
                <a:latin typeface="微软雅黑"/>
              </a:rPr>
              <a:t>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B3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48640" y="502920"/>
            <a:ext cx="82296" cy="777240"/>
          </a:xfrm>
          <a:prstGeom prst="rect">
            <a:avLst/>
          </a:prstGeom>
          <a:solidFill>
            <a:srgbClr val="1E6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77240" y="457200"/>
            <a:ext cx="1078992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800" b="1">
                <a:solidFill>
                  <a:srgbClr val="FFFFFF"/>
                </a:solidFill>
                <a:latin typeface="微软雅黑"/>
              </a:rPr>
              <a:t>数据不说谎：2024–2025我们经历了什么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325880"/>
            <a:ext cx="1060704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1">
                <a:solidFill>
                  <a:srgbClr val="F5B942"/>
                </a:solidFill>
                <a:latin typeface="微软雅黑"/>
              </a:rPr>
              <a:t>核心观点：营收减半、业务缩减、人员精简，这就是事实。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2148840"/>
            <a:ext cx="1060704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25000"/>
              </a:lnSpc>
              <a:spcAft>
                <a:spcPts val="1000"/>
              </a:spcAft>
            </a:pPr>
            <a:r>
              <a:rPr sz="1700" b="1">
                <a:solidFill>
                  <a:srgbClr val="F5B942"/>
                </a:solidFill>
              </a:rPr>
              <a:t>▸ </a:t>
            </a:r>
            <a:r>
              <a:rPr sz="1700">
                <a:solidFill>
                  <a:srgbClr val="C9D8F0"/>
                </a:solidFill>
                <a:latin typeface="微软雅黑"/>
              </a:rPr>
              <a:t>营收从【X】降至【X】，降幅约50%【此处填入公司实际数据】</a:t>
            </a:r>
          </a:p>
          <a:p>
            <a:pPr>
              <a:lnSpc>
                <a:spcPct val="125000"/>
              </a:lnSpc>
              <a:spcAft>
                <a:spcPts val="1000"/>
              </a:spcAft>
            </a:pPr>
            <a:r>
              <a:rPr sz="1700" b="1">
                <a:solidFill>
                  <a:srgbClr val="F5B942"/>
                </a:solidFill>
              </a:rPr>
              <a:t>▸ </a:t>
            </a:r>
            <a:r>
              <a:rPr sz="1700">
                <a:solidFill>
                  <a:srgbClr val="C9D8F0"/>
                </a:solidFill>
                <a:latin typeface="微软雅黑"/>
              </a:rPr>
              <a:t>传统业务合同额缩减【X】%</a:t>
            </a:r>
          </a:p>
          <a:p>
            <a:pPr>
              <a:lnSpc>
                <a:spcPct val="125000"/>
              </a:lnSpc>
              <a:spcAft>
                <a:spcPts val="1000"/>
              </a:spcAft>
            </a:pPr>
            <a:r>
              <a:rPr sz="1700" b="1">
                <a:solidFill>
                  <a:srgbClr val="F5B942"/>
                </a:solidFill>
              </a:rPr>
              <a:t>▸ </a:t>
            </a:r>
            <a:r>
              <a:rPr sz="1700">
                <a:solidFill>
                  <a:srgbClr val="C9D8F0"/>
                </a:solidFill>
                <a:latin typeface="微软雅黑"/>
              </a:rPr>
              <a:t>人员规模从【X】人调整至【X】人</a:t>
            </a:r>
          </a:p>
          <a:p>
            <a:pPr>
              <a:lnSpc>
                <a:spcPct val="125000"/>
              </a:lnSpc>
              <a:spcAft>
                <a:spcPts val="1000"/>
              </a:spcAft>
            </a:pPr>
            <a:r>
              <a:rPr sz="1700" b="1">
                <a:solidFill>
                  <a:srgbClr val="F5B942"/>
                </a:solidFill>
              </a:rPr>
              <a:t>▸ </a:t>
            </a:r>
            <a:r>
              <a:rPr sz="1700">
                <a:solidFill>
                  <a:srgbClr val="C9D8F0"/>
                </a:solidFill>
                <a:latin typeface="微软雅黑"/>
              </a:rPr>
              <a:t>行业大盘同步下行的对照数据（说明是系统性风险，非独家溃败）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5897880"/>
            <a:ext cx="1060704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>
                <a:solidFill>
                  <a:srgbClr val="8A9AB8"/>
                </a:solidFill>
                <a:latin typeface="微软雅黑"/>
              </a:rPr>
              <a:t>【视觉建议】双柱对比图（公司vs行业），冷灰色调。</a:t>
            </a:r>
          </a:p>
        </p:txBody>
      </p:sp>
      <p:sp>
        <p:nvSpPr>
          <p:cNvPr id="7" name="Rectangle 6"/>
          <p:cNvSpPr/>
          <p:nvPr/>
        </p:nvSpPr>
        <p:spPr>
          <a:xfrm>
            <a:off x="548640" y="6446520"/>
            <a:ext cx="11091672" cy="19050"/>
          </a:xfrm>
          <a:prstGeom prst="rect">
            <a:avLst/>
          </a:prstGeom>
          <a:solidFill>
            <a:srgbClr val="1E6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48640" y="6473952"/>
            <a:ext cx="82296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8A9AB8"/>
                </a:solidFill>
                <a:latin typeface="微软雅黑"/>
              </a:rPr>
              <a:t>云基智慧工程股份有限公司 · 至诚重光 · 二次出发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155680" y="6473952"/>
            <a:ext cx="82296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000" b="0">
                <a:solidFill>
                  <a:srgbClr val="8A9AB8"/>
                </a:solidFill>
                <a:latin typeface="微软雅黑"/>
              </a:rPr>
              <a:t>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B3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48640" y="502920"/>
            <a:ext cx="82296" cy="777240"/>
          </a:xfrm>
          <a:prstGeom prst="rect">
            <a:avLst/>
          </a:prstGeom>
          <a:solidFill>
            <a:srgbClr val="1E6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77240" y="457200"/>
            <a:ext cx="1078992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800" b="1">
                <a:solidFill>
                  <a:srgbClr val="FFFFFF"/>
                </a:solidFill>
                <a:latin typeface="微软雅黑"/>
              </a:rPr>
              <a:t>我们做错了什么：三条教训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325880"/>
            <a:ext cx="1060704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1">
                <a:solidFill>
                  <a:srgbClr val="F5B942"/>
                </a:solidFill>
                <a:latin typeface="微软雅黑"/>
              </a:rPr>
              <a:t>核心观点：下行周期放大了我们自身的问题，承认它才能超越它。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2148840"/>
            <a:ext cx="1060704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25000"/>
              </a:lnSpc>
              <a:spcAft>
                <a:spcPts val="1000"/>
              </a:spcAft>
            </a:pPr>
            <a:r>
              <a:rPr sz="1700" b="1">
                <a:solidFill>
                  <a:srgbClr val="F5B942"/>
                </a:solidFill>
              </a:rPr>
              <a:t>▸ </a:t>
            </a:r>
            <a:r>
              <a:rPr sz="1700">
                <a:solidFill>
                  <a:srgbClr val="C9D8F0"/>
                </a:solidFill>
                <a:latin typeface="微软雅黑"/>
              </a:rPr>
              <a:t>业务结构单一，过度依赖传统市场</a:t>
            </a:r>
          </a:p>
          <a:p>
            <a:pPr>
              <a:lnSpc>
                <a:spcPct val="125000"/>
              </a:lnSpc>
              <a:spcAft>
                <a:spcPts val="1000"/>
              </a:spcAft>
            </a:pPr>
            <a:r>
              <a:rPr sz="1700" b="1">
                <a:solidFill>
                  <a:srgbClr val="F5B942"/>
                </a:solidFill>
              </a:rPr>
              <a:t>▸ </a:t>
            </a:r>
            <a:r>
              <a:rPr sz="1700">
                <a:solidFill>
                  <a:srgbClr val="C9D8F0"/>
                </a:solidFill>
                <a:latin typeface="微软雅黑"/>
              </a:rPr>
              <a:t>产品线过宽、资源分散，未及时聚焦</a:t>
            </a:r>
          </a:p>
          <a:p>
            <a:pPr>
              <a:lnSpc>
                <a:spcPct val="125000"/>
              </a:lnSpc>
              <a:spcAft>
                <a:spcPts val="1000"/>
              </a:spcAft>
            </a:pPr>
            <a:r>
              <a:rPr sz="1700" b="1">
                <a:solidFill>
                  <a:srgbClr val="F5B942"/>
                </a:solidFill>
              </a:rPr>
              <a:t>▸ </a:t>
            </a:r>
            <a:r>
              <a:rPr sz="1700">
                <a:solidFill>
                  <a:srgbClr val="C9D8F0"/>
                </a:solidFill>
                <a:latin typeface="微软雅黑"/>
              </a:rPr>
              <a:t>组织响应变革的速度慢于市场变化【结合公司实际归纳】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5897880"/>
            <a:ext cx="1060704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>
                <a:solidFill>
                  <a:srgbClr val="8A9AB8"/>
                </a:solidFill>
                <a:latin typeface="微软雅黑"/>
              </a:rPr>
              <a:t>【视觉建议】三块裂纹石碑图标，每条教训对应一块。</a:t>
            </a:r>
          </a:p>
        </p:txBody>
      </p:sp>
      <p:sp>
        <p:nvSpPr>
          <p:cNvPr id="7" name="Rectangle 6"/>
          <p:cNvSpPr/>
          <p:nvPr/>
        </p:nvSpPr>
        <p:spPr>
          <a:xfrm>
            <a:off x="548640" y="6446520"/>
            <a:ext cx="11091672" cy="19050"/>
          </a:xfrm>
          <a:prstGeom prst="rect">
            <a:avLst/>
          </a:prstGeom>
          <a:solidFill>
            <a:srgbClr val="1E6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48640" y="6473952"/>
            <a:ext cx="82296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8A9AB8"/>
                </a:solidFill>
                <a:latin typeface="微软雅黑"/>
              </a:rPr>
              <a:t>云基智慧工程股份有限公司 · 至诚重光 · 二次出发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155680" y="6473952"/>
            <a:ext cx="82296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000" b="0">
                <a:solidFill>
                  <a:srgbClr val="8A9AB8"/>
                </a:solidFill>
                <a:latin typeface="微软雅黑"/>
              </a:rPr>
              <a:t>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B3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48640" y="502920"/>
            <a:ext cx="82296" cy="777240"/>
          </a:xfrm>
          <a:prstGeom prst="rect">
            <a:avLst/>
          </a:prstGeom>
          <a:solidFill>
            <a:srgbClr val="1E6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77240" y="457200"/>
            <a:ext cx="1078992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800" b="1">
                <a:solidFill>
                  <a:srgbClr val="FFFFFF"/>
                </a:solidFill>
                <a:latin typeface="微软雅黑"/>
              </a:rPr>
              <a:t>我们做对了什么：守住的三样东西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325880"/>
            <a:ext cx="1060704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1">
                <a:solidFill>
                  <a:srgbClr val="F5B942"/>
                </a:solidFill>
                <a:latin typeface="微软雅黑"/>
              </a:rPr>
              <a:t>核心观点：至暗时刻守住的，恰是二次出发的本钱。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2148840"/>
            <a:ext cx="1060704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25000"/>
              </a:lnSpc>
              <a:spcAft>
                <a:spcPts val="1000"/>
              </a:spcAft>
            </a:pPr>
            <a:r>
              <a:rPr sz="1700" b="1">
                <a:solidFill>
                  <a:srgbClr val="F5B942"/>
                </a:solidFill>
              </a:rPr>
              <a:t>▸ </a:t>
            </a:r>
            <a:r>
              <a:rPr sz="1700">
                <a:solidFill>
                  <a:srgbClr val="C9D8F0"/>
                </a:solidFill>
                <a:latin typeface="微软雅黑"/>
              </a:rPr>
              <a:t>守住核心技术——玄镜三维BIM图形平台自主可控</a:t>
            </a:r>
          </a:p>
          <a:p>
            <a:pPr>
              <a:lnSpc>
                <a:spcPct val="125000"/>
              </a:lnSpc>
              <a:spcAft>
                <a:spcPts val="1000"/>
              </a:spcAft>
            </a:pPr>
            <a:r>
              <a:rPr sz="1700" b="1">
                <a:solidFill>
                  <a:srgbClr val="F5B942"/>
                </a:solidFill>
              </a:rPr>
              <a:t>▸ </a:t>
            </a:r>
            <a:r>
              <a:rPr sz="1700">
                <a:solidFill>
                  <a:srgbClr val="C9D8F0"/>
                </a:solidFill>
                <a:latin typeface="微软雅黑"/>
              </a:rPr>
              <a:t>守住核心团队——关键技术骨干保留率【X】%【此处填入实际数据】</a:t>
            </a:r>
          </a:p>
          <a:p>
            <a:pPr>
              <a:lnSpc>
                <a:spcPct val="125000"/>
              </a:lnSpc>
              <a:spcAft>
                <a:spcPts val="1000"/>
              </a:spcAft>
            </a:pPr>
            <a:r>
              <a:rPr sz="1700" b="1">
                <a:solidFill>
                  <a:srgbClr val="F5B942"/>
                </a:solidFill>
              </a:rPr>
              <a:t>▸ </a:t>
            </a:r>
            <a:r>
              <a:rPr sz="1700">
                <a:solidFill>
                  <a:srgbClr val="C9D8F0"/>
                </a:solidFill>
                <a:latin typeface="微软雅黑"/>
              </a:rPr>
              <a:t>守住信用底线——未拖欠工资/社保/供应商款项【按实际情况调整】</a:t>
            </a:r>
          </a:p>
          <a:p>
            <a:pPr>
              <a:lnSpc>
                <a:spcPct val="125000"/>
              </a:lnSpc>
              <a:spcAft>
                <a:spcPts val="1000"/>
              </a:spcAft>
            </a:pPr>
            <a:r>
              <a:rPr sz="1700" b="1">
                <a:solidFill>
                  <a:srgbClr val="F5B942"/>
                </a:solidFill>
              </a:rPr>
              <a:t>▸ </a:t>
            </a:r>
            <a:r>
              <a:rPr sz="1700">
                <a:solidFill>
                  <a:srgbClr val="C9D8F0"/>
                </a:solidFill>
                <a:latin typeface="微软雅黑"/>
              </a:rPr>
              <a:t>守住资质招牌——国家高新、交通运输部BIM行业研发中心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5897880"/>
            <a:ext cx="1060704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>
                <a:solidFill>
                  <a:srgbClr val="8A9AB8"/>
                </a:solidFill>
                <a:latin typeface="微软雅黑"/>
              </a:rPr>
              <a:t>【视觉建议】黑暗中四盏灯的意象图，每盏灯对应一项。</a:t>
            </a:r>
          </a:p>
        </p:txBody>
      </p:sp>
      <p:sp>
        <p:nvSpPr>
          <p:cNvPr id="7" name="Rectangle 6"/>
          <p:cNvSpPr/>
          <p:nvPr/>
        </p:nvSpPr>
        <p:spPr>
          <a:xfrm>
            <a:off x="548640" y="6446520"/>
            <a:ext cx="11091672" cy="19050"/>
          </a:xfrm>
          <a:prstGeom prst="rect">
            <a:avLst/>
          </a:prstGeom>
          <a:solidFill>
            <a:srgbClr val="1E6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48640" y="6473952"/>
            <a:ext cx="82296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8A9AB8"/>
                </a:solidFill>
                <a:latin typeface="微软雅黑"/>
              </a:rPr>
              <a:t>云基智慧工程股份有限公司 · 至诚重光 · 二次出发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155680" y="6473952"/>
            <a:ext cx="82296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000" b="0">
                <a:solidFill>
                  <a:srgbClr val="8A9AB8"/>
                </a:solidFill>
                <a:latin typeface="微软雅黑"/>
              </a:rPr>
              <a:t>9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B3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48640" y="502920"/>
            <a:ext cx="82296" cy="777240"/>
          </a:xfrm>
          <a:prstGeom prst="rect">
            <a:avLst/>
          </a:prstGeom>
          <a:solidFill>
            <a:srgbClr val="1E6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77240" y="457200"/>
            <a:ext cx="1078992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800" b="1">
                <a:solidFill>
                  <a:srgbClr val="FFFFFF"/>
                </a:solidFill>
                <a:latin typeface="微软雅黑"/>
              </a:rPr>
              <a:t>留下来的人：一组值得致敬的画像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325880"/>
            <a:ext cx="1060704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1">
                <a:solidFill>
                  <a:srgbClr val="F5B942"/>
                </a:solidFill>
                <a:latin typeface="微软雅黑"/>
              </a:rPr>
              <a:t>核心观点：今天在场的每一位，都是用行动投过票的人。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2148840"/>
            <a:ext cx="1060704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25000"/>
              </a:lnSpc>
              <a:spcAft>
                <a:spcPts val="1000"/>
              </a:spcAft>
            </a:pPr>
            <a:r>
              <a:rPr sz="1700" b="1">
                <a:solidFill>
                  <a:srgbClr val="F5B942"/>
                </a:solidFill>
              </a:rPr>
              <a:t>▸ </a:t>
            </a:r>
            <a:r>
              <a:rPr sz="1700">
                <a:solidFill>
                  <a:srgbClr val="C9D8F0"/>
                </a:solidFill>
                <a:latin typeface="微软雅黑"/>
              </a:rPr>
              <a:t>降薪/转岗仍坚守的同事案例（匿名化）</a:t>
            </a:r>
          </a:p>
          <a:p>
            <a:pPr>
              <a:lnSpc>
                <a:spcPct val="125000"/>
              </a:lnSpc>
              <a:spcAft>
                <a:spcPts val="1000"/>
              </a:spcAft>
            </a:pPr>
            <a:r>
              <a:rPr sz="1700" b="1">
                <a:solidFill>
                  <a:srgbClr val="F5B942"/>
                </a:solidFill>
              </a:rPr>
              <a:t>▸ </a:t>
            </a:r>
            <a:r>
              <a:rPr sz="1700">
                <a:solidFill>
                  <a:srgbClr val="C9D8F0"/>
                </a:solidFill>
                <a:latin typeface="微软雅黑"/>
              </a:rPr>
              <a:t>主动学习AI工具转型的同事案例</a:t>
            </a:r>
          </a:p>
          <a:p>
            <a:pPr>
              <a:lnSpc>
                <a:spcPct val="125000"/>
              </a:lnSpc>
              <a:spcAft>
                <a:spcPts val="1000"/>
              </a:spcAft>
            </a:pPr>
            <a:r>
              <a:rPr sz="1700" b="1">
                <a:solidFill>
                  <a:srgbClr val="F5B942"/>
                </a:solidFill>
              </a:rPr>
              <a:t>▸ </a:t>
            </a:r>
            <a:r>
              <a:rPr sz="1700">
                <a:solidFill>
                  <a:srgbClr val="C9D8F0"/>
                </a:solidFill>
                <a:latin typeface="微软雅黑"/>
              </a:rPr>
              <a:t>老员工带新业务的案例【此处填入真实故事】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5897880"/>
            <a:ext cx="1060704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>
                <a:solidFill>
                  <a:srgbClr val="8A9AB8"/>
                </a:solidFill>
                <a:latin typeface="微软雅黑"/>
              </a:rPr>
              <a:t>【视觉建议】剪影人物墙+简短引言气泡，暖光点缀。</a:t>
            </a:r>
          </a:p>
        </p:txBody>
      </p:sp>
      <p:sp>
        <p:nvSpPr>
          <p:cNvPr id="7" name="Rectangle 6"/>
          <p:cNvSpPr/>
          <p:nvPr/>
        </p:nvSpPr>
        <p:spPr>
          <a:xfrm>
            <a:off x="548640" y="6446520"/>
            <a:ext cx="11091672" cy="19050"/>
          </a:xfrm>
          <a:prstGeom prst="rect">
            <a:avLst/>
          </a:prstGeom>
          <a:solidFill>
            <a:srgbClr val="1E6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48640" y="6473952"/>
            <a:ext cx="82296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8A9AB8"/>
                </a:solidFill>
                <a:latin typeface="微软雅黑"/>
              </a:rPr>
              <a:t>云基智慧工程股份有限公司 · 至诚重光 · 二次出发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155680" y="6473952"/>
            <a:ext cx="82296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000" b="0">
                <a:solidFill>
                  <a:srgbClr val="8A9AB8"/>
                </a:solidFill>
                <a:latin typeface="微软雅黑"/>
              </a:rPr>
              <a:t>10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B3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1097280" y="2788920"/>
            <a:ext cx="2926080" cy="25400"/>
          </a:xfrm>
          <a:prstGeom prst="rect">
            <a:avLst/>
          </a:prstGeom>
          <a:solidFill>
            <a:srgbClr val="F5B9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097280" y="1645920"/>
            <a:ext cx="1005840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200" b="1">
                <a:solidFill>
                  <a:srgbClr val="1E6FFF"/>
                </a:solidFill>
                <a:latin typeface="微软雅黑"/>
              </a:rPr>
              <a:t>第二章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97280" y="2971800"/>
            <a:ext cx="10515600" cy="1463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3800" b="1">
                <a:solidFill>
                  <a:srgbClr val="FFFFFF"/>
                </a:solidFill>
                <a:latin typeface="微软雅黑"/>
              </a:rPr>
              <a:t>时代大势：“十五五”与“一网四化”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7280" y="4480560"/>
            <a:ext cx="1005840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600" b="0">
                <a:solidFill>
                  <a:srgbClr val="C9D8F0"/>
                </a:solidFill>
                <a:latin typeface="微软雅黑"/>
              </a:rPr>
              <a:t>这是交通运输行业未来五年最确定的顶层蓝图。</a:t>
            </a:r>
          </a:p>
        </p:txBody>
      </p:sp>
      <p:sp>
        <p:nvSpPr>
          <p:cNvPr id="6" name="Rectangle 5"/>
          <p:cNvSpPr/>
          <p:nvPr/>
        </p:nvSpPr>
        <p:spPr>
          <a:xfrm>
            <a:off x="548640" y="6446520"/>
            <a:ext cx="11091672" cy="19050"/>
          </a:xfrm>
          <a:prstGeom prst="rect">
            <a:avLst/>
          </a:prstGeom>
          <a:solidFill>
            <a:srgbClr val="1E6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48640" y="6473952"/>
            <a:ext cx="82296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8A9AB8"/>
                </a:solidFill>
                <a:latin typeface="微软雅黑"/>
              </a:rPr>
              <a:t>云基智慧工程股份有限公司 · 至诚重光 · 二次出发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155680" y="6473952"/>
            <a:ext cx="82296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000" b="0">
                <a:solidFill>
                  <a:srgbClr val="8A9AB8"/>
                </a:solidFill>
                <a:latin typeface="微软雅黑"/>
              </a:rPr>
              <a:t>11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B3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48640" y="502920"/>
            <a:ext cx="82296" cy="777240"/>
          </a:xfrm>
          <a:prstGeom prst="rect">
            <a:avLst/>
          </a:prstGeom>
          <a:solidFill>
            <a:srgbClr val="1E6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77240" y="457200"/>
            <a:ext cx="1078992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800" b="1">
                <a:solidFill>
                  <a:srgbClr val="FFFFFF"/>
                </a:solidFill>
                <a:latin typeface="微软雅黑"/>
              </a:rPr>
              <a:t>什么是“一网四化”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325880"/>
            <a:ext cx="1060704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1">
                <a:solidFill>
                  <a:srgbClr val="F5B942"/>
                </a:solidFill>
                <a:latin typeface="微软雅黑"/>
              </a:rPr>
              <a:t>核心观点：这是交通运输行业未来五年最确定的顶层蓝图。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2148840"/>
            <a:ext cx="1060704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25000"/>
              </a:lnSpc>
              <a:spcAft>
                <a:spcPts val="1000"/>
              </a:spcAft>
            </a:pPr>
            <a:r>
              <a:rPr sz="1700" b="1">
                <a:solidFill>
                  <a:srgbClr val="F5B942"/>
                </a:solidFill>
              </a:rPr>
              <a:t>▸ </a:t>
            </a:r>
            <a:r>
              <a:rPr sz="1700">
                <a:solidFill>
                  <a:srgbClr val="C9D8F0"/>
                </a:solidFill>
                <a:latin typeface="微软雅黑"/>
              </a:rPr>
              <a:t>一网：国家综合立体交通网</a:t>
            </a:r>
          </a:p>
          <a:p>
            <a:pPr>
              <a:lnSpc>
                <a:spcPct val="125000"/>
              </a:lnSpc>
              <a:spcAft>
                <a:spcPts val="1000"/>
              </a:spcAft>
            </a:pPr>
            <a:r>
              <a:rPr sz="1700" b="1">
                <a:solidFill>
                  <a:srgbClr val="F5B942"/>
                </a:solidFill>
              </a:rPr>
              <a:t>▸ </a:t>
            </a:r>
            <a:r>
              <a:rPr sz="1700">
                <a:solidFill>
                  <a:srgbClr val="C9D8F0"/>
                </a:solidFill>
                <a:latin typeface="微软雅黑"/>
              </a:rPr>
              <a:t>一体化融合——跨方式、跨区域的综合交通协同</a:t>
            </a:r>
          </a:p>
          <a:p>
            <a:pPr>
              <a:lnSpc>
                <a:spcPct val="125000"/>
              </a:lnSpc>
              <a:spcAft>
                <a:spcPts val="1000"/>
              </a:spcAft>
            </a:pPr>
            <a:r>
              <a:rPr sz="1700" b="1">
                <a:solidFill>
                  <a:srgbClr val="F5B942"/>
                </a:solidFill>
              </a:rPr>
              <a:t>▸ </a:t>
            </a:r>
            <a:r>
              <a:rPr sz="1700">
                <a:solidFill>
                  <a:srgbClr val="C9D8F0"/>
                </a:solidFill>
                <a:latin typeface="微软雅黑"/>
              </a:rPr>
              <a:t>安全化提升——基础设施全生命周期安全管控</a:t>
            </a:r>
          </a:p>
          <a:p>
            <a:pPr>
              <a:lnSpc>
                <a:spcPct val="125000"/>
              </a:lnSpc>
              <a:spcAft>
                <a:spcPts val="1000"/>
              </a:spcAft>
            </a:pPr>
            <a:r>
              <a:rPr sz="1700" b="1">
                <a:solidFill>
                  <a:srgbClr val="F5B942"/>
                </a:solidFill>
              </a:rPr>
              <a:t>▸ </a:t>
            </a:r>
            <a:r>
              <a:rPr sz="1700">
                <a:solidFill>
                  <a:srgbClr val="C9D8F0"/>
                </a:solidFill>
                <a:latin typeface="微软雅黑"/>
              </a:rPr>
              <a:t>数智化升级——BIM/数字孪生/AI全面渗透（与云基最直接相关）</a:t>
            </a:r>
          </a:p>
          <a:p>
            <a:pPr>
              <a:lnSpc>
                <a:spcPct val="125000"/>
              </a:lnSpc>
              <a:spcAft>
                <a:spcPts val="1000"/>
              </a:spcAft>
            </a:pPr>
            <a:r>
              <a:rPr sz="1700" b="1">
                <a:solidFill>
                  <a:srgbClr val="F5B942"/>
                </a:solidFill>
              </a:rPr>
              <a:t>▸ </a:t>
            </a:r>
            <a:r>
              <a:rPr sz="1700">
                <a:solidFill>
                  <a:srgbClr val="C9D8F0"/>
                </a:solidFill>
                <a:latin typeface="微软雅黑"/>
              </a:rPr>
              <a:t>绿色化转型——低碳建造与运营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5897880"/>
            <a:ext cx="1060704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>
                <a:solidFill>
                  <a:srgbClr val="8A9AB8"/>
                </a:solidFill>
                <a:latin typeface="微软雅黑"/>
              </a:rPr>
              <a:t>【视觉建议】中心“一网”+四象限“四化”的轮辐图，科技蓝配色。</a:t>
            </a:r>
          </a:p>
        </p:txBody>
      </p:sp>
      <p:sp>
        <p:nvSpPr>
          <p:cNvPr id="7" name="Rectangle 6"/>
          <p:cNvSpPr/>
          <p:nvPr/>
        </p:nvSpPr>
        <p:spPr>
          <a:xfrm>
            <a:off x="548640" y="6446520"/>
            <a:ext cx="11091672" cy="19050"/>
          </a:xfrm>
          <a:prstGeom prst="rect">
            <a:avLst/>
          </a:prstGeom>
          <a:solidFill>
            <a:srgbClr val="1E6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48640" y="6473952"/>
            <a:ext cx="82296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8A9AB8"/>
                </a:solidFill>
                <a:latin typeface="微软雅黑"/>
              </a:rPr>
              <a:t>云基智慧工程股份有限公司 · 至诚重光 · 二次出发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155680" y="6473952"/>
            <a:ext cx="82296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000" b="0">
                <a:solidFill>
                  <a:srgbClr val="8A9AB8"/>
                </a:solidFill>
                <a:latin typeface="微软雅黑"/>
              </a:rPr>
              <a:t>12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B3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48640" y="502920"/>
            <a:ext cx="82296" cy="777240"/>
          </a:xfrm>
          <a:prstGeom prst="rect">
            <a:avLst/>
          </a:prstGeom>
          <a:solidFill>
            <a:srgbClr val="1E6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77240" y="457200"/>
            <a:ext cx="1078992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800" b="1">
                <a:solidFill>
                  <a:srgbClr val="FFFFFF"/>
                </a:solidFill>
                <a:latin typeface="微软雅黑"/>
              </a:rPr>
              <a:t>市场有多大：政策带来的真金白银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325880"/>
            <a:ext cx="1060704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1">
                <a:solidFill>
                  <a:srgbClr val="F5B942"/>
                </a:solidFill>
                <a:latin typeface="微软雅黑"/>
              </a:rPr>
              <a:t>核心观点：数智化升级是四化中与云基关系最直接的赛道，且投资规模可观。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2148840"/>
            <a:ext cx="1060704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25000"/>
              </a:lnSpc>
              <a:spcAft>
                <a:spcPts val="1000"/>
              </a:spcAft>
            </a:pPr>
            <a:r>
              <a:rPr sz="1700" b="1">
                <a:solidFill>
                  <a:srgbClr val="F5B942"/>
                </a:solidFill>
              </a:rPr>
              <a:t>▸ </a:t>
            </a:r>
            <a:r>
              <a:rPr sz="1700">
                <a:solidFill>
                  <a:srgbClr val="C9D8F0"/>
                </a:solidFill>
                <a:latin typeface="微软雅黑"/>
              </a:rPr>
              <a:t>交通基础设施数字化转型升级相关投资规模【此处填入行业公开数据】</a:t>
            </a:r>
          </a:p>
          <a:p>
            <a:pPr>
              <a:lnSpc>
                <a:spcPct val="125000"/>
              </a:lnSpc>
              <a:spcAft>
                <a:spcPts val="1000"/>
              </a:spcAft>
            </a:pPr>
            <a:r>
              <a:rPr sz="1700" b="1">
                <a:solidFill>
                  <a:srgbClr val="F5B942"/>
                </a:solidFill>
              </a:rPr>
              <a:t>▸ </a:t>
            </a:r>
            <a:r>
              <a:rPr sz="1700">
                <a:solidFill>
                  <a:srgbClr val="C9D8F0"/>
                </a:solidFill>
                <a:latin typeface="微软雅黑"/>
              </a:rPr>
              <a:t>BIM/数字孪生在交通领域的渗透率提升空间</a:t>
            </a:r>
          </a:p>
          <a:p>
            <a:pPr>
              <a:lnSpc>
                <a:spcPct val="125000"/>
              </a:lnSpc>
              <a:spcAft>
                <a:spcPts val="1000"/>
              </a:spcAft>
            </a:pPr>
            <a:r>
              <a:rPr sz="1700" b="1">
                <a:solidFill>
                  <a:srgbClr val="F5B942"/>
                </a:solidFill>
              </a:rPr>
              <a:t>▸ </a:t>
            </a:r>
            <a:r>
              <a:rPr sz="1700">
                <a:solidFill>
                  <a:srgbClr val="C9D8F0"/>
                </a:solidFill>
                <a:latin typeface="微软雅黑"/>
              </a:rPr>
              <a:t>国产化替代政策对国产图形平台的倾斜【引用具体政策文号】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5897880"/>
            <a:ext cx="1060704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>
                <a:solidFill>
                  <a:srgbClr val="8A9AB8"/>
                </a:solidFill>
                <a:latin typeface="微软雅黑"/>
              </a:rPr>
              <a:t>【视觉建议】市场规模漏斗图：行业大盘→数智化细分→可触达市场（TAM/SAM/SOM）。</a:t>
            </a:r>
          </a:p>
        </p:txBody>
      </p:sp>
      <p:sp>
        <p:nvSpPr>
          <p:cNvPr id="7" name="Rectangle 6"/>
          <p:cNvSpPr/>
          <p:nvPr/>
        </p:nvSpPr>
        <p:spPr>
          <a:xfrm>
            <a:off x="548640" y="6446520"/>
            <a:ext cx="11091672" cy="19050"/>
          </a:xfrm>
          <a:prstGeom prst="rect">
            <a:avLst/>
          </a:prstGeom>
          <a:solidFill>
            <a:srgbClr val="1E6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48640" y="6473952"/>
            <a:ext cx="82296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8A9AB8"/>
                </a:solidFill>
                <a:latin typeface="微软雅黑"/>
              </a:rPr>
              <a:t>云基智慧工程股份有限公司 · 至诚重光 · 二次出发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155680" y="6473952"/>
            <a:ext cx="82296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000" b="0">
                <a:solidFill>
                  <a:srgbClr val="8A9AB8"/>
                </a:solidFill>
                <a:latin typeface="微软雅黑"/>
              </a:rPr>
              <a:t>13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B3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48640" y="502920"/>
            <a:ext cx="82296" cy="777240"/>
          </a:xfrm>
          <a:prstGeom prst="rect">
            <a:avLst/>
          </a:prstGeom>
          <a:solidFill>
            <a:srgbClr val="1E6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77240" y="457200"/>
            <a:ext cx="1078992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800" b="1">
                <a:solidFill>
                  <a:srgbClr val="FFFFFF"/>
                </a:solidFill>
                <a:latin typeface="微软雅黑"/>
              </a:rPr>
              <a:t>为什么这个机会属于云基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325880"/>
            <a:ext cx="1060704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1">
                <a:solidFill>
                  <a:srgbClr val="F5B942"/>
                </a:solidFill>
                <a:latin typeface="微软雅黑"/>
              </a:rPr>
              <a:t>核心观点：牌照+技术+场景，三重卡位，行业内稀缺。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2148840"/>
            <a:ext cx="1060704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25000"/>
              </a:lnSpc>
              <a:spcAft>
                <a:spcPts val="1000"/>
              </a:spcAft>
            </a:pPr>
            <a:r>
              <a:rPr sz="1700" b="1">
                <a:solidFill>
                  <a:srgbClr val="F5B942"/>
                </a:solidFill>
              </a:rPr>
              <a:t>▸ </a:t>
            </a:r>
            <a:r>
              <a:rPr sz="1700">
                <a:solidFill>
                  <a:srgbClr val="C9D8F0"/>
                </a:solidFill>
                <a:latin typeface="微软雅黑"/>
              </a:rPr>
              <a:t>身份卡位：交通运输部BIM行业研发中心</a:t>
            </a:r>
          </a:p>
          <a:p>
            <a:pPr>
              <a:lnSpc>
                <a:spcPct val="125000"/>
              </a:lnSpc>
              <a:spcAft>
                <a:spcPts val="1000"/>
              </a:spcAft>
            </a:pPr>
            <a:r>
              <a:rPr sz="1700" b="1">
                <a:solidFill>
                  <a:srgbClr val="F5B942"/>
                </a:solidFill>
              </a:rPr>
              <a:t>▸ </a:t>
            </a:r>
            <a:r>
              <a:rPr sz="1700">
                <a:solidFill>
                  <a:srgbClr val="C9D8F0"/>
                </a:solidFill>
                <a:latin typeface="微软雅黑"/>
              </a:rPr>
              <a:t>技术卡位：玄镜国产三维图形平台，自主可控符合国产化要求</a:t>
            </a:r>
          </a:p>
          <a:p>
            <a:pPr>
              <a:lnSpc>
                <a:spcPct val="125000"/>
              </a:lnSpc>
              <a:spcAft>
                <a:spcPts val="1000"/>
              </a:spcAft>
            </a:pPr>
            <a:r>
              <a:rPr sz="1700" b="1">
                <a:solidFill>
                  <a:srgbClr val="F5B942"/>
                </a:solidFill>
              </a:rPr>
              <a:t>▸ </a:t>
            </a:r>
            <a:r>
              <a:rPr sz="1700">
                <a:solidFill>
                  <a:srgbClr val="C9D8F0"/>
                </a:solidFill>
                <a:latin typeface="微软雅黑"/>
              </a:rPr>
              <a:t>场景卡位：多年交通工程行业积累的业务理解与客户关系</a:t>
            </a:r>
          </a:p>
          <a:p>
            <a:pPr>
              <a:lnSpc>
                <a:spcPct val="125000"/>
              </a:lnSpc>
              <a:spcAft>
                <a:spcPts val="1000"/>
              </a:spcAft>
            </a:pPr>
            <a:r>
              <a:rPr sz="1700" b="1">
                <a:solidFill>
                  <a:srgbClr val="F5B942"/>
                </a:solidFill>
              </a:rPr>
              <a:t>▸ </a:t>
            </a:r>
            <a:r>
              <a:rPr sz="1700">
                <a:solidFill>
                  <a:srgbClr val="C9D8F0"/>
                </a:solidFill>
                <a:latin typeface="微软雅黑"/>
              </a:rPr>
              <a:t>竞争格局：具备同等三重卡位的企业全国屈指可数【此处填入竞对分析】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5897880"/>
            <a:ext cx="1060704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>
                <a:solidFill>
                  <a:srgbClr val="8A9AB8"/>
                </a:solidFill>
                <a:latin typeface="微软雅黑"/>
              </a:rPr>
              <a:t>【视觉建议】三环韦恩图，交集处标“云基”。</a:t>
            </a:r>
          </a:p>
        </p:txBody>
      </p:sp>
      <p:sp>
        <p:nvSpPr>
          <p:cNvPr id="7" name="Rectangle 6"/>
          <p:cNvSpPr/>
          <p:nvPr/>
        </p:nvSpPr>
        <p:spPr>
          <a:xfrm>
            <a:off x="548640" y="6446520"/>
            <a:ext cx="11091672" cy="19050"/>
          </a:xfrm>
          <a:prstGeom prst="rect">
            <a:avLst/>
          </a:prstGeom>
          <a:solidFill>
            <a:srgbClr val="1E6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48640" y="6473952"/>
            <a:ext cx="82296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8A9AB8"/>
                </a:solidFill>
                <a:latin typeface="微软雅黑"/>
              </a:rPr>
              <a:t>云基智慧工程股份有限公司 · 至诚重光 · 二次出发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155680" y="6473952"/>
            <a:ext cx="82296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000" b="0">
                <a:solidFill>
                  <a:srgbClr val="8A9AB8"/>
                </a:solidFill>
                <a:latin typeface="微软雅黑"/>
              </a:rPr>
              <a:t>14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B3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48640" y="502920"/>
            <a:ext cx="82296" cy="777240"/>
          </a:xfrm>
          <a:prstGeom prst="rect">
            <a:avLst/>
          </a:prstGeom>
          <a:solidFill>
            <a:srgbClr val="1E6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77240" y="457200"/>
            <a:ext cx="1078992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800" b="1">
                <a:solidFill>
                  <a:srgbClr val="FFFFFF"/>
                </a:solidFill>
                <a:latin typeface="微软雅黑"/>
              </a:rPr>
              <a:t>窗口期的紧迫性：机会不等犹豫的人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325880"/>
            <a:ext cx="1060704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1">
                <a:solidFill>
                  <a:srgbClr val="F5B942"/>
                </a:solidFill>
                <a:latin typeface="微软雅黑"/>
              </a:rPr>
              <a:t>核心观点：十五五开局前12–18个月是卡位窗口，错过即出局。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2148840"/>
            <a:ext cx="1060704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25000"/>
              </a:lnSpc>
              <a:spcAft>
                <a:spcPts val="1000"/>
              </a:spcAft>
            </a:pPr>
            <a:r>
              <a:rPr sz="1700" b="1">
                <a:solidFill>
                  <a:srgbClr val="F5B942"/>
                </a:solidFill>
              </a:rPr>
              <a:t>▸ </a:t>
            </a:r>
            <a:r>
              <a:rPr sz="1700">
                <a:solidFill>
                  <a:srgbClr val="C9D8F0"/>
                </a:solidFill>
                <a:latin typeface="微软雅黑"/>
              </a:rPr>
              <a:t>各省实施方案编制时间表</a:t>
            </a:r>
          </a:p>
          <a:p>
            <a:pPr>
              <a:lnSpc>
                <a:spcPct val="125000"/>
              </a:lnSpc>
              <a:spcAft>
                <a:spcPts val="1000"/>
              </a:spcAft>
            </a:pPr>
            <a:r>
              <a:rPr sz="1700" b="1">
                <a:solidFill>
                  <a:srgbClr val="F5B942"/>
                </a:solidFill>
              </a:rPr>
              <a:t>▸ </a:t>
            </a:r>
            <a:r>
              <a:rPr sz="1700">
                <a:solidFill>
                  <a:srgbClr val="C9D8F0"/>
                </a:solidFill>
                <a:latin typeface="微软雅黑"/>
              </a:rPr>
              <a:t>示范项目申报节点</a:t>
            </a:r>
          </a:p>
          <a:p>
            <a:pPr>
              <a:lnSpc>
                <a:spcPct val="125000"/>
              </a:lnSpc>
              <a:spcAft>
                <a:spcPts val="1000"/>
              </a:spcAft>
            </a:pPr>
            <a:r>
              <a:rPr sz="1700" b="1">
                <a:solidFill>
                  <a:srgbClr val="F5B942"/>
                </a:solidFill>
              </a:rPr>
              <a:t>▸ </a:t>
            </a:r>
            <a:r>
              <a:rPr sz="1700">
                <a:solidFill>
                  <a:srgbClr val="C9D8F0"/>
                </a:solidFill>
                <a:latin typeface="微软雅黑"/>
              </a:rPr>
              <a:t>竞对动态【填入实际情报】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5897880"/>
            <a:ext cx="1060704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>
                <a:solidFill>
                  <a:srgbClr val="8A9AB8"/>
                </a:solidFill>
                <a:latin typeface="微软雅黑"/>
              </a:rPr>
              <a:t>【视觉建议】倒计时时间轴，关键节点红色标注。</a:t>
            </a:r>
          </a:p>
        </p:txBody>
      </p:sp>
      <p:sp>
        <p:nvSpPr>
          <p:cNvPr id="7" name="Rectangle 6"/>
          <p:cNvSpPr/>
          <p:nvPr/>
        </p:nvSpPr>
        <p:spPr>
          <a:xfrm>
            <a:off x="548640" y="6446520"/>
            <a:ext cx="11091672" cy="19050"/>
          </a:xfrm>
          <a:prstGeom prst="rect">
            <a:avLst/>
          </a:prstGeom>
          <a:solidFill>
            <a:srgbClr val="1E6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48640" y="6473952"/>
            <a:ext cx="82296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8A9AB8"/>
                </a:solidFill>
                <a:latin typeface="微软雅黑"/>
              </a:rPr>
              <a:t>云基智慧工程股份有限公司 · 至诚重光 · 二次出发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155680" y="6473952"/>
            <a:ext cx="82296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000" b="0">
                <a:solidFill>
                  <a:srgbClr val="8A9AB8"/>
                </a:solidFill>
                <a:latin typeface="微软雅黑"/>
              </a:rPr>
              <a:t>15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B3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1097280" y="2788920"/>
            <a:ext cx="2926080" cy="25400"/>
          </a:xfrm>
          <a:prstGeom prst="rect">
            <a:avLst/>
          </a:prstGeom>
          <a:solidFill>
            <a:srgbClr val="F5B9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097280" y="1645920"/>
            <a:ext cx="1005840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200" b="1">
                <a:solidFill>
                  <a:srgbClr val="1E6FFF"/>
                </a:solidFill>
                <a:latin typeface="微软雅黑"/>
              </a:rPr>
              <a:t>第三章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97280" y="2971800"/>
            <a:ext cx="10515600" cy="1463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3800" b="1">
                <a:solidFill>
                  <a:srgbClr val="FFFFFF"/>
                </a:solidFill>
                <a:latin typeface="微软雅黑"/>
              </a:rPr>
              <a:t>不讲故事，讲事实——新业务已经落地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7280" y="4480560"/>
            <a:ext cx="1005840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600" b="0">
                <a:solidFill>
                  <a:srgbClr val="C9D8F0"/>
                </a:solidFill>
                <a:latin typeface="微软雅黑"/>
              </a:rPr>
              <a:t>第二曲线不是PPT，是合同。</a:t>
            </a:r>
          </a:p>
        </p:txBody>
      </p:sp>
      <p:sp>
        <p:nvSpPr>
          <p:cNvPr id="6" name="Rectangle 5"/>
          <p:cNvSpPr/>
          <p:nvPr/>
        </p:nvSpPr>
        <p:spPr>
          <a:xfrm>
            <a:off x="548640" y="6446520"/>
            <a:ext cx="11091672" cy="19050"/>
          </a:xfrm>
          <a:prstGeom prst="rect">
            <a:avLst/>
          </a:prstGeom>
          <a:solidFill>
            <a:srgbClr val="1E6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48640" y="6473952"/>
            <a:ext cx="82296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8A9AB8"/>
                </a:solidFill>
                <a:latin typeface="微软雅黑"/>
              </a:rPr>
              <a:t>云基智慧工程股份有限公司 · 至诚重光 · 二次出发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155680" y="6473952"/>
            <a:ext cx="82296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000" b="0">
                <a:solidFill>
                  <a:srgbClr val="8A9AB8"/>
                </a:solidFill>
                <a:latin typeface="微软雅黑"/>
              </a:rPr>
              <a:t>16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B3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48640" y="502920"/>
            <a:ext cx="82296" cy="777240"/>
          </a:xfrm>
          <a:prstGeom prst="rect">
            <a:avLst/>
          </a:prstGeom>
          <a:solidFill>
            <a:srgbClr val="1E6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77240" y="457200"/>
            <a:ext cx="1078992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800" b="1">
                <a:solidFill>
                  <a:srgbClr val="FFFFFF"/>
                </a:solidFill>
                <a:latin typeface="微软雅黑"/>
              </a:rPr>
              <a:t>工程数智化新业务：已签约与在谈项目盘点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325880"/>
            <a:ext cx="1060704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1">
                <a:solidFill>
                  <a:srgbClr val="F5B942"/>
                </a:solidFill>
                <a:latin typeface="微软雅黑"/>
              </a:rPr>
              <a:t>核心观点：第二曲线不是PPT，是合同。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2148840"/>
            <a:ext cx="1060704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25000"/>
              </a:lnSpc>
              <a:spcAft>
                <a:spcPts val="1000"/>
              </a:spcAft>
            </a:pPr>
            <a:r>
              <a:rPr sz="1700" b="1">
                <a:solidFill>
                  <a:srgbClr val="F5B942"/>
                </a:solidFill>
              </a:rPr>
              <a:t>▸ </a:t>
            </a:r>
            <a:r>
              <a:rPr sz="1700">
                <a:solidFill>
                  <a:srgbClr val="C9D8F0"/>
                </a:solidFill>
                <a:latin typeface="微软雅黑"/>
              </a:rPr>
              <a:t>已落地项目清单：项目名/金额/阶段【此处填入实际数据】</a:t>
            </a:r>
          </a:p>
          <a:p>
            <a:pPr>
              <a:lnSpc>
                <a:spcPct val="125000"/>
              </a:lnSpc>
              <a:spcAft>
                <a:spcPts val="1000"/>
              </a:spcAft>
            </a:pPr>
            <a:r>
              <a:rPr sz="1700" b="1">
                <a:solidFill>
                  <a:srgbClr val="F5B942"/>
                </a:solidFill>
              </a:rPr>
              <a:t>▸ </a:t>
            </a:r>
            <a:r>
              <a:rPr sz="1700">
                <a:solidFill>
                  <a:srgbClr val="C9D8F0"/>
                </a:solidFill>
                <a:latin typeface="微软雅黑"/>
              </a:rPr>
              <a:t>在谈项目储备与预计转化率</a:t>
            </a:r>
          </a:p>
          <a:p>
            <a:pPr>
              <a:lnSpc>
                <a:spcPct val="125000"/>
              </a:lnSpc>
              <a:spcAft>
                <a:spcPts val="1000"/>
              </a:spcAft>
            </a:pPr>
            <a:r>
              <a:rPr sz="1700" b="1">
                <a:solidFill>
                  <a:srgbClr val="F5B942"/>
                </a:solidFill>
              </a:rPr>
              <a:t>▸ </a:t>
            </a:r>
            <a:r>
              <a:rPr sz="1700">
                <a:solidFill>
                  <a:srgbClr val="C9D8F0"/>
                </a:solidFill>
                <a:latin typeface="微软雅黑"/>
              </a:rPr>
              <a:t>新业务营收占比变化趋势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5897880"/>
            <a:ext cx="1060704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>
                <a:solidFill>
                  <a:srgbClr val="8A9AB8"/>
                </a:solidFill>
                <a:latin typeface="微软雅黑"/>
              </a:rPr>
              <a:t>【视觉建议】项目地图（中国地图打点）+签约金额瀑布图。</a:t>
            </a:r>
          </a:p>
        </p:txBody>
      </p:sp>
      <p:sp>
        <p:nvSpPr>
          <p:cNvPr id="7" name="Rectangle 6"/>
          <p:cNvSpPr/>
          <p:nvPr/>
        </p:nvSpPr>
        <p:spPr>
          <a:xfrm>
            <a:off x="548640" y="6446520"/>
            <a:ext cx="11091672" cy="19050"/>
          </a:xfrm>
          <a:prstGeom prst="rect">
            <a:avLst/>
          </a:prstGeom>
          <a:solidFill>
            <a:srgbClr val="1E6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48640" y="6473952"/>
            <a:ext cx="82296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8A9AB8"/>
                </a:solidFill>
                <a:latin typeface="微软雅黑"/>
              </a:rPr>
              <a:t>云基智慧工程股份有限公司 · 至诚重光 · 二次出发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155680" y="6473952"/>
            <a:ext cx="82296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000" b="0">
                <a:solidFill>
                  <a:srgbClr val="8A9AB8"/>
                </a:solidFill>
                <a:latin typeface="微软雅黑"/>
              </a:rPr>
              <a:t>17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B3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48640" y="502920"/>
            <a:ext cx="82296" cy="777240"/>
          </a:xfrm>
          <a:prstGeom prst="rect">
            <a:avLst/>
          </a:prstGeom>
          <a:solidFill>
            <a:srgbClr val="1E6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77240" y="457200"/>
            <a:ext cx="1078992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800" b="1">
                <a:solidFill>
                  <a:srgbClr val="FFFFFF"/>
                </a:solidFill>
                <a:latin typeface="微软雅黑"/>
              </a:rPr>
              <a:t>AI新生产力：我们的成本结构已经改变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325880"/>
            <a:ext cx="1060704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1">
                <a:solidFill>
                  <a:srgbClr val="F5B942"/>
                </a:solidFill>
                <a:latin typeface="微软雅黑"/>
              </a:rPr>
              <a:t>核心观点：AI工具+数字化新员工，让公司用一半的人干出更高的效能。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2148840"/>
            <a:ext cx="1060704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25000"/>
              </a:lnSpc>
              <a:spcAft>
                <a:spcPts val="1000"/>
              </a:spcAft>
            </a:pPr>
            <a:r>
              <a:rPr sz="1700" b="1">
                <a:solidFill>
                  <a:srgbClr val="F5B942"/>
                </a:solidFill>
              </a:rPr>
              <a:t>▸ </a:t>
            </a:r>
            <a:r>
              <a:rPr sz="1700">
                <a:solidFill>
                  <a:srgbClr val="C9D8F0"/>
                </a:solidFill>
                <a:latin typeface="微软雅黑"/>
              </a:rPr>
              <a:t>AI辅助研发使开发效率提升【X】%【填入实测数据】</a:t>
            </a:r>
          </a:p>
          <a:p>
            <a:pPr>
              <a:lnSpc>
                <a:spcPct val="125000"/>
              </a:lnSpc>
              <a:spcAft>
                <a:spcPts val="1000"/>
              </a:spcAft>
            </a:pPr>
            <a:r>
              <a:rPr sz="1700" b="1">
                <a:solidFill>
                  <a:srgbClr val="F5B942"/>
                </a:solidFill>
              </a:rPr>
              <a:t>▸ </a:t>
            </a:r>
            <a:r>
              <a:rPr sz="1700">
                <a:solidFill>
                  <a:srgbClr val="C9D8F0"/>
                </a:solidFill>
                <a:latin typeface="微软雅黑"/>
              </a:rPr>
              <a:t>“数字化新员工”承担的具体岗位与工作量</a:t>
            </a:r>
          </a:p>
          <a:p>
            <a:pPr>
              <a:lnSpc>
                <a:spcPct val="125000"/>
              </a:lnSpc>
              <a:spcAft>
                <a:spcPts val="1000"/>
              </a:spcAft>
            </a:pPr>
            <a:r>
              <a:rPr sz="1700" b="1">
                <a:solidFill>
                  <a:srgbClr val="F5B942"/>
                </a:solidFill>
              </a:rPr>
              <a:t>▸ </a:t>
            </a:r>
            <a:r>
              <a:rPr sz="1700">
                <a:solidFill>
                  <a:srgbClr val="C9D8F0"/>
                </a:solidFill>
                <a:latin typeface="微软雅黑"/>
              </a:rPr>
              <a:t>人均产值对比：2023 vs 现在</a:t>
            </a:r>
          </a:p>
          <a:p>
            <a:pPr>
              <a:lnSpc>
                <a:spcPct val="125000"/>
              </a:lnSpc>
              <a:spcAft>
                <a:spcPts val="1000"/>
              </a:spcAft>
            </a:pPr>
            <a:r>
              <a:rPr sz="1700" b="1">
                <a:solidFill>
                  <a:srgbClr val="F5B942"/>
                </a:solidFill>
              </a:rPr>
              <a:t>▸ </a:t>
            </a:r>
            <a:r>
              <a:rPr sz="1700">
                <a:solidFill>
                  <a:srgbClr val="C9D8F0"/>
                </a:solidFill>
                <a:latin typeface="微软雅黑"/>
              </a:rPr>
              <a:t>这意味着：同样的收入，更高的利润；股权对应的价值更实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5897880"/>
            <a:ext cx="1060704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>
                <a:solidFill>
                  <a:srgbClr val="8A9AB8"/>
                </a:solidFill>
                <a:latin typeface="微软雅黑"/>
              </a:rPr>
              <a:t>【视觉建议】人机协同示意图+人均产值对比柱状图。</a:t>
            </a:r>
          </a:p>
        </p:txBody>
      </p:sp>
      <p:sp>
        <p:nvSpPr>
          <p:cNvPr id="7" name="Rectangle 6"/>
          <p:cNvSpPr/>
          <p:nvPr/>
        </p:nvSpPr>
        <p:spPr>
          <a:xfrm>
            <a:off x="548640" y="6446520"/>
            <a:ext cx="11091672" cy="19050"/>
          </a:xfrm>
          <a:prstGeom prst="rect">
            <a:avLst/>
          </a:prstGeom>
          <a:solidFill>
            <a:srgbClr val="1E6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48640" y="6473952"/>
            <a:ext cx="82296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8A9AB8"/>
                </a:solidFill>
                <a:latin typeface="微软雅黑"/>
              </a:rPr>
              <a:t>云基智慧工程股份有限公司 · 至诚重光 · 二次出发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155680" y="6473952"/>
            <a:ext cx="82296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000" b="0">
                <a:solidFill>
                  <a:srgbClr val="8A9AB8"/>
                </a:solidFill>
                <a:latin typeface="微软雅黑"/>
              </a:rPr>
              <a:t>18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B3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48640" y="502920"/>
            <a:ext cx="82296" cy="777240"/>
          </a:xfrm>
          <a:prstGeom prst="rect">
            <a:avLst/>
          </a:prstGeom>
          <a:solidFill>
            <a:srgbClr val="1E6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77240" y="457200"/>
            <a:ext cx="1078992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800" b="1">
                <a:solidFill>
                  <a:srgbClr val="FFFFFF"/>
                </a:solidFill>
                <a:latin typeface="微软雅黑"/>
              </a:rPr>
              <a:t>玄镜平台：国产替代的技术底气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325880"/>
            <a:ext cx="1060704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1">
                <a:solidFill>
                  <a:srgbClr val="F5B942"/>
                </a:solidFill>
                <a:latin typeface="微软雅黑"/>
              </a:rPr>
              <a:t>核心观点：三维图形内核是“卡脖子”环节，我们手里有钥匙。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2148840"/>
            <a:ext cx="1060704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25000"/>
              </a:lnSpc>
              <a:spcAft>
                <a:spcPts val="1000"/>
              </a:spcAft>
            </a:pPr>
            <a:r>
              <a:rPr sz="1700" b="1">
                <a:solidFill>
                  <a:srgbClr val="F5B942"/>
                </a:solidFill>
              </a:rPr>
              <a:t>▸ </a:t>
            </a:r>
            <a:r>
              <a:rPr sz="1700">
                <a:solidFill>
                  <a:srgbClr val="C9D8F0"/>
                </a:solidFill>
                <a:latin typeface="微软雅黑"/>
              </a:rPr>
              <a:t>玄镜平台核心能力与自主知识产权清单（专利/软著数量）</a:t>
            </a:r>
          </a:p>
          <a:p>
            <a:pPr>
              <a:lnSpc>
                <a:spcPct val="125000"/>
              </a:lnSpc>
              <a:spcAft>
                <a:spcPts val="1000"/>
              </a:spcAft>
            </a:pPr>
            <a:r>
              <a:rPr sz="1700" b="1">
                <a:solidFill>
                  <a:srgbClr val="F5B942"/>
                </a:solidFill>
              </a:rPr>
              <a:t>▸ </a:t>
            </a:r>
            <a:r>
              <a:rPr sz="1700">
                <a:solidFill>
                  <a:srgbClr val="C9D8F0"/>
                </a:solidFill>
                <a:latin typeface="微软雅黑"/>
              </a:rPr>
              <a:t>对标国外主流平台的能力矩阵</a:t>
            </a:r>
          </a:p>
          <a:p>
            <a:pPr>
              <a:lnSpc>
                <a:spcPct val="125000"/>
              </a:lnSpc>
              <a:spcAft>
                <a:spcPts val="1000"/>
              </a:spcAft>
            </a:pPr>
            <a:r>
              <a:rPr sz="1700" b="1">
                <a:solidFill>
                  <a:srgbClr val="F5B942"/>
                </a:solidFill>
              </a:rPr>
              <a:t>▸ </a:t>
            </a:r>
            <a:r>
              <a:rPr sz="1700">
                <a:solidFill>
                  <a:srgbClr val="C9D8F0"/>
                </a:solidFill>
                <a:latin typeface="微软雅黑"/>
              </a:rPr>
              <a:t>已支撑的标杆应用案例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5897880"/>
            <a:ext cx="1060704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>
                <a:solidFill>
                  <a:srgbClr val="8A9AB8"/>
                </a:solidFill>
                <a:latin typeface="微软雅黑"/>
              </a:rPr>
              <a:t>【视觉建议】玄镜平台三维渲染截图为主视觉+能力雷达图。</a:t>
            </a:r>
          </a:p>
        </p:txBody>
      </p:sp>
      <p:sp>
        <p:nvSpPr>
          <p:cNvPr id="7" name="Rectangle 6"/>
          <p:cNvSpPr/>
          <p:nvPr/>
        </p:nvSpPr>
        <p:spPr>
          <a:xfrm>
            <a:off x="548640" y="6446520"/>
            <a:ext cx="11091672" cy="19050"/>
          </a:xfrm>
          <a:prstGeom prst="rect">
            <a:avLst/>
          </a:prstGeom>
          <a:solidFill>
            <a:srgbClr val="1E6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48640" y="6473952"/>
            <a:ext cx="82296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8A9AB8"/>
                </a:solidFill>
                <a:latin typeface="微软雅黑"/>
              </a:rPr>
              <a:t>云基智慧工程股份有限公司 · 至诚重光 · 二次出发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155680" y="6473952"/>
            <a:ext cx="82296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000" b="0">
                <a:solidFill>
                  <a:srgbClr val="8A9AB8"/>
                </a:solidFill>
                <a:latin typeface="微软雅黑"/>
              </a:rPr>
              <a:t>19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B3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48640" y="502920"/>
            <a:ext cx="82296" cy="777240"/>
          </a:xfrm>
          <a:prstGeom prst="rect">
            <a:avLst/>
          </a:prstGeom>
          <a:solidFill>
            <a:srgbClr val="1E6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77240" y="457200"/>
            <a:ext cx="1078992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800" b="1">
                <a:solidFill>
                  <a:srgbClr val="FFFFFF"/>
                </a:solidFill>
                <a:latin typeface="微软雅黑"/>
              </a:rPr>
              <a:t>财务拐点：最坏的时候正在过去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325880"/>
            <a:ext cx="1060704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1">
                <a:solidFill>
                  <a:srgbClr val="F5B942"/>
                </a:solidFill>
                <a:latin typeface="微软雅黑"/>
              </a:rPr>
              <a:t>核心观点：数据显示，经营基本面已现企稳回升信号。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2148840"/>
            <a:ext cx="1060704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25000"/>
              </a:lnSpc>
              <a:spcAft>
                <a:spcPts val="1000"/>
              </a:spcAft>
            </a:pPr>
            <a:r>
              <a:rPr sz="1700" b="1">
                <a:solidFill>
                  <a:srgbClr val="F5B942"/>
                </a:solidFill>
              </a:rPr>
              <a:t>▸ </a:t>
            </a:r>
            <a:r>
              <a:rPr sz="1700">
                <a:solidFill>
                  <a:srgbClr val="C9D8F0"/>
                </a:solidFill>
                <a:latin typeface="微软雅黑"/>
              </a:rPr>
              <a:t>近几个季度营收/毛利/现金流趋势【填入实际数据】</a:t>
            </a:r>
          </a:p>
          <a:p>
            <a:pPr>
              <a:lnSpc>
                <a:spcPct val="125000"/>
              </a:lnSpc>
              <a:spcAft>
                <a:spcPts val="1000"/>
              </a:spcAft>
            </a:pPr>
            <a:r>
              <a:rPr sz="1700" b="1">
                <a:solidFill>
                  <a:srgbClr val="F5B942"/>
                </a:solidFill>
              </a:rPr>
              <a:t>▸ </a:t>
            </a:r>
            <a:r>
              <a:rPr sz="1700">
                <a:solidFill>
                  <a:srgbClr val="C9D8F0"/>
                </a:solidFill>
                <a:latin typeface="微软雅黑"/>
              </a:rPr>
              <a:t>成本结构优化后的盈亏平衡点下移</a:t>
            </a:r>
          </a:p>
          <a:p>
            <a:pPr>
              <a:lnSpc>
                <a:spcPct val="125000"/>
              </a:lnSpc>
              <a:spcAft>
                <a:spcPts val="1000"/>
              </a:spcAft>
            </a:pPr>
            <a:r>
              <a:rPr sz="1700" b="1">
                <a:solidFill>
                  <a:srgbClr val="F5B942"/>
                </a:solidFill>
              </a:rPr>
              <a:t>▸ </a:t>
            </a:r>
            <a:r>
              <a:rPr sz="1700">
                <a:solidFill>
                  <a:srgbClr val="C9D8F0"/>
                </a:solidFill>
                <a:latin typeface="微软雅黑"/>
              </a:rPr>
              <a:t>在手订单对来年收入的覆盖率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5897880"/>
            <a:ext cx="1060704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>
                <a:solidFill>
                  <a:srgbClr val="8A9AB8"/>
                </a:solidFill>
                <a:latin typeface="微软雅黑"/>
              </a:rPr>
              <a:t>【视觉建议】V型曲线趋势图，拐点高亮。</a:t>
            </a:r>
          </a:p>
        </p:txBody>
      </p:sp>
      <p:sp>
        <p:nvSpPr>
          <p:cNvPr id="7" name="Rectangle 6"/>
          <p:cNvSpPr/>
          <p:nvPr/>
        </p:nvSpPr>
        <p:spPr>
          <a:xfrm>
            <a:off x="548640" y="6446520"/>
            <a:ext cx="11091672" cy="19050"/>
          </a:xfrm>
          <a:prstGeom prst="rect">
            <a:avLst/>
          </a:prstGeom>
          <a:solidFill>
            <a:srgbClr val="1E6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48640" y="6473952"/>
            <a:ext cx="82296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8A9AB8"/>
                </a:solidFill>
                <a:latin typeface="微软雅黑"/>
              </a:rPr>
              <a:t>云基智慧工程股份有限公司 · 至诚重光 · 二次出发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155680" y="6473952"/>
            <a:ext cx="82296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000" b="0">
                <a:solidFill>
                  <a:srgbClr val="8A9AB8"/>
                </a:solidFill>
                <a:latin typeface="微软雅黑"/>
              </a:rPr>
              <a:t>20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B3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1097280" y="2788920"/>
            <a:ext cx="2926080" cy="25400"/>
          </a:xfrm>
          <a:prstGeom prst="rect">
            <a:avLst/>
          </a:prstGeom>
          <a:solidFill>
            <a:srgbClr val="F5B9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097280" y="1645920"/>
            <a:ext cx="1005840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200" b="1">
                <a:solidFill>
                  <a:srgbClr val="1E6FFF"/>
                </a:solidFill>
                <a:latin typeface="微软雅黑"/>
              </a:rPr>
              <a:t>第四章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97280" y="2971800"/>
            <a:ext cx="10515600" cy="1463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3800" b="1">
                <a:solidFill>
                  <a:srgbClr val="FFFFFF"/>
                </a:solidFill>
                <a:latin typeface="微软雅黑"/>
              </a:rPr>
              <a:t>第二曲线：云基为什么能二次崛起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7280" y="4480560"/>
            <a:ext cx="1005840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600" b="0">
                <a:solidFill>
                  <a:srgbClr val="C9D8F0"/>
                </a:solidFill>
                <a:latin typeface="微软雅黑"/>
              </a:rPr>
              <a:t>伟大的公司都经历过曲线切换。</a:t>
            </a:r>
          </a:p>
        </p:txBody>
      </p:sp>
      <p:sp>
        <p:nvSpPr>
          <p:cNvPr id="6" name="Rectangle 5"/>
          <p:cNvSpPr/>
          <p:nvPr/>
        </p:nvSpPr>
        <p:spPr>
          <a:xfrm>
            <a:off x="548640" y="6446520"/>
            <a:ext cx="11091672" cy="19050"/>
          </a:xfrm>
          <a:prstGeom prst="rect">
            <a:avLst/>
          </a:prstGeom>
          <a:solidFill>
            <a:srgbClr val="1E6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48640" y="6473952"/>
            <a:ext cx="82296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8A9AB8"/>
                </a:solidFill>
                <a:latin typeface="微软雅黑"/>
              </a:rPr>
              <a:t>云基智慧工程股份有限公司 · 至诚重光 · 二次出发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155680" y="6473952"/>
            <a:ext cx="82296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000" b="0">
                <a:solidFill>
                  <a:srgbClr val="8A9AB8"/>
                </a:solidFill>
                <a:latin typeface="微软雅黑"/>
              </a:rPr>
              <a:t>21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B3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48640" y="502920"/>
            <a:ext cx="82296" cy="777240"/>
          </a:xfrm>
          <a:prstGeom prst="rect">
            <a:avLst/>
          </a:prstGeom>
          <a:solidFill>
            <a:srgbClr val="1E6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77240" y="457200"/>
            <a:ext cx="1078992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800" b="1">
                <a:solidFill>
                  <a:srgbClr val="FFFFFF"/>
                </a:solidFill>
                <a:latin typeface="微软雅黑"/>
              </a:rPr>
              <a:t>第二曲线理论：在第一曲线衰退前起跳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325880"/>
            <a:ext cx="1060704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1">
                <a:solidFill>
                  <a:srgbClr val="F5B942"/>
                </a:solidFill>
                <a:latin typeface="微软雅黑"/>
              </a:rPr>
              <a:t>核心观点：伟大的公司都经历过曲线切换，切换期必然伴随阵痛与怀疑。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2148840"/>
            <a:ext cx="1060704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25000"/>
              </a:lnSpc>
              <a:spcAft>
                <a:spcPts val="1000"/>
              </a:spcAft>
            </a:pPr>
            <a:r>
              <a:rPr sz="1700" b="1">
                <a:solidFill>
                  <a:srgbClr val="F5B942"/>
                </a:solidFill>
              </a:rPr>
              <a:t>▸ </a:t>
            </a:r>
            <a:r>
              <a:rPr sz="1700">
                <a:solidFill>
                  <a:srgbClr val="C9D8F0"/>
                </a:solidFill>
                <a:latin typeface="微软雅黑"/>
              </a:rPr>
              <a:t>第二曲线模型简述（查尔斯·汉迪）</a:t>
            </a:r>
          </a:p>
          <a:p>
            <a:pPr>
              <a:lnSpc>
                <a:spcPct val="125000"/>
              </a:lnSpc>
              <a:spcAft>
                <a:spcPts val="1000"/>
              </a:spcAft>
            </a:pPr>
            <a:r>
              <a:rPr sz="1700" b="1">
                <a:solidFill>
                  <a:srgbClr val="F5B942"/>
                </a:solidFill>
              </a:rPr>
              <a:t>▸ </a:t>
            </a:r>
            <a:r>
              <a:rPr sz="1700">
                <a:solidFill>
                  <a:srgbClr val="C9D8F0"/>
                </a:solidFill>
                <a:latin typeface="微软雅黑"/>
              </a:rPr>
              <a:t>切换期特征：老业务下滑+新业务未成规模=最难熬也最关键</a:t>
            </a:r>
          </a:p>
          <a:p>
            <a:pPr>
              <a:lnSpc>
                <a:spcPct val="125000"/>
              </a:lnSpc>
              <a:spcAft>
                <a:spcPts val="1000"/>
              </a:spcAft>
            </a:pPr>
            <a:r>
              <a:rPr sz="1700" b="1">
                <a:solidFill>
                  <a:srgbClr val="F5B942"/>
                </a:solidFill>
              </a:rPr>
              <a:t>▸ </a:t>
            </a:r>
            <a:r>
              <a:rPr sz="1700">
                <a:solidFill>
                  <a:srgbClr val="C9D8F0"/>
                </a:solidFill>
                <a:latin typeface="微软雅黑"/>
              </a:rPr>
              <a:t>国内外企业曲线切换案例1–2个（如华为、微软云转型）</a:t>
            </a:r>
          </a:p>
          <a:p>
            <a:pPr>
              <a:lnSpc>
                <a:spcPct val="125000"/>
              </a:lnSpc>
              <a:spcAft>
                <a:spcPts val="1000"/>
              </a:spcAft>
            </a:pPr>
            <a:r>
              <a:rPr sz="1700" b="1">
                <a:solidFill>
                  <a:srgbClr val="F5B942"/>
                </a:solidFill>
              </a:rPr>
              <a:t>▸ </a:t>
            </a:r>
            <a:r>
              <a:rPr sz="1700">
                <a:solidFill>
                  <a:srgbClr val="C9D8F0"/>
                </a:solidFill>
                <a:latin typeface="微软雅黑"/>
              </a:rPr>
              <a:t>云基正处于两条曲线的交叠期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5897880"/>
            <a:ext cx="1060704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>
                <a:solidFill>
                  <a:srgbClr val="8A9AB8"/>
                </a:solidFill>
                <a:latin typeface="微软雅黑"/>
              </a:rPr>
              <a:t>【视觉建议】双S曲线图，标注云基当前位置于“交叠低谷区”。</a:t>
            </a:r>
          </a:p>
        </p:txBody>
      </p:sp>
      <p:sp>
        <p:nvSpPr>
          <p:cNvPr id="7" name="Rectangle 6"/>
          <p:cNvSpPr/>
          <p:nvPr/>
        </p:nvSpPr>
        <p:spPr>
          <a:xfrm>
            <a:off x="548640" y="6446520"/>
            <a:ext cx="11091672" cy="19050"/>
          </a:xfrm>
          <a:prstGeom prst="rect">
            <a:avLst/>
          </a:prstGeom>
          <a:solidFill>
            <a:srgbClr val="1E6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48640" y="6473952"/>
            <a:ext cx="82296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8A9AB8"/>
                </a:solidFill>
                <a:latin typeface="微软雅黑"/>
              </a:rPr>
              <a:t>云基智慧工程股份有限公司 · 至诚重光 · 二次出发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155680" y="6473952"/>
            <a:ext cx="82296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000" b="0">
                <a:solidFill>
                  <a:srgbClr val="8A9AB8"/>
                </a:solidFill>
                <a:latin typeface="微软雅黑"/>
              </a:rPr>
              <a:t>22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B3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48640" y="502920"/>
            <a:ext cx="82296" cy="777240"/>
          </a:xfrm>
          <a:prstGeom prst="rect">
            <a:avLst/>
          </a:prstGeom>
          <a:solidFill>
            <a:srgbClr val="1E6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77240" y="457200"/>
            <a:ext cx="1078992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800" b="1">
                <a:solidFill>
                  <a:srgbClr val="FFFFFF"/>
                </a:solidFill>
                <a:latin typeface="微软雅黑"/>
              </a:rPr>
              <a:t>云基第二曲线的四大支柱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325880"/>
            <a:ext cx="1060704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1">
                <a:solidFill>
                  <a:srgbClr val="F5B942"/>
                </a:solidFill>
                <a:latin typeface="微软雅黑"/>
              </a:rPr>
              <a:t>核心观点：政策×技术×团队×机制，四根柱子撑起第二曲线。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2148840"/>
            <a:ext cx="1060704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25000"/>
              </a:lnSpc>
              <a:spcAft>
                <a:spcPts val="1000"/>
              </a:spcAft>
            </a:pPr>
            <a:r>
              <a:rPr sz="1700" b="1">
                <a:solidFill>
                  <a:srgbClr val="F5B942"/>
                </a:solidFill>
              </a:rPr>
              <a:t>▸ </a:t>
            </a:r>
            <a:r>
              <a:rPr sz="1700">
                <a:solidFill>
                  <a:srgbClr val="C9D8F0"/>
                </a:solidFill>
                <a:latin typeface="微软雅黑"/>
              </a:rPr>
              <a:t>政策支柱：“一网四化”十五五规划带来确定性市场</a:t>
            </a:r>
          </a:p>
          <a:p>
            <a:pPr>
              <a:lnSpc>
                <a:spcPct val="125000"/>
              </a:lnSpc>
              <a:spcAft>
                <a:spcPts val="1000"/>
              </a:spcAft>
            </a:pPr>
            <a:r>
              <a:rPr sz="1700" b="1">
                <a:solidFill>
                  <a:srgbClr val="F5B942"/>
                </a:solidFill>
              </a:rPr>
              <a:t>▸ </a:t>
            </a:r>
            <a:r>
              <a:rPr sz="1700">
                <a:solidFill>
                  <a:srgbClr val="C9D8F0"/>
                </a:solidFill>
                <a:latin typeface="微软雅黑"/>
              </a:rPr>
              <a:t>技术支柱：玄镜平台+AI新生产力工具</a:t>
            </a:r>
          </a:p>
          <a:p>
            <a:pPr>
              <a:lnSpc>
                <a:spcPct val="125000"/>
              </a:lnSpc>
              <a:spcAft>
                <a:spcPts val="1000"/>
              </a:spcAft>
            </a:pPr>
            <a:r>
              <a:rPr sz="1700" b="1">
                <a:solidFill>
                  <a:srgbClr val="F5B942"/>
                </a:solidFill>
              </a:rPr>
              <a:t>▸ </a:t>
            </a:r>
            <a:r>
              <a:rPr sz="1700">
                <a:solidFill>
                  <a:srgbClr val="C9D8F0"/>
                </a:solidFill>
                <a:latin typeface="微软雅黑"/>
              </a:rPr>
              <a:t>团队支柱：精锐核心团队+数字化新员工</a:t>
            </a:r>
          </a:p>
          <a:p>
            <a:pPr>
              <a:lnSpc>
                <a:spcPct val="125000"/>
              </a:lnSpc>
              <a:spcAft>
                <a:spcPts val="1000"/>
              </a:spcAft>
            </a:pPr>
            <a:r>
              <a:rPr sz="1700" b="1">
                <a:solidFill>
                  <a:srgbClr val="F5B942"/>
                </a:solidFill>
              </a:rPr>
              <a:t>▸ </a:t>
            </a:r>
            <a:r>
              <a:rPr sz="1700">
                <a:solidFill>
                  <a:srgbClr val="C9D8F0"/>
                </a:solidFill>
                <a:latin typeface="微软雅黑"/>
              </a:rPr>
              <a:t>机制支柱：第二轮股权激励——就是今天这场会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5897880"/>
            <a:ext cx="1060704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>
                <a:solidFill>
                  <a:srgbClr val="8A9AB8"/>
                </a:solidFill>
                <a:latin typeface="微软雅黑"/>
              </a:rPr>
              <a:t>【视觉建议】四柱撑起上升曲线的建筑力学示意图，BIM线框风格。</a:t>
            </a:r>
          </a:p>
        </p:txBody>
      </p:sp>
      <p:sp>
        <p:nvSpPr>
          <p:cNvPr id="7" name="Rectangle 6"/>
          <p:cNvSpPr/>
          <p:nvPr/>
        </p:nvSpPr>
        <p:spPr>
          <a:xfrm>
            <a:off x="548640" y="6446520"/>
            <a:ext cx="11091672" cy="19050"/>
          </a:xfrm>
          <a:prstGeom prst="rect">
            <a:avLst/>
          </a:prstGeom>
          <a:solidFill>
            <a:srgbClr val="1E6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48640" y="6473952"/>
            <a:ext cx="82296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8A9AB8"/>
                </a:solidFill>
                <a:latin typeface="微软雅黑"/>
              </a:rPr>
              <a:t>云基智慧工程股份有限公司 · 至诚重光 · 二次出发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155680" y="6473952"/>
            <a:ext cx="82296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000" b="0">
                <a:solidFill>
                  <a:srgbClr val="8A9AB8"/>
                </a:solidFill>
                <a:latin typeface="微软雅黑"/>
              </a:rPr>
              <a:t>23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B3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48640" y="502920"/>
            <a:ext cx="82296" cy="777240"/>
          </a:xfrm>
          <a:prstGeom prst="rect">
            <a:avLst/>
          </a:prstGeom>
          <a:solidFill>
            <a:srgbClr val="1E6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77240" y="457200"/>
            <a:ext cx="1078992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800" b="1">
                <a:solidFill>
                  <a:srgbClr val="FFFFFF"/>
                </a:solidFill>
                <a:latin typeface="微软雅黑"/>
              </a:rPr>
              <a:t>三年愿景：第二曲线的目标图景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325880"/>
            <a:ext cx="1060704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1">
                <a:solidFill>
                  <a:srgbClr val="F5B942"/>
                </a:solidFill>
                <a:latin typeface="微软雅黑"/>
              </a:rPr>
              <a:t>核心观点：给出可检验的目标，让坚信有处安放。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2148840"/>
            <a:ext cx="1060704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25000"/>
              </a:lnSpc>
              <a:spcAft>
                <a:spcPts val="1000"/>
              </a:spcAft>
            </a:pPr>
            <a:r>
              <a:rPr sz="1700" b="1">
                <a:solidFill>
                  <a:srgbClr val="F5B942"/>
                </a:solidFill>
              </a:rPr>
              <a:t>▸ </a:t>
            </a:r>
            <a:r>
              <a:rPr sz="1700">
                <a:solidFill>
                  <a:srgbClr val="C9D8F0"/>
                </a:solidFill>
                <a:latin typeface="微软雅黑"/>
              </a:rPr>
              <a:t>三年营收/利润目标【填入实际规划】</a:t>
            </a:r>
          </a:p>
          <a:p>
            <a:pPr>
              <a:lnSpc>
                <a:spcPct val="125000"/>
              </a:lnSpc>
              <a:spcAft>
                <a:spcPts val="1000"/>
              </a:spcAft>
            </a:pPr>
            <a:r>
              <a:rPr sz="1700" b="1">
                <a:solidFill>
                  <a:srgbClr val="F5B942"/>
                </a:solidFill>
              </a:rPr>
              <a:t>▸ </a:t>
            </a:r>
            <a:r>
              <a:rPr sz="1700">
                <a:solidFill>
                  <a:srgbClr val="C9D8F0"/>
                </a:solidFill>
                <a:latin typeface="微软雅黑"/>
              </a:rPr>
              <a:t>新业务占比目标</a:t>
            </a:r>
          </a:p>
          <a:p>
            <a:pPr>
              <a:lnSpc>
                <a:spcPct val="125000"/>
              </a:lnSpc>
              <a:spcAft>
                <a:spcPts val="1000"/>
              </a:spcAft>
            </a:pPr>
            <a:r>
              <a:rPr sz="1700" b="1">
                <a:solidFill>
                  <a:srgbClr val="F5B942"/>
                </a:solidFill>
              </a:rPr>
              <a:t>▸ </a:t>
            </a:r>
            <a:r>
              <a:rPr sz="1700">
                <a:solidFill>
                  <a:srgbClr val="C9D8F0"/>
                </a:solidFill>
                <a:latin typeface="微软雅黑"/>
              </a:rPr>
              <a:t>团队规模与人均产值目标</a:t>
            </a:r>
          </a:p>
          <a:p>
            <a:pPr>
              <a:lnSpc>
                <a:spcPct val="125000"/>
              </a:lnSpc>
              <a:spcAft>
                <a:spcPts val="1000"/>
              </a:spcAft>
            </a:pPr>
            <a:r>
              <a:rPr sz="1700" b="1">
                <a:solidFill>
                  <a:srgbClr val="F5B942"/>
                </a:solidFill>
              </a:rPr>
              <a:t>▸ </a:t>
            </a:r>
            <a:r>
              <a:rPr sz="1700">
                <a:solidFill>
                  <a:srgbClr val="C9D8F0"/>
                </a:solidFill>
                <a:latin typeface="微软雅黑"/>
              </a:rPr>
              <a:t>届时股权对应的价值测算区间（含假设条件，谨慎表述）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5897880"/>
            <a:ext cx="1060704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>
                <a:solidFill>
                  <a:srgbClr val="8A9AB8"/>
                </a:solidFill>
                <a:latin typeface="微软雅黑"/>
              </a:rPr>
              <a:t>【视觉建议】三年路线图，里程碑旗帜标注。</a:t>
            </a:r>
          </a:p>
        </p:txBody>
      </p:sp>
      <p:sp>
        <p:nvSpPr>
          <p:cNvPr id="7" name="Rectangle 6"/>
          <p:cNvSpPr/>
          <p:nvPr/>
        </p:nvSpPr>
        <p:spPr>
          <a:xfrm>
            <a:off x="548640" y="6446520"/>
            <a:ext cx="11091672" cy="19050"/>
          </a:xfrm>
          <a:prstGeom prst="rect">
            <a:avLst/>
          </a:prstGeom>
          <a:solidFill>
            <a:srgbClr val="1E6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48640" y="6473952"/>
            <a:ext cx="82296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8A9AB8"/>
                </a:solidFill>
                <a:latin typeface="微软雅黑"/>
              </a:rPr>
              <a:t>云基智慧工程股份有限公司 · 至诚重光 · 二次出发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155680" y="6473952"/>
            <a:ext cx="82296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000" b="0">
                <a:solidFill>
                  <a:srgbClr val="8A9AB8"/>
                </a:solidFill>
                <a:latin typeface="微软雅黑"/>
              </a:rPr>
              <a:t>24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B3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1097280" y="2788920"/>
            <a:ext cx="2926080" cy="25400"/>
          </a:xfrm>
          <a:prstGeom prst="rect">
            <a:avLst/>
          </a:prstGeom>
          <a:solidFill>
            <a:srgbClr val="F5B9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097280" y="1645920"/>
            <a:ext cx="1005840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200" b="1">
                <a:solidFill>
                  <a:srgbClr val="1E6FFF"/>
                </a:solidFill>
                <a:latin typeface="微软雅黑"/>
              </a:rPr>
              <a:t>第五章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97280" y="2971800"/>
            <a:ext cx="10515600" cy="1463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3800" b="1">
                <a:solidFill>
                  <a:srgbClr val="FFFFFF"/>
                </a:solidFill>
                <a:latin typeface="微软雅黑"/>
              </a:rPr>
              <a:t>从第一轮到第二轮——回顾、致谢与升级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7280" y="4480560"/>
            <a:ext cx="1005840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600" b="0">
                <a:solidFill>
                  <a:srgbClr val="C9D8F0"/>
                </a:solidFill>
                <a:latin typeface="微软雅黑"/>
              </a:rPr>
              <a:t>感谢第一轮同行者，坦诚面对遗留问题。</a:t>
            </a:r>
          </a:p>
        </p:txBody>
      </p:sp>
      <p:sp>
        <p:nvSpPr>
          <p:cNvPr id="6" name="Rectangle 5"/>
          <p:cNvSpPr/>
          <p:nvPr/>
        </p:nvSpPr>
        <p:spPr>
          <a:xfrm>
            <a:off x="548640" y="6446520"/>
            <a:ext cx="11091672" cy="19050"/>
          </a:xfrm>
          <a:prstGeom prst="rect">
            <a:avLst/>
          </a:prstGeom>
          <a:solidFill>
            <a:srgbClr val="1E6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48640" y="6473952"/>
            <a:ext cx="82296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8A9AB8"/>
                </a:solidFill>
                <a:latin typeface="微软雅黑"/>
              </a:rPr>
              <a:t>云基智慧工程股份有限公司 · 至诚重光 · 二次出发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155680" y="6473952"/>
            <a:ext cx="82296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000" b="0">
                <a:solidFill>
                  <a:srgbClr val="8A9AB8"/>
                </a:solidFill>
                <a:latin typeface="微软雅黑"/>
              </a:rPr>
              <a:t>25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B3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48640" y="502920"/>
            <a:ext cx="82296" cy="777240"/>
          </a:xfrm>
          <a:prstGeom prst="rect">
            <a:avLst/>
          </a:prstGeom>
          <a:solidFill>
            <a:srgbClr val="1E6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77240" y="457200"/>
            <a:ext cx="1078992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800" b="1">
                <a:solidFill>
                  <a:srgbClr val="FFFFFF"/>
                </a:solidFill>
                <a:latin typeface="微软雅黑"/>
              </a:rPr>
              <a:t>第一轮激励的坦诚复盘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325880"/>
            <a:ext cx="1060704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1">
                <a:solidFill>
                  <a:srgbClr val="F5B942"/>
                </a:solidFill>
                <a:latin typeface="微软雅黑"/>
              </a:rPr>
              <a:t>核心观点：感谢第一轮同行者；也坦诚说明遗留问题与处理原则。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2148840"/>
            <a:ext cx="1060704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25000"/>
              </a:lnSpc>
              <a:spcAft>
                <a:spcPts val="1000"/>
              </a:spcAft>
            </a:pPr>
            <a:r>
              <a:rPr sz="1700" b="1">
                <a:solidFill>
                  <a:srgbClr val="F5B942"/>
                </a:solidFill>
              </a:rPr>
              <a:t>▸ </a:t>
            </a:r>
            <a:r>
              <a:rPr sz="1700">
                <a:solidFill>
                  <a:srgbClr val="C9D8F0"/>
                </a:solidFill>
                <a:latin typeface="微软雅黑"/>
              </a:rPr>
              <a:t>2021年第一轮激励概况（覆盖人数/平台结构）</a:t>
            </a:r>
          </a:p>
          <a:p>
            <a:pPr>
              <a:lnSpc>
                <a:spcPct val="125000"/>
              </a:lnSpc>
              <a:spcAft>
                <a:spcPts val="1000"/>
              </a:spcAft>
            </a:pPr>
            <a:r>
              <a:rPr sz="1700" b="1">
                <a:solidFill>
                  <a:srgbClr val="F5B942"/>
                </a:solidFill>
              </a:rPr>
              <a:t>▸ </a:t>
            </a:r>
            <a:r>
              <a:rPr sz="1700">
                <a:solidFill>
                  <a:srgbClr val="C9D8F0"/>
                </a:solidFill>
                <a:latin typeface="微软雅黑"/>
              </a:rPr>
              <a:t>带来的正面作用</a:t>
            </a:r>
          </a:p>
          <a:p>
            <a:pPr>
              <a:lnSpc>
                <a:spcPct val="125000"/>
              </a:lnSpc>
              <a:spcAft>
                <a:spcPts val="1000"/>
              </a:spcAft>
            </a:pPr>
            <a:r>
              <a:rPr sz="1700" b="1">
                <a:solidFill>
                  <a:srgbClr val="F5B942"/>
                </a:solidFill>
              </a:rPr>
              <a:t>▸ </a:t>
            </a:r>
            <a:r>
              <a:rPr sz="1700">
                <a:solidFill>
                  <a:srgbClr val="C9D8F0"/>
                </a:solidFill>
                <a:latin typeface="微软雅黑"/>
              </a:rPr>
              <a:t>遗留问题：持股平台中离职人员份额现状</a:t>
            </a:r>
          </a:p>
          <a:p>
            <a:pPr>
              <a:lnSpc>
                <a:spcPct val="125000"/>
              </a:lnSpc>
              <a:spcAft>
                <a:spcPts val="1000"/>
              </a:spcAft>
            </a:pPr>
            <a:r>
              <a:rPr sz="1700" b="1">
                <a:solidFill>
                  <a:srgbClr val="F5B942"/>
                </a:solidFill>
              </a:rPr>
              <a:t>▸ </a:t>
            </a:r>
            <a:r>
              <a:rPr sz="1700">
                <a:solidFill>
                  <a:srgbClr val="C9D8F0"/>
                </a:solidFill>
                <a:latin typeface="微软雅黑"/>
              </a:rPr>
              <a:t>处理原则：依法依规、尊重历史、协商解决、方案时间表【填入实际方案】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5897880"/>
            <a:ext cx="1060704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>
                <a:solidFill>
                  <a:srgbClr val="8A9AB8"/>
                </a:solidFill>
                <a:latin typeface="微软雅黑"/>
              </a:rPr>
              <a:t>【视觉建议】天平图（尊重历史↔面向未来）。</a:t>
            </a:r>
          </a:p>
        </p:txBody>
      </p:sp>
      <p:sp>
        <p:nvSpPr>
          <p:cNvPr id="7" name="Rectangle 6"/>
          <p:cNvSpPr/>
          <p:nvPr/>
        </p:nvSpPr>
        <p:spPr>
          <a:xfrm>
            <a:off x="548640" y="6446520"/>
            <a:ext cx="11091672" cy="19050"/>
          </a:xfrm>
          <a:prstGeom prst="rect">
            <a:avLst/>
          </a:prstGeom>
          <a:solidFill>
            <a:srgbClr val="1E6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48640" y="6473952"/>
            <a:ext cx="82296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8A9AB8"/>
                </a:solidFill>
                <a:latin typeface="微软雅黑"/>
              </a:rPr>
              <a:t>云基智慧工程股份有限公司 · 至诚重光 · 二次出发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155680" y="6473952"/>
            <a:ext cx="82296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000" b="0">
                <a:solidFill>
                  <a:srgbClr val="8A9AB8"/>
                </a:solidFill>
                <a:latin typeface="微软雅黑"/>
              </a:rPr>
              <a:t>26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B3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48640" y="502920"/>
            <a:ext cx="82296" cy="777240"/>
          </a:xfrm>
          <a:prstGeom prst="rect">
            <a:avLst/>
          </a:prstGeom>
          <a:solidFill>
            <a:srgbClr val="1E6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77240" y="457200"/>
            <a:ext cx="1078992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800" b="1">
                <a:solidFill>
                  <a:srgbClr val="FFFFFF"/>
                </a:solidFill>
                <a:latin typeface="微软雅黑"/>
              </a:rPr>
              <a:t>第二轮激励方案要点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325880"/>
            <a:ext cx="1060704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1">
                <a:solidFill>
                  <a:srgbClr val="F5B942"/>
                </a:solidFill>
                <a:latin typeface="微软雅黑"/>
              </a:rPr>
              <a:t>核心观点：本轮方案在定价、条件、退出机制上全面升级，更公平、更透明。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2148840"/>
            <a:ext cx="1060704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25000"/>
              </a:lnSpc>
              <a:spcAft>
                <a:spcPts val="1000"/>
              </a:spcAft>
            </a:pPr>
            <a:r>
              <a:rPr sz="1700" b="1">
                <a:solidFill>
                  <a:srgbClr val="F5B942"/>
                </a:solidFill>
              </a:rPr>
              <a:t>▸ </a:t>
            </a:r>
            <a:r>
              <a:rPr sz="1700">
                <a:solidFill>
                  <a:srgbClr val="C9D8F0"/>
                </a:solidFill>
                <a:latin typeface="微软雅黑"/>
              </a:rPr>
              <a:t>激励对象与覆盖范围</a:t>
            </a:r>
          </a:p>
          <a:p>
            <a:pPr>
              <a:lnSpc>
                <a:spcPct val="125000"/>
              </a:lnSpc>
              <a:spcAft>
                <a:spcPts val="1000"/>
              </a:spcAft>
            </a:pPr>
            <a:r>
              <a:rPr sz="1700" b="1">
                <a:solidFill>
                  <a:srgbClr val="F5B942"/>
                </a:solidFill>
              </a:rPr>
              <a:t>▸ </a:t>
            </a:r>
            <a:r>
              <a:rPr sz="1700">
                <a:solidFill>
                  <a:srgbClr val="C9D8F0"/>
                </a:solidFill>
                <a:latin typeface="微软雅黑"/>
              </a:rPr>
              <a:t>授予方式与定价逻辑【填入方案要点】</a:t>
            </a:r>
          </a:p>
          <a:p>
            <a:pPr>
              <a:lnSpc>
                <a:spcPct val="125000"/>
              </a:lnSpc>
              <a:spcAft>
                <a:spcPts val="1000"/>
              </a:spcAft>
            </a:pPr>
            <a:r>
              <a:rPr sz="1700" b="1">
                <a:solidFill>
                  <a:srgbClr val="F5B942"/>
                </a:solidFill>
              </a:rPr>
              <a:t>▸ </a:t>
            </a:r>
            <a:r>
              <a:rPr sz="1700">
                <a:solidFill>
                  <a:srgbClr val="C9D8F0"/>
                </a:solidFill>
                <a:latin typeface="微软雅黑"/>
              </a:rPr>
              <a:t>解锁/成熟条件与业绩挂钩机制</a:t>
            </a:r>
          </a:p>
          <a:p>
            <a:pPr>
              <a:lnSpc>
                <a:spcPct val="125000"/>
              </a:lnSpc>
              <a:spcAft>
                <a:spcPts val="1000"/>
              </a:spcAft>
            </a:pPr>
            <a:r>
              <a:rPr sz="1700" b="1">
                <a:solidFill>
                  <a:srgbClr val="F5B942"/>
                </a:solidFill>
              </a:rPr>
              <a:t>▸ </a:t>
            </a:r>
            <a:r>
              <a:rPr sz="1700">
                <a:solidFill>
                  <a:srgbClr val="C9D8F0"/>
                </a:solidFill>
                <a:latin typeface="微软雅黑"/>
              </a:rPr>
              <a:t>退出机制（含离职情形的事先约定——吸取第一轮教训）</a:t>
            </a:r>
          </a:p>
          <a:p>
            <a:pPr>
              <a:lnSpc>
                <a:spcPct val="125000"/>
              </a:lnSpc>
              <a:spcAft>
                <a:spcPts val="1000"/>
              </a:spcAft>
            </a:pPr>
            <a:r>
              <a:rPr sz="1700" b="1">
                <a:solidFill>
                  <a:srgbClr val="F5B942"/>
                </a:solidFill>
              </a:rPr>
              <a:t>▸ </a:t>
            </a:r>
            <a:r>
              <a:rPr sz="1700">
                <a:solidFill>
                  <a:srgbClr val="C9D8F0"/>
                </a:solidFill>
                <a:latin typeface="微软雅黑"/>
              </a:rPr>
              <a:t>时间安排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5897880"/>
            <a:ext cx="1060704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>
                <a:solidFill>
                  <a:srgbClr val="8A9AB8"/>
                </a:solidFill>
                <a:latin typeface="微软雅黑"/>
              </a:rPr>
              <a:t>【视觉建议】方案要素信息图，五格卡片式。</a:t>
            </a:r>
          </a:p>
        </p:txBody>
      </p:sp>
      <p:sp>
        <p:nvSpPr>
          <p:cNvPr id="7" name="Rectangle 6"/>
          <p:cNvSpPr/>
          <p:nvPr/>
        </p:nvSpPr>
        <p:spPr>
          <a:xfrm>
            <a:off x="548640" y="6446520"/>
            <a:ext cx="11091672" cy="19050"/>
          </a:xfrm>
          <a:prstGeom prst="rect">
            <a:avLst/>
          </a:prstGeom>
          <a:solidFill>
            <a:srgbClr val="1E6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48640" y="6473952"/>
            <a:ext cx="82296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8A9AB8"/>
                </a:solidFill>
                <a:latin typeface="微软雅黑"/>
              </a:rPr>
              <a:t>云基智慧工程股份有限公司 · 至诚重光 · 二次出发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155680" y="6473952"/>
            <a:ext cx="82296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000" b="0">
                <a:solidFill>
                  <a:srgbClr val="8A9AB8"/>
                </a:solidFill>
                <a:latin typeface="微软雅黑"/>
              </a:rPr>
              <a:t>27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B3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48640" y="502920"/>
            <a:ext cx="82296" cy="777240"/>
          </a:xfrm>
          <a:prstGeom prst="rect">
            <a:avLst/>
          </a:prstGeom>
          <a:solidFill>
            <a:srgbClr val="1E6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77240" y="457200"/>
            <a:ext cx="1078992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800" b="1">
                <a:solidFill>
                  <a:srgbClr val="FFFFFF"/>
                </a:solidFill>
                <a:latin typeface="微软雅黑"/>
              </a:rPr>
              <a:t>算一笔明白账：投入、风险与可能的回报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325880"/>
            <a:ext cx="1060704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1">
                <a:solidFill>
                  <a:srgbClr val="F5B942"/>
                </a:solidFill>
                <a:latin typeface="微软雅黑"/>
              </a:rPr>
              <a:t>核心观点：把风险讲透，把账算清，选择权在每个人手里。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2148840"/>
            <a:ext cx="1060704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25000"/>
              </a:lnSpc>
              <a:spcAft>
                <a:spcPts val="1000"/>
              </a:spcAft>
            </a:pPr>
            <a:r>
              <a:rPr sz="1700" b="1">
                <a:solidFill>
                  <a:srgbClr val="F5B942"/>
                </a:solidFill>
              </a:rPr>
              <a:t>▸ </a:t>
            </a:r>
            <a:r>
              <a:rPr sz="1700">
                <a:solidFill>
                  <a:srgbClr val="C9D8F0"/>
                </a:solidFill>
                <a:latin typeface="微软雅黑"/>
              </a:rPr>
              <a:t>投入测算示例</a:t>
            </a:r>
          </a:p>
          <a:p>
            <a:pPr>
              <a:lnSpc>
                <a:spcPct val="125000"/>
              </a:lnSpc>
              <a:spcAft>
                <a:spcPts val="1000"/>
              </a:spcAft>
            </a:pPr>
            <a:r>
              <a:rPr sz="1700" b="1">
                <a:solidFill>
                  <a:srgbClr val="F5B942"/>
                </a:solidFill>
              </a:rPr>
              <a:t>▸ </a:t>
            </a:r>
            <a:r>
              <a:rPr sz="1700">
                <a:solidFill>
                  <a:srgbClr val="C9D8F0"/>
                </a:solidFill>
                <a:latin typeface="微软雅黑"/>
              </a:rPr>
              <a:t>三种情景（保守/中性/乐观）下的回报测算【填入测算表】</a:t>
            </a:r>
          </a:p>
          <a:p>
            <a:pPr>
              <a:lnSpc>
                <a:spcPct val="125000"/>
              </a:lnSpc>
              <a:spcAft>
                <a:spcPts val="1000"/>
              </a:spcAft>
            </a:pPr>
            <a:r>
              <a:rPr sz="1700" b="1">
                <a:solidFill>
                  <a:srgbClr val="F5B942"/>
                </a:solidFill>
              </a:rPr>
              <a:t>▸ </a:t>
            </a:r>
            <a:r>
              <a:rPr sz="1700">
                <a:solidFill>
                  <a:srgbClr val="C9D8F0"/>
                </a:solidFill>
                <a:latin typeface="微软雅黑"/>
              </a:rPr>
              <a:t>风险提示：流动性、业绩不达预期、估值波动</a:t>
            </a:r>
          </a:p>
          <a:p>
            <a:pPr>
              <a:lnSpc>
                <a:spcPct val="125000"/>
              </a:lnSpc>
              <a:spcAft>
                <a:spcPts val="1000"/>
              </a:spcAft>
            </a:pPr>
            <a:r>
              <a:rPr sz="1700" b="1">
                <a:solidFill>
                  <a:srgbClr val="F5B942"/>
                </a:solidFill>
              </a:rPr>
              <a:t>▸ </a:t>
            </a:r>
            <a:r>
              <a:rPr sz="1700">
                <a:solidFill>
                  <a:srgbClr val="C9D8F0"/>
                </a:solidFill>
                <a:latin typeface="微软雅黑"/>
              </a:rPr>
              <a:t>“不参与不影响岗位与发展”的郑重承诺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5897880"/>
            <a:ext cx="1060704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>
                <a:solidFill>
                  <a:srgbClr val="8A9AB8"/>
                </a:solidFill>
                <a:latin typeface="微软雅黑"/>
              </a:rPr>
              <a:t>【视觉建议】三情景对比表格+风险提示醒目框。</a:t>
            </a:r>
          </a:p>
        </p:txBody>
      </p:sp>
      <p:sp>
        <p:nvSpPr>
          <p:cNvPr id="7" name="Rectangle 6"/>
          <p:cNvSpPr/>
          <p:nvPr/>
        </p:nvSpPr>
        <p:spPr>
          <a:xfrm>
            <a:off x="548640" y="6446520"/>
            <a:ext cx="11091672" cy="19050"/>
          </a:xfrm>
          <a:prstGeom prst="rect">
            <a:avLst/>
          </a:prstGeom>
          <a:solidFill>
            <a:srgbClr val="1E6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48640" y="6473952"/>
            <a:ext cx="82296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8A9AB8"/>
                </a:solidFill>
                <a:latin typeface="微软雅黑"/>
              </a:rPr>
              <a:t>云基智慧工程股份有限公司 · 至诚重光 · 二次出发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155680" y="6473952"/>
            <a:ext cx="82296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000" b="0">
                <a:solidFill>
                  <a:srgbClr val="8A9AB8"/>
                </a:solidFill>
                <a:latin typeface="微软雅黑"/>
              </a:rPr>
              <a:t>28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B3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1097280" y="2788920"/>
            <a:ext cx="2926080" cy="25400"/>
          </a:xfrm>
          <a:prstGeom prst="rect">
            <a:avLst/>
          </a:prstGeom>
          <a:solidFill>
            <a:srgbClr val="F5B9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097280" y="1645920"/>
            <a:ext cx="1005840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200" b="1">
                <a:solidFill>
                  <a:srgbClr val="1E6FFF"/>
                </a:solidFill>
                <a:latin typeface="微软雅黑"/>
              </a:rPr>
              <a:t>第六章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97280" y="2971800"/>
            <a:ext cx="10515600" cy="1463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3800" b="1">
                <a:solidFill>
                  <a:srgbClr val="FFFFFF"/>
                </a:solidFill>
                <a:latin typeface="微软雅黑"/>
              </a:rPr>
              <a:t>从组织到人，从人到生命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7280" y="4480560"/>
            <a:ext cx="1005840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600" b="0">
                <a:solidFill>
                  <a:srgbClr val="C9D8F0"/>
                </a:solidFill>
                <a:latin typeface="微软雅黑"/>
              </a:rPr>
              <a:t>我们为什么在一起。</a:t>
            </a:r>
          </a:p>
        </p:txBody>
      </p:sp>
      <p:sp>
        <p:nvSpPr>
          <p:cNvPr id="6" name="Rectangle 5"/>
          <p:cNvSpPr/>
          <p:nvPr/>
        </p:nvSpPr>
        <p:spPr>
          <a:xfrm>
            <a:off x="548640" y="6446520"/>
            <a:ext cx="11091672" cy="19050"/>
          </a:xfrm>
          <a:prstGeom prst="rect">
            <a:avLst/>
          </a:prstGeom>
          <a:solidFill>
            <a:srgbClr val="1E6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48640" y="6473952"/>
            <a:ext cx="82296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8A9AB8"/>
                </a:solidFill>
                <a:latin typeface="微软雅黑"/>
              </a:rPr>
              <a:t>云基智慧工程股份有限公司 · 至诚重光 · 二次出发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155680" y="6473952"/>
            <a:ext cx="82296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000" b="0">
                <a:solidFill>
                  <a:srgbClr val="8A9AB8"/>
                </a:solidFill>
                <a:latin typeface="微软雅黑"/>
              </a:rPr>
              <a:t>29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B3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48640" y="502920"/>
            <a:ext cx="82296" cy="777240"/>
          </a:xfrm>
          <a:prstGeom prst="rect">
            <a:avLst/>
          </a:prstGeom>
          <a:solidFill>
            <a:srgbClr val="1E6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77240" y="457200"/>
            <a:ext cx="1078992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800" b="1">
                <a:solidFill>
                  <a:srgbClr val="FFFFFF"/>
                </a:solidFill>
                <a:latin typeface="微软雅黑"/>
              </a:rPr>
              <a:t>从组织回归到人：公司是人的联合体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325880"/>
            <a:ext cx="1060704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1">
                <a:solidFill>
                  <a:srgbClr val="F5B942"/>
                </a:solidFill>
                <a:latin typeface="微软雅黑"/>
              </a:rPr>
              <a:t>核心观点：组织不是机器，是一群人为共同目标的自愿联合；股权是联合的契约形式。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2148840"/>
            <a:ext cx="1060704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25000"/>
              </a:lnSpc>
              <a:spcAft>
                <a:spcPts val="1000"/>
              </a:spcAft>
            </a:pPr>
            <a:r>
              <a:rPr sz="1700" b="1">
                <a:solidFill>
                  <a:srgbClr val="F5B942"/>
                </a:solidFill>
              </a:rPr>
              <a:t>▸ </a:t>
            </a:r>
            <a:r>
              <a:rPr sz="1700">
                <a:solidFill>
                  <a:srgbClr val="C9D8F0"/>
                </a:solidFill>
                <a:latin typeface="微软雅黑"/>
              </a:rPr>
              <a:t>公司的本质：一群人+一件事+一套约定</a:t>
            </a:r>
          </a:p>
          <a:p>
            <a:pPr>
              <a:lnSpc>
                <a:spcPct val="125000"/>
              </a:lnSpc>
              <a:spcAft>
                <a:spcPts val="1000"/>
              </a:spcAft>
            </a:pPr>
            <a:r>
              <a:rPr sz="1700" b="1">
                <a:solidFill>
                  <a:srgbClr val="F5B942"/>
                </a:solidFill>
              </a:rPr>
              <a:t>▸ </a:t>
            </a:r>
            <a:r>
              <a:rPr sz="1700">
                <a:solidFill>
                  <a:srgbClr val="C9D8F0"/>
                </a:solidFill>
                <a:latin typeface="微软雅黑"/>
              </a:rPr>
              <a:t>雇佣关系→合伙关系的区别：打工者看工资，合伙人看事业</a:t>
            </a:r>
          </a:p>
          <a:p>
            <a:pPr>
              <a:lnSpc>
                <a:spcPct val="125000"/>
              </a:lnSpc>
              <a:spcAft>
                <a:spcPts val="1000"/>
              </a:spcAft>
            </a:pPr>
            <a:r>
              <a:rPr sz="1700" b="1">
                <a:solidFill>
                  <a:srgbClr val="F5B942"/>
                </a:solidFill>
              </a:rPr>
              <a:t>▸ </a:t>
            </a:r>
            <a:r>
              <a:rPr sz="1700">
                <a:solidFill>
                  <a:srgbClr val="C9D8F0"/>
                </a:solidFill>
                <a:latin typeface="微软雅黑"/>
              </a:rPr>
              <a:t>股权激励的真义：把“公司的事”变成“我们的事”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5897880"/>
            <a:ext cx="1060704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>
                <a:solidFill>
                  <a:srgbClr val="8A9AB8"/>
                </a:solidFill>
                <a:latin typeface="微软雅黑"/>
              </a:rPr>
              <a:t>【视觉建议】从齿轮图标渐变为手拉手人形链的对比图。</a:t>
            </a:r>
          </a:p>
        </p:txBody>
      </p:sp>
      <p:sp>
        <p:nvSpPr>
          <p:cNvPr id="7" name="Rectangle 6"/>
          <p:cNvSpPr/>
          <p:nvPr/>
        </p:nvSpPr>
        <p:spPr>
          <a:xfrm>
            <a:off x="548640" y="6446520"/>
            <a:ext cx="11091672" cy="19050"/>
          </a:xfrm>
          <a:prstGeom prst="rect">
            <a:avLst/>
          </a:prstGeom>
          <a:solidFill>
            <a:srgbClr val="1E6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48640" y="6473952"/>
            <a:ext cx="82296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8A9AB8"/>
                </a:solidFill>
                <a:latin typeface="微软雅黑"/>
              </a:rPr>
              <a:t>云基智慧工程股份有限公司 · 至诚重光 · 二次出发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155680" y="6473952"/>
            <a:ext cx="82296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000" b="0">
                <a:solidFill>
                  <a:srgbClr val="8A9AB8"/>
                </a:solidFill>
                <a:latin typeface="微软雅黑"/>
              </a:rPr>
              <a:t>30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B3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48640" y="502920"/>
            <a:ext cx="82296" cy="777240"/>
          </a:xfrm>
          <a:prstGeom prst="rect">
            <a:avLst/>
          </a:prstGeom>
          <a:solidFill>
            <a:srgbClr val="1E6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77240" y="457200"/>
            <a:ext cx="1078992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800" b="1">
                <a:solidFill>
                  <a:srgbClr val="FFFFFF"/>
                </a:solidFill>
                <a:latin typeface="微软雅黑"/>
              </a:rPr>
              <a:t>从人回归到生命：工作与生命价值的联结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325880"/>
            <a:ext cx="1060704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1">
                <a:solidFill>
                  <a:srgbClr val="F5B942"/>
                </a:solidFill>
                <a:latin typeface="微软雅黑"/>
              </a:rPr>
              <a:t>核心观点：人这一生，总要选一件值得做的事、一群值得同行的人。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2148840"/>
            <a:ext cx="1060704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25000"/>
              </a:lnSpc>
              <a:spcAft>
                <a:spcPts val="1000"/>
              </a:spcAft>
            </a:pPr>
            <a:r>
              <a:rPr sz="1700" b="1">
                <a:solidFill>
                  <a:srgbClr val="F5B942"/>
                </a:solidFill>
              </a:rPr>
              <a:t>▸ </a:t>
            </a:r>
            <a:r>
              <a:rPr sz="1700">
                <a:solidFill>
                  <a:srgbClr val="C9D8F0"/>
                </a:solidFill>
                <a:latin typeface="微软雅黑"/>
              </a:rPr>
              <a:t>“过好日子”不只是收入，是确定感、成长感、意义感</a:t>
            </a:r>
          </a:p>
          <a:p>
            <a:pPr>
              <a:lnSpc>
                <a:spcPct val="125000"/>
              </a:lnSpc>
              <a:spcAft>
                <a:spcPts val="1000"/>
              </a:spcAft>
            </a:pPr>
            <a:r>
              <a:rPr sz="1700" b="1">
                <a:solidFill>
                  <a:srgbClr val="F5B942"/>
                </a:solidFill>
              </a:rPr>
              <a:t>▸ </a:t>
            </a:r>
            <a:r>
              <a:rPr sz="1700">
                <a:solidFill>
                  <a:srgbClr val="C9D8F0"/>
                </a:solidFill>
                <a:latin typeface="微软雅黑"/>
              </a:rPr>
              <a:t>在国产工程软件突围这件事上，我们的工作有超越个体的价值（科技自立自强的时代注脚）</a:t>
            </a:r>
          </a:p>
          <a:p>
            <a:pPr>
              <a:lnSpc>
                <a:spcPct val="125000"/>
              </a:lnSpc>
              <a:spcAft>
                <a:spcPts val="1000"/>
              </a:spcAft>
            </a:pPr>
            <a:r>
              <a:rPr sz="1700" b="1">
                <a:solidFill>
                  <a:srgbClr val="F5B942"/>
                </a:solidFill>
              </a:rPr>
              <a:t>▸ </a:t>
            </a:r>
            <a:r>
              <a:rPr sz="1700">
                <a:solidFill>
                  <a:srgbClr val="C9D8F0"/>
                </a:solidFill>
                <a:latin typeface="微软雅黑"/>
              </a:rPr>
              <a:t>至暗时刻的相互扶持，已经证明这是一群什么样的人</a:t>
            </a:r>
          </a:p>
          <a:p>
            <a:pPr>
              <a:lnSpc>
                <a:spcPct val="125000"/>
              </a:lnSpc>
              <a:spcAft>
                <a:spcPts val="1000"/>
              </a:spcAft>
            </a:pPr>
            <a:r>
              <a:rPr sz="1700" b="1">
                <a:solidFill>
                  <a:srgbClr val="F5B942"/>
                </a:solidFill>
              </a:rPr>
              <a:t>▸ </a:t>
            </a:r>
            <a:r>
              <a:rPr sz="1700">
                <a:solidFill>
                  <a:srgbClr val="C9D8F0"/>
                </a:solidFill>
                <a:latin typeface="微软雅黑"/>
              </a:rPr>
              <a:t>二次出发，是每个人职业生命的一次主动选择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5897880"/>
            <a:ext cx="1060704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>
                <a:solidFill>
                  <a:srgbClr val="8A9AB8"/>
                </a:solidFill>
                <a:latin typeface="微软雅黑"/>
              </a:rPr>
              <a:t>【视觉建议】一条人生时间轴与公司发展时间轴交织缠绕的双线图，暖色调。</a:t>
            </a:r>
          </a:p>
        </p:txBody>
      </p:sp>
      <p:sp>
        <p:nvSpPr>
          <p:cNvPr id="7" name="Rectangle 6"/>
          <p:cNvSpPr/>
          <p:nvPr/>
        </p:nvSpPr>
        <p:spPr>
          <a:xfrm>
            <a:off x="548640" y="6446520"/>
            <a:ext cx="11091672" cy="19050"/>
          </a:xfrm>
          <a:prstGeom prst="rect">
            <a:avLst/>
          </a:prstGeom>
          <a:solidFill>
            <a:srgbClr val="1E6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48640" y="6473952"/>
            <a:ext cx="82296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8A9AB8"/>
                </a:solidFill>
                <a:latin typeface="微软雅黑"/>
              </a:rPr>
              <a:t>云基智慧工程股份有限公司 · 至诚重光 · 二次出发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155680" y="6473952"/>
            <a:ext cx="82296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000" b="0">
                <a:solidFill>
                  <a:srgbClr val="8A9AB8"/>
                </a:solidFill>
                <a:latin typeface="微软雅黑"/>
              </a:rPr>
              <a:t>31</a:t>
            </a: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B3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48640" y="502920"/>
            <a:ext cx="82296" cy="777240"/>
          </a:xfrm>
          <a:prstGeom prst="rect">
            <a:avLst/>
          </a:prstGeom>
          <a:solidFill>
            <a:srgbClr val="1E6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77240" y="457200"/>
            <a:ext cx="1078992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800" b="1">
                <a:solidFill>
                  <a:srgbClr val="FFFFFF"/>
                </a:solidFill>
                <a:latin typeface="微软雅黑"/>
              </a:rPr>
              <a:t>至诚文化的再觉醒：四句话的重新出发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325880"/>
            <a:ext cx="1060704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1">
                <a:solidFill>
                  <a:srgbClr val="F5B942"/>
                </a:solidFill>
                <a:latin typeface="微软雅黑"/>
              </a:rPr>
              <a:t>核心观点：“行正道，造市场，做事业，过好日子”——十二个字，就是我们全部的答案。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2148840"/>
            <a:ext cx="1060704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25000"/>
              </a:lnSpc>
              <a:spcAft>
                <a:spcPts val="1000"/>
              </a:spcAft>
            </a:pPr>
            <a:r>
              <a:rPr sz="1700" b="1">
                <a:solidFill>
                  <a:srgbClr val="F5B942"/>
                </a:solidFill>
              </a:rPr>
              <a:t>▸ </a:t>
            </a:r>
            <a:r>
              <a:rPr sz="1700">
                <a:solidFill>
                  <a:srgbClr val="C9D8F0"/>
                </a:solidFill>
                <a:latin typeface="微软雅黑"/>
              </a:rPr>
              <a:t>行正道：合规经营、技术立身、不赚快钱</a:t>
            </a:r>
          </a:p>
          <a:p>
            <a:pPr>
              <a:lnSpc>
                <a:spcPct val="125000"/>
              </a:lnSpc>
              <a:spcAft>
                <a:spcPts val="1000"/>
              </a:spcAft>
            </a:pPr>
            <a:r>
              <a:rPr sz="1700" b="1">
                <a:solidFill>
                  <a:srgbClr val="F5B942"/>
                </a:solidFill>
              </a:rPr>
              <a:t>▸ </a:t>
            </a:r>
            <a:r>
              <a:rPr sz="1700">
                <a:solidFill>
                  <a:srgbClr val="C9D8F0"/>
                </a:solidFill>
                <a:latin typeface="微软雅黑"/>
              </a:rPr>
              <a:t>造市场：不等风来，主动创造需求</a:t>
            </a:r>
          </a:p>
          <a:p>
            <a:pPr>
              <a:lnSpc>
                <a:spcPct val="125000"/>
              </a:lnSpc>
              <a:spcAft>
                <a:spcPts val="1000"/>
              </a:spcAft>
            </a:pPr>
            <a:r>
              <a:rPr sz="1700" b="1">
                <a:solidFill>
                  <a:srgbClr val="F5B942"/>
                </a:solidFill>
              </a:rPr>
              <a:t>▸ </a:t>
            </a:r>
            <a:r>
              <a:rPr sz="1700">
                <a:solidFill>
                  <a:srgbClr val="C9D8F0"/>
                </a:solidFill>
                <a:latin typeface="微软雅黑"/>
              </a:rPr>
              <a:t>做事业：以十年计，不以季度计</a:t>
            </a:r>
          </a:p>
          <a:p>
            <a:pPr>
              <a:lnSpc>
                <a:spcPct val="125000"/>
              </a:lnSpc>
              <a:spcAft>
                <a:spcPts val="1000"/>
              </a:spcAft>
            </a:pPr>
            <a:r>
              <a:rPr sz="1700" b="1">
                <a:solidFill>
                  <a:srgbClr val="F5B942"/>
                </a:solidFill>
              </a:rPr>
              <a:t>▸ </a:t>
            </a:r>
            <a:r>
              <a:rPr sz="1700">
                <a:solidFill>
                  <a:srgbClr val="C9D8F0"/>
                </a:solidFill>
                <a:latin typeface="微软雅黑"/>
              </a:rPr>
              <a:t>过好日子：公司的终极目的，是让奋斗者过上好日子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5897880"/>
            <a:ext cx="1060704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>
                <a:solidFill>
                  <a:srgbClr val="8A9AB8"/>
                </a:solidFill>
                <a:latin typeface="微软雅黑"/>
              </a:rPr>
              <a:t>【视觉建议】四句理念做成四块发光的基石，托起“至诚”二字。</a:t>
            </a:r>
          </a:p>
        </p:txBody>
      </p:sp>
      <p:sp>
        <p:nvSpPr>
          <p:cNvPr id="7" name="Rectangle 6"/>
          <p:cNvSpPr/>
          <p:nvPr/>
        </p:nvSpPr>
        <p:spPr>
          <a:xfrm>
            <a:off x="548640" y="6446520"/>
            <a:ext cx="11091672" cy="19050"/>
          </a:xfrm>
          <a:prstGeom prst="rect">
            <a:avLst/>
          </a:prstGeom>
          <a:solidFill>
            <a:srgbClr val="1E6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48640" y="6473952"/>
            <a:ext cx="82296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8A9AB8"/>
                </a:solidFill>
                <a:latin typeface="微软雅黑"/>
              </a:rPr>
              <a:t>云基智慧工程股份有限公司 · 至诚重光 · 二次出发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155680" y="6473952"/>
            <a:ext cx="82296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000" b="0">
                <a:solidFill>
                  <a:srgbClr val="8A9AB8"/>
                </a:solidFill>
                <a:latin typeface="微软雅黑"/>
              </a:rPr>
              <a:t>32</a:t>
            </a: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B3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1097280" y="2788920"/>
            <a:ext cx="2926080" cy="25400"/>
          </a:xfrm>
          <a:prstGeom prst="rect">
            <a:avLst/>
          </a:prstGeom>
          <a:solidFill>
            <a:srgbClr val="F5B9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097280" y="1645920"/>
            <a:ext cx="1005840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200" b="1">
                <a:solidFill>
                  <a:srgbClr val="1E6FFF"/>
                </a:solidFill>
                <a:latin typeface="微软雅黑"/>
              </a:rPr>
              <a:t>第七章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97280" y="2971800"/>
            <a:ext cx="10515600" cy="1463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3800" b="1">
                <a:solidFill>
                  <a:srgbClr val="FFFFFF"/>
                </a:solidFill>
                <a:latin typeface="微软雅黑"/>
              </a:rPr>
              <a:t>产品治理：留什么、谁来管、怎么干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7280" y="4480560"/>
            <a:ext cx="1005840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600" b="0">
                <a:solidFill>
                  <a:srgbClr val="C9D8F0"/>
                </a:solidFill>
                <a:latin typeface="微软雅黑"/>
              </a:rPr>
              <a:t>信心要落到具体的活上；这一章讲清楚我们到底干什么。</a:t>
            </a:r>
          </a:p>
        </p:txBody>
      </p:sp>
      <p:sp>
        <p:nvSpPr>
          <p:cNvPr id="6" name="Rectangle 5"/>
          <p:cNvSpPr/>
          <p:nvPr/>
        </p:nvSpPr>
        <p:spPr>
          <a:xfrm>
            <a:off x="548640" y="6446520"/>
            <a:ext cx="11091672" cy="19050"/>
          </a:xfrm>
          <a:prstGeom prst="rect">
            <a:avLst/>
          </a:prstGeom>
          <a:solidFill>
            <a:srgbClr val="1E6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48640" y="6473952"/>
            <a:ext cx="82296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8A9AB8"/>
                </a:solidFill>
                <a:latin typeface="微软雅黑"/>
              </a:rPr>
              <a:t>云基智慧工程股份有限公司 · 至诚重光 · 二次出发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155680" y="6473952"/>
            <a:ext cx="82296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000" b="0">
                <a:solidFill>
                  <a:srgbClr val="8A9AB8"/>
                </a:solidFill>
                <a:latin typeface="微软雅黑"/>
              </a:rPr>
              <a:t>33</a:t>
            </a: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B3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48640" y="502920"/>
            <a:ext cx="82296" cy="777240"/>
          </a:xfrm>
          <a:prstGeom prst="rect">
            <a:avLst/>
          </a:prstGeom>
          <a:solidFill>
            <a:srgbClr val="1E6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77240" y="457200"/>
            <a:ext cx="1078992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800" b="1">
                <a:solidFill>
                  <a:srgbClr val="FFFFFF"/>
                </a:solidFill>
                <a:latin typeface="微软雅黑"/>
              </a:rPr>
              <a:t>公司产品全景梳理：分类分级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325880"/>
            <a:ext cx="1060704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1">
                <a:solidFill>
                  <a:srgbClr val="F5B942"/>
                </a:solidFill>
                <a:latin typeface="微软雅黑"/>
              </a:rPr>
              <a:t>核心观点：所有产品一张图，按战略价值和商业成熟度分类分级。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2148840"/>
            <a:ext cx="1060704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25000"/>
              </a:lnSpc>
              <a:spcAft>
                <a:spcPts val="1000"/>
              </a:spcAft>
            </a:pPr>
            <a:r>
              <a:rPr sz="1700" b="1">
                <a:solidFill>
                  <a:srgbClr val="F5B942"/>
                </a:solidFill>
              </a:rPr>
              <a:t>▸ </a:t>
            </a:r>
            <a:r>
              <a:rPr sz="1700">
                <a:solidFill>
                  <a:srgbClr val="C9D8F0"/>
                </a:solidFill>
                <a:latin typeface="微软雅黑"/>
              </a:rPr>
              <a:t>产品全清单盘点【填入实际产品】</a:t>
            </a:r>
          </a:p>
          <a:p>
            <a:pPr>
              <a:lnSpc>
                <a:spcPct val="125000"/>
              </a:lnSpc>
              <a:spcAft>
                <a:spcPts val="1000"/>
              </a:spcAft>
            </a:pPr>
            <a:r>
              <a:rPr sz="1700" b="1">
                <a:solidFill>
                  <a:srgbClr val="F5B942"/>
                </a:solidFill>
              </a:rPr>
              <a:t>▸ </a:t>
            </a:r>
            <a:r>
              <a:rPr sz="1700">
                <a:solidFill>
                  <a:srgbClr val="C9D8F0"/>
                </a:solidFill>
                <a:latin typeface="微软雅黑"/>
              </a:rPr>
              <a:t>分类维度：平台级/应用级/项目级</a:t>
            </a:r>
          </a:p>
          <a:p>
            <a:pPr>
              <a:lnSpc>
                <a:spcPct val="125000"/>
              </a:lnSpc>
              <a:spcAft>
                <a:spcPts val="1000"/>
              </a:spcAft>
            </a:pPr>
            <a:r>
              <a:rPr sz="1700" b="1">
                <a:solidFill>
                  <a:srgbClr val="F5B942"/>
                </a:solidFill>
              </a:rPr>
              <a:t>▸ </a:t>
            </a:r>
            <a:r>
              <a:rPr sz="1700">
                <a:solidFill>
                  <a:srgbClr val="C9D8F0"/>
                </a:solidFill>
                <a:latin typeface="微软雅黑"/>
              </a:rPr>
              <a:t>分级维度：战略级（S）/发展级（A）/维持级（B）/退出级（C）</a:t>
            </a:r>
          </a:p>
          <a:p>
            <a:pPr>
              <a:lnSpc>
                <a:spcPct val="125000"/>
              </a:lnSpc>
              <a:spcAft>
                <a:spcPts val="1000"/>
              </a:spcAft>
            </a:pPr>
            <a:r>
              <a:rPr sz="1700" b="1">
                <a:solidFill>
                  <a:srgbClr val="F5B942"/>
                </a:solidFill>
              </a:rPr>
              <a:t>▸ </a:t>
            </a:r>
            <a:r>
              <a:rPr sz="1700">
                <a:solidFill>
                  <a:srgbClr val="C9D8F0"/>
                </a:solidFill>
                <a:latin typeface="微软雅黑"/>
              </a:rPr>
              <a:t>每个产品的当前定级与理由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5897880"/>
            <a:ext cx="1060704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>
                <a:solidFill>
                  <a:srgbClr val="8A9AB8"/>
                </a:solidFill>
                <a:latin typeface="微软雅黑"/>
              </a:rPr>
              <a:t>【视觉建议】2×2矩阵图（战略价值×商业成熟度），产品以气泡落位。</a:t>
            </a:r>
          </a:p>
        </p:txBody>
      </p:sp>
      <p:sp>
        <p:nvSpPr>
          <p:cNvPr id="7" name="Rectangle 6"/>
          <p:cNvSpPr/>
          <p:nvPr/>
        </p:nvSpPr>
        <p:spPr>
          <a:xfrm>
            <a:off x="548640" y="6446520"/>
            <a:ext cx="11091672" cy="19050"/>
          </a:xfrm>
          <a:prstGeom prst="rect">
            <a:avLst/>
          </a:prstGeom>
          <a:solidFill>
            <a:srgbClr val="1E6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48640" y="6473952"/>
            <a:ext cx="82296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8A9AB8"/>
                </a:solidFill>
                <a:latin typeface="微软雅黑"/>
              </a:rPr>
              <a:t>云基智慧工程股份有限公司 · 至诚重光 · 二次出发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155680" y="6473952"/>
            <a:ext cx="82296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000" b="0">
                <a:solidFill>
                  <a:srgbClr val="8A9AB8"/>
                </a:solidFill>
                <a:latin typeface="微软雅黑"/>
              </a:rPr>
              <a:t>34</a:t>
            </a: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B3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48640" y="502920"/>
            <a:ext cx="82296" cy="777240"/>
          </a:xfrm>
          <a:prstGeom prst="rect">
            <a:avLst/>
          </a:prstGeom>
          <a:solidFill>
            <a:srgbClr val="1E6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77240" y="457200"/>
            <a:ext cx="1078992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800" b="1">
                <a:solidFill>
                  <a:srgbClr val="FFFFFF"/>
                </a:solidFill>
                <a:latin typeface="微软雅黑"/>
              </a:rPr>
              <a:t>产品决策体系：决策点、决策机制与授权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325880"/>
            <a:ext cx="1060704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1">
                <a:solidFill>
                  <a:srgbClr val="F5B942"/>
                </a:solidFill>
                <a:latin typeface="微软雅黑"/>
              </a:rPr>
              <a:t>核心观点：什么事、到什么节点、谁来拍板、拍板依据是什么——全部明确。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2148840"/>
            <a:ext cx="1060704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25000"/>
              </a:lnSpc>
              <a:spcAft>
                <a:spcPts val="1000"/>
              </a:spcAft>
            </a:pPr>
            <a:r>
              <a:rPr sz="1700" b="1">
                <a:solidFill>
                  <a:srgbClr val="F5B942"/>
                </a:solidFill>
              </a:rPr>
              <a:t>▸ </a:t>
            </a:r>
            <a:r>
              <a:rPr sz="1700">
                <a:solidFill>
                  <a:srgbClr val="C9D8F0"/>
                </a:solidFill>
                <a:latin typeface="微软雅黑"/>
              </a:rPr>
              <a:t>关键决策点：立项/里程碑评审/迭代投入/降级退出</a:t>
            </a:r>
          </a:p>
          <a:p>
            <a:pPr>
              <a:lnSpc>
                <a:spcPct val="125000"/>
              </a:lnSpc>
              <a:spcAft>
                <a:spcPts val="1000"/>
              </a:spcAft>
            </a:pPr>
            <a:r>
              <a:rPr sz="1700" b="1">
                <a:solidFill>
                  <a:srgbClr val="F5B942"/>
                </a:solidFill>
              </a:rPr>
              <a:t>▸ </a:t>
            </a:r>
            <a:r>
              <a:rPr sz="1700">
                <a:solidFill>
                  <a:srgbClr val="C9D8F0"/>
                </a:solidFill>
                <a:latin typeface="微软雅黑"/>
              </a:rPr>
              <a:t>决策机制：产品委员会构成与议事规则</a:t>
            </a:r>
          </a:p>
          <a:p>
            <a:pPr>
              <a:lnSpc>
                <a:spcPct val="125000"/>
              </a:lnSpc>
              <a:spcAft>
                <a:spcPts val="1000"/>
              </a:spcAft>
            </a:pPr>
            <a:r>
              <a:rPr sz="1700" b="1">
                <a:solidFill>
                  <a:srgbClr val="F5B942"/>
                </a:solidFill>
              </a:rPr>
              <a:t>▸ </a:t>
            </a:r>
            <a:r>
              <a:rPr sz="1700">
                <a:solidFill>
                  <a:srgbClr val="C9D8F0"/>
                </a:solidFill>
                <a:latin typeface="微软雅黑"/>
              </a:rPr>
              <a:t>授权体系：哪些决策授权产品负责人、哪些上产品委员会、哪些上经营层/董事会</a:t>
            </a:r>
          </a:p>
          <a:p>
            <a:pPr>
              <a:lnSpc>
                <a:spcPct val="125000"/>
              </a:lnSpc>
              <a:spcAft>
                <a:spcPts val="1000"/>
              </a:spcAft>
            </a:pPr>
            <a:r>
              <a:rPr sz="1700" b="1">
                <a:solidFill>
                  <a:srgbClr val="F5B942"/>
                </a:solidFill>
              </a:rPr>
              <a:t>▸ </a:t>
            </a:r>
            <a:r>
              <a:rPr sz="1700">
                <a:solidFill>
                  <a:srgbClr val="C9D8F0"/>
                </a:solidFill>
                <a:latin typeface="微软雅黑"/>
              </a:rPr>
              <a:t>决策依据：数据化的评审标准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5897880"/>
            <a:ext cx="1060704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>
                <a:solidFill>
                  <a:srgbClr val="8A9AB8"/>
                </a:solidFill>
                <a:latin typeface="微软雅黑"/>
              </a:rPr>
              <a:t>【视觉建议】泳道式决策流程图+授权层级金字塔。</a:t>
            </a:r>
          </a:p>
        </p:txBody>
      </p:sp>
      <p:sp>
        <p:nvSpPr>
          <p:cNvPr id="7" name="Rectangle 6"/>
          <p:cNvSpPr/>
          <p:nvPr/>
        </p:nvSpPr>
        <p:spPr>
          <a:xfrm>
            <a:off x="548640" y="6446520"/>
            <a:ext cx="11091672" cy="19050"/>
          </a:xfrm>
          <a:prstGeom prst="rect">
            <a:avLst/>
          </a:prstGeom>
          <a:solidFill>
            <a:srgbClr val="1E6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48640" y="6473952"/>
            <a:ext cx="82296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8A9AB8"/>
                </a:solidFill>
                <a:latin typeface="微软雅黑"/>
              </a:rPr>
              <a:t>云基智慧工程股份有限公司 · 至诚重光 · 二次出发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155680" y="6473952"/>
            <a:ext cx="82296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000" b="0">
                <a:solidFill>
                  <a:srgbClr val="8A9AB8"/>
                </a:solidFill>
                <a:latin typeface="微软雅黑"/>
              </a:rPr>
              <a:t>35</a:t>
            </a: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B3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48640" y="502920"/>
            <a:ext cx="82296" cy="777240"/>
          </a:xfrm>
          <a:prstGeom prst="rect">
            <a:avLst/>
          </a:prstGeom>
          <a:solidFill>
            <a:srgbClr val="1E6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77240" y="457200"/>
            <a:ext cx="1078992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800" b="1">
                <a:solidFill>
                  <a:srgbClr val="FFFFFF"/>
                </a:solidFill>
                <a:latin typeface="微软雅黑"/>
              </a:rPr>
              <a:t>代码资产管理：谁来管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325880"/>
            <a:ext cx="1060704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1">
                <a:solidFill>
                  <a:srgbClr val="F5B942"/>
                </a:solidFill>
                <a:latin typeface="微软雅黑"/>
              </a:rPr>
              <a:t>核心观点：代码是公司最核心的资产，实行统一归口、分级授权管理。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2148840"/>
            <a:ext cx="1060704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25000"/>
              </a:lnSpc>
              <a:spcAft>
                <a:spcPts val="1000"/>
              </a:spcAft>
            </a:pPr>
            <a:r>
              <a:rPr sz="1700" b="1">
                <a:solidFill>
                  <a:srgbClr val="F5B942"/>
                </a:solidFill>
              </a:rPr>
              <a:t>▸ </a:t>
            </a:r>
            <a:r>
              <a:rPr sz="1700">
                <a:solidFill>
                  <a:srgbClr val="C9D8F0"/>
                </a:solidFill>
                <a:latin typeface="微软雅黑"/>
              </a:rPr>
              <a:t>代码资产统一归口部门/角色【按实际填入】</a:t>
            </a:r>
          </a:p>
          <a:p>
            <a:pPr>
              <a:lnSpc>
                <a:spcPct val="125000"/>
              </a:lnSpc>
              <a:spcAft>
                <a:spcPts val="1000"/>
              </a:spcAft>
            </a:pPr>
            <a:r>
              <a:rPr sz="1700" b="1">
                <a:solidFill>
                  <a:srgbClr val="F5B942"/>
                </a:solidFill>
              </a:rPr>
              <a:t>▸ </a:t>
            </a:r>
            <a:r>
              <a:rPr sz="1700">
                <a:solidFill>
                  <a:srgbClr val="C9D8F0"/>
                </a:solidFill>
                <a:latin typeface="微软雅黑"/>
              </a:rPr>
              <a:t>代码仓库管理制度：权限分级、分支策略、评审机制</a:t>
            </a:r>
          </a:p>
          <a:p>
            <a:pPr>
              <a:lnSpc>
                <a:spcPct val="125000"/>
              </a:lnSpc>
              <a:spcAft>
                <a:spcPts val="1000"/>
              </a:spcAft>
            </a:pPr>
            <a:r>
              <a:rPr sz="1700" b="1">
                <a:solidFill>
                  <a:srgbClr val="F5B942"/>
                </a:solidFill>
              </a:rPr>
              <a:t>▸ </a:t>
            </a:r>
            <a:r>
              <a:rPr sz="1700">
                <a:solidFill>
                  <a:srgbClr val="C9D8F0"/>
                </a:solidFill>
                <a:latin typeface="微软雅黑"/>
              </a:rPr>
              <a:t>核心模块（如玄镜内核）的特殊管控：接触人员白名单、保密协议</a:t>
            </a:r>
          </a:p>
          <a:p>
            <a:pPr>
              <a:lnSpc>
                <a:spcPct val="125000"/>
              </a:lnSpc>
              <a:spcAft>
                <a:spcPts val="1000"/>
              </a:spcAft>
            </a:pPr>
            <a:r>
              <a:rPr sz="1700" b="1">
                <a:solidFill>
                  <a:srgbClr val="F5B942"/>
                </a:solidFill>
              </a:rPr>
              <a:t>▸ </a:t>
            </a:r>
            <a:r>
              <a:rPr sz="1700">
                <a:solidFill>
                  <a:srgbClr val="C9D8F0"/>
                </a:solidFill>
                <a:latin typeface="微软雅黑"/>
              </a:rPr>
              <a:t>代码资产与知识产权的对应管理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5897880"/>
            <a:ext cx="1060704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>
                <a:solidFill>
                  <a:srgbClr val="8A9AB8"/>
                </a:solidFill>
                <a:latin typeface="微软雅黑"/>
              </a:rPr>
              <a:t>【视觉建议】代码仓库树状结构+权限分级色带图。</a:t>
            </a:r>
          </a:p>
        </p:txBody>
      </p:sp>
      <p:sp>
        <p:nvSpPr>
          <p:cNvPr id="7" name="Rectangle 6"/>
          <p:cNvSpPr/>
          <p:nvPr/>
        </p:nvSpPr>
        <p:spPr>
          <a:xfrm>
            <a:off x="548640" y="6446520"/>
            <a:ext cx="11091672" cy="19050"/>
          </a:xfrm>
          <a:prstGeom prst="rect">
            <a:avLst/>
          </a:prstGeom>
          <a:solidFill>
            <a:srgbClr val="1E6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48640" y="6473952"/>
            <a:ext cx="82296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8A9AB8"/>
                </a:solidFill>
                <a:latin typeface="微软雅黑"/>
              </a:rPr>
              <a:t>云基智慧工程股份有限公司 · 至诚重光 · 二次出发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155680" y="6473952"/>
            <a:ext cx="82296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000" b="0">
                <a:solidFill>
                  <a:srgbClr val="8A9AB8"/>
                </a:solidFill>
                <a:latin typeface="微软雅黑"/>
              </a:rPr>
              <a:t>36</a:t>
            </a:r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B3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48640" y="502920"/>
            <a:ext cx="82296" cy="777240"/>
          </a:xfrm>
          <a:prstGeom prst="rect">
            <a:avLst/>
          </a:prstGeom>
          <a:solidFill>
            <a:srgbClr val="1E6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77240" y="457200"/>
            <a:ext cx="1078992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800" b="1">
                <a:solidFill>
                  <a:srgbClr val="FFFFFF"/>
                </a:solidFill>
                <a:latin typeface="微软雅黑"/>
              </a:rPr>
              <a:t>运维体系：谁来保障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325880"/>
            <a:ext cx="1060704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1">
                <a:solidFill>
                  <a:srgbClr val="F5B942"/>
                </a:solidFill>
                <a:latin typeface="微软雅黑"/>
              </a:rPr>
              <a:t>核心观点：运维责任到人、SLA到项目，数字化员工参与值守。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2148840"/>
            <a:ext cx="1060704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25000"/>
              </a:lnSpc>
              <a:spcAft>
                <a:spcPts val="1000"/>
              </a:spcAft>
            </a:pPr>
            <a:r>
              <a:rPr sz="1700" b="1">
                <a:solidFill>
                  <a:srgbClr val="F5B942"/>
                </a:solidFill>
              </a:rPr>
              <a:t>▸ </a:t>
            </a:r>
            <a:r>
              <a:rPr sz="1700">
                <a:solidFill>
                  <a:srgbClr val="C9D8F0"/>
                </a:solidFill>
                <a:latin typeface="微软雅黑"/>
              </a:rPr>
              <a:t>运维归口团队与责任矩阵（产品×运维负责人）</a:t>
            </a:r>
          </a:p>
          <a:p>
            <a:pPr>
              <a:lnSpc>
                <a:spcPct val="125000"/>
              </a:lnSpc>
              <a:spcAft>
                <a:spcPts val="1000"/>
              </a:spcAft>
            </a:pPr>
            <a:r>
              <a:rPr sz="1700" b="1">
                <a:solidFill>
                  <a:srgbClr val="F5B942"/>
                </a:solidFill>
              </a:rPr>
              <a:t>▸ </a:t>
            </a:r>
            <a:r>
              <a:rPr sz="1700">
                <a:solidFill>
                  <a:srgbClr val="C9D8F0"/>
                </a:solidFill>
                <a:latin typeface="微软雅黑"/>
              </a:rPr>
              <a:t>分级SLA标准</a:t>
            </a:r>
          </a:p>
          <a:p>
            <a:pPr>
              <a:lnSpc>
                <a:spcPct val="125000"/>
              </a:lnSpc>
              <a:spcAft>
                <a:spcPts val="1000"/>
              </a:spcAft>
            </a:pPr>
            <a:r>
              <a:rPr sz="1700" b="1">
                <a:solidFill>
                  <a:srgbClr val="F5B942"/>
                </a:solidFill>
              </a:rPr>
              <a:t>▸ </a:t>
            </a:r>
            <a:r>
              <a:rPr sz="1700">
                <a:solidFill>
                  <a:srgbClr val="C9D8F0"/>
                </a:solidFill>
                <a:latin typeface="微软雅黑"/>
              </a:rPr>
              <a:t>AI/数字化新员工在监控告警、日常巡检中的角色</a:t>
            </a:r>
          </a:p>
          <a:p>
            <a:pPr>
              <a:lnSpc>
                <a:spcPct val="125000"/>
              </a:lnSpc>
              <a:spcAft>
                <a:spcPts val="1000"/>
              </a:spcAft>
            </a:pPr>
            <a:r>
              <a:rPr sz="1700" b="1">
                <a:solidFill>
                  <a:srgbClr val="F5B942"/>
                </a:solidFill>
              </a:rPr>
              <a:t>▸ </a:t>
            </a:r>
            <a:r>
              <a:rPr sz="1700">
                <a:solidFill>
                  <a:srgbClr val="C9D8F0"/>
                </a:solidFill>
                <a:latin typeface="微软雅黑"/>
              </a:rPr>
              <a:t>故障响应与升级机制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5897880"/>
            <a:ext cx="1060704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>
                <a:solidFill>
                  <a:srgbClr val="8A9AB8"/>
                </a:solidFill>
                <a:latin typeface="微软雅黑"/>
              </a:rPr>
              <a:t>【视觉建议】运维责任RACI矩阵表。</a:t>
            </a:r>
          </a:p>
        </p:txBody>
      </p:sp>
      <p:sp>
        <p:nvSpPr>
          <p:cNvPr id="7" name="Rectangle 6"/>
          <p:cNvSpPr/>
          <p:nvPr/>
        </p:nvSpPr>
        <p:spPr>
          <a:xfrm>
            <a:off x="548640" y="6446520"/>
            <a:ext cx="11091672" cy="19050"/>
          </a:xfrm>
          <a:prstGeom prst="rect">
            <a:avLst/>
          </a:prstGeom>
          <a:solidFill>
            <a:srgbClr val="1E6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48640" y="6473952"/>
            <a:ext cx="82296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8A9AB8"/>
                </a:solidFill>
                <a:latin typeface="微软雅黑"/>
              </a:rPr>
              <a:t>云基智慧工程股份有限公司 · 至诚重光 · 二次出发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155680" y="6473952"/>
            <a:ext cx="82296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000" b="0">
                <a:solidFill>
                  <a:srgbClr val="8A9AB8"/>
                </a:solidFill>
                <a:latin typeface="微软雅黑"/>
              </a:rPr>
              <a:t>37</a:t>
            </a:r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B3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48640" y="502920"/>
            <a:ext cx="82296" cy="777240"/>
          </a:xfrm>
          <a:prstGeom prst="rect">
            <a:avLst/>
          </a:prstGeom>
          <a:solidFill>
            <a:srgbClr val="1E6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77240" y="457200"/>
            <a:ext cx="1078992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800" b="1">
                <a:solidFill>
                  <a:srgbClr val="FFFFFF"/>
                </a:solidFill>
                <a:latin typeface="微软雅黑"/>
              </a:rPr>
              <a:t>核心技术的使用方式：开放与管控的平衡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325880"/>
            <a:ext cx="1060704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1">
                <a:solidFill>
                  <a:srgbClr val="F5B942"/>
                </a:solidFill>
                <a:latin typeface="微软雅黑"/>
              </a:rPr>
              <a:t>核心观点：核心技术以“内核封闭+接口开放”的方式赋能业务。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2148840"/>
            <a:ext cx="1060704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25000"/>
              </a:lnSpc>
              <a:spcAft>
                <a:spcPts val="1000"/>
              </a:spcAft>
            </a:pPr>
            <a:r>
              <a:rPr sz="1700" b="1">
                <a:solidFill>
                  <a:srgbClr val="F5B942"/>
                </a:solidFill>
              </a:rPr>
              <a:t>▸ </a:t>
            </a:r>
            <a:r>
              <a:rPr sz="1700">
                <a:solidFill>
                  <a:srgbClr val="C9D8F0"/>
                </a:solidFill>
                <a:latin typeface="微软雅黑"/>
              </a:rPr>
              <a:t>玄镜内核：封闭管理，由核心平台团队专责维护</a:t>
            </a:r>
          </a:p>
          <a:p>
            <a:pPr>
              <a:lnSpc>
                <a:spcPct val="125000"/>
              </a:lnSpc>
              <a:spcAft>
                <a:spcPts val="1000"/>
              </a:spcAft>
            </a:pPr>
            <a:r>
              <a:rPr sz="1700" b="1">
                <a:solidFill>
                  <a:srgbClr val="F5B942"/>
                </a:solidFill>
              </a:rPr>
              <a:t>▸ </a:t>
            </a:r>
            <a:r>
              <a:rPr sz="1700">
                <a:solidFill>
                  <a:srgbClr val="C9D8F0"/>
                </a:solidFill>
                <a:latin typeface="微软雅黑"/>
              </a:rPr>
              <a:t>对内使用：通过SDK/API授权给应用产品线，不直接开放源码</a:t>
            </a:r>
          </a:p>
          <a:p>
            <a:pPr>
              <a:lnSpc>
                <a:spcPct val="125000"/>
              </a:lnSpc>
              <a:spcAft>
                <a:spcPts val="1000"/>
              </a:spcAft>
            </a:pPr>
            <a:r>
              <a:rPr sz="1700" b="1">
                <a:solidFill>
                  <a:srgbClr val="F5B942"/>
                </a:solidFill>
              </a:rPr>
              <a:t>▸ </a:t>
            </a:r>
            <a:r>
              <a:rPr sz="1700">
                <a:solidFill>
                  <a:srgbClr val="C9D8F0"/>
                </a:solidFill>
                <a:latin typeface="微软雅黑"/>
              </a:rPr>
              <a:t>对外合作：license授权模式与合作伙伴分级</a:t>
            </a:r>
          </a:p>
          <a:p>
            <a:pPr>
              <a:lnSpc>
                <a:spcPct val="125000"/>
              </a:lnSpc>
              <a:spcAft>
                <a:spcPts val="1000"/>
              </a:spcAft>
            </a:pPr>
            <a:r>
              <a:rPr sz="1700" b="1">
                <a:solidFill>
                  <a:srgbClr val="F5B942"/>
                </a:solidFill>
              </a:rPr>
              <a:t>▸ </a:t>
            </a:r>
            <a:r>
              <a:rPr sz="1700">
                <a:solidFill>
                  <a:srgbClr val="C9D8F0"/>
                </a:solidFill>
                <a:latin typeface="微软雅黑"/>
              </a:rPr>
              <a:t>使用者资格：培训认证上岗【按实际机制填入】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5897880"/>
            <a:ext cx="1060704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>
                <a:solidFill>
                  <a:srgbClr val="8A9AB8"/>
                </a:solidFill>
                <a:latin typeface="微软雅黑"/>
              </a:rPr>
              <a:t>【视觉建议】同心圆架构图：内核（封闭）→SDK层→应用层→生态层。</a:t>
            </a:r>
          </a:p>
        </p:txBody>
      </p:sp>
      <p:sp>
        <p:nvSpPr>
          <p:cNvPr id="7" name="Rectangle 6"/>
          <p:cNvSpPr/>
          <p:nvPr/>
        </p:nvSpPr>
        <p:spPr>
          <a:xfrm>
            <a:off x="548640" y="6446520"/>
            <a:ext cx="11091672" cy="19050"/>
          </a:xfrm>
          <a:prstGeom prst="rect">
            <a:avLst/>
          </a:prstGeom>
          <a:solidFill>
            <a:srgbClr val="1E6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48640" y="6473952"/>
            <a:ext cx="82296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8A9AB8"/>
                </a:solidFill>
                <a:latin typeface="微软雅黑"/>
              </a:rPr>
              <a:t>云基智慧工程股份有限公司 · 至诚重光 · 二次出发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155680" y="6473952"/>
            <a:ext cx="82296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000" b="0">
                <a:solidFill>
                  <a:srgbClr val="8A9AB8"/>
                </a:solidFill>
                <a:latin typeface="微软雅黑"/>
              </a:rPr>
              <a:t>38</a:t>
            </a:r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B3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48640" y="502920"/>
            <a:ext cx="82296" cy="777240"/>
          </a:xfrm>
          <a:prstGeom prst="rect">
            <a:avLst/>
          </a:prstGeom>
          <a:solidFill>
            <a:srgbClr val="1E6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77240" y="457200"/>
            <a:ext cx="1078992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800" b="1">
                <a:solidFill>
                  <a:srgbClr val="FFFFFF"/>
                </a:solidFill>
                <a:latin typeface="微软雅黑"/>
              </a:rPr>
              <a:t>产品取舍：我们决定留下哪几个产品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325880"/>
            <a:ext cx="1060704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1">
                <a:solidFill>
                  <a:srgbClr val="F5B942"/>
                </a:solidFill>
                <a:latin typeface="微软雅黑"/>
              </a:rPr>
              <a:t>核心观点：聚焦，是至暗时刻教给我们最贵的一课——只留能打赢的仗。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2148840"/>
            <a:ext cx="1060704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25000"/>
              </a:lnSpc>
              <a:spcAft>
                <a:spcPts val="1000"/>
              </a:spcAft>
            </a:pPr>
            <a:r>
              <a:rPr sz="1700" b="1">
                <a:solidFill>
                  <a:srgbClr val="F5B942"/>
                </a:solidFill>
              </a:rPr>
              <a:t>▸ </a:t>
            </a:r>
            <a:r>
              <a:rPr sz="1700">
                <a:solidFill>
                  <a:srgbClr val="C9D8F0"/>
                </a:solidFill>
                <a:latin typeface="微软雅黑"/>
              </a:rPr>
              <a:t>保留产品清单及理由【按实际决策填入】：玄镜平台（战略根基/国产替代卡位）、工程数智化产品线（第二曲线主力/政策风口）等</a:t>
            </a:r>
          </a:p>
          <a:p>
            <a:pPr>
              <a:lnSpc>
                <a:spcPct val="125000"/>
              </a:lnSpc>
              <a:spcAft>
                <a:spcPts val="1000"/>
              </a:spcAft>
            </a:pPr>
            <a:r>
              <a:rPr sz="1700" b="1">
                <a:solidFill>
                  <a:srgbClr val="F5B942"/>
                </a:solidFill>
              </a:rPr>
              <a:t>▸ </a:t>
            </a:r>
            <a:r>
              <a:rPr sz="1700">
                <a:solidFill>
                  <a:srgbClr val="C9D8F0"/>
                </a:solidFill>
                <a:latin typeface="微软雅黑"/>
              </a:rPr>
              <a:t>收缩/退出产品清单及善后安排（客户履约、数据迁移、人员转岗）</a:t>
            </a:r>
          </a:p>
          <a:p>
            <a:pPr>
              <a:lnSpc>
                <a:spcPct val="125000"/>
              </a:lnSpc>
              <a:spcAft>
                <a:spcPts val="1000"/>
              </a:spcAft>
            </a:pPr>
            <a:r>
              <a:rPr sz="1700" b="1">
                <a:solidFill>
                  <a:srgbClr val="F5B942"/>
                </a:solidFill>
              </a:rPr>
              <a:t>▸ </a:t>
            </a:r>
            <a:r>
              <a:rPr sz="1700">
                <a:solidFill>
                  <a:srgbClr val="C9D8F0"/>
                </a:solidFill>
                <a:latin typeface="微软雅黑"/>
              </a:rPr>
              <a:t>取舍标准回顾：政策契合度×技术壁垒×现金流贡献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5897880"/>
            <a:ext cx="1060704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>
                <a:solidFill>
                  <a:srgbClr val="8A9AB8"/>
                </a:solidFill>
                <a:latin typeface="微软雅黑"/>
              </a:rPr>
              <a:t>【视觉建议】漏斗筛选图：全部产品→三重筛选→保留产品高亮。</a:t>
            </a:r>
          </a:p>
        </p:txBody>
      </p:sp>
      <p:sp>
        <p:nvSpPr>
          <p:cNvPr id="7" name="Rectangle 6"/>
          <p:cNvSpPr/>
          <p:nvPr/>
        </p:nvSpPr>
        <p:spPr>
          <a:xfrm>
            <a:off x="548640" y="6446520"/>
            <a:ext cx="11091672" cy="19050"/>
          </a:xfrm>
          <a:prstGeom prst="rect">
            <a:avLst/>
          </a:prstGeom>
          <a:solidFill>
            <a:srgbClr val="1E6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48640" y="6473952"/>
            <a:ext cx="82296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8A9AB8"/>
                </a:solidFill>
                <a:latin typeface="微软雅黑"/>
              </a:rPr>
              <a:t>云基智慧工程股份有限公司 · 至诚重光 · 二次出发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155680" y="6473952"/>
            <a:ext cx="82296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000" b="0">
                <a:solidFill>
                  <a:srgbClr val="8A9AB8"/>
                </a:solidFill>
                <a:latin typeface="微软雅黑"/>
              </a:rPr>
              <a:t>39</a:t>
            </a:r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B3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48640" y="502920"/>
            <a:ext cx="82296" cy="777240"/>
          </a:xfrm>
          <a:prstGeom prst="rect">
            <a:avLst/>
          </a:prstGeom>
          <a:solidFill>
            <a:srgbClr val="1E6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77240" y="457200"/>
            <a:ext cx="1078992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800" b="1">
                <a:solidFill>
                  <a:srgbClr val="FFFFFF"/>
                </a:solidFill>
                <a:latin typeface="微软雅黑"/>
              </a:rPr>
              <a:t>保留产品的工作分解：具体干什么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325880"/>
            <a:ext cx="1060704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1">
                <a:solidFill>
                  <a:srgbClr val="F5B942"/>
                </a:solidFill>
                <a:latin typeface="微软雅黑"/>
              </a:rPr>
              <a:t>核心观点：每个保留产品都有明确的年度工作包。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2148840"/>
            <a:ext cx="1060704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25000"/>
              </a:lnSpc>
              <a:spcAft>
                <a:spcPts val="1000"/>
              </a:spcAft>
            </a:pPr>
            <a:r>
              <a:rPr sz="1700" b="1">
                <a:solidFill>
                  <a:srgbClr val="F5B942"/>
                </a:solidFill>
              </a:rPr>
              <a:t>▸ </a:t>
            </a:r>
            <a:r>
              <a:rPr sz="1700">
                <a:solidFill>
                  <a:srgbClr val="C9D8F0"/>
                </a:solidFill>
                <a:latin typeface="微软雅黑"/>
              </a:rPr>
              <a:t>玄镜平台：内核性能提升/新版本特性/生态适配【填实际计划】</a:t>
            </a:r>
          </a:p>
          <a:p>
            <a:pPr>
              <a:lnSpc>
                <a:spcPct val="125000"/>
              </a:lnSpc>
              <a:spcAft>
                <a:spcPts val="1000"/>
              </a:spcAft>
            </a:pPr>
            <a:r>
              <a:rPr sz="1700" b="1">
                <a:solidFill>
                  <a:srgbClr val="F5B942"/>
                </a:solidFill>
              </a:rPr>
              <a:t>▸ </a:t>
            </a:r>
            <a:r>
              <a:rPr sz="1700">
                <a:solidFill>
                  <a:srgbClr val="C9D8F0"/>
                </a:solidFill>
                <a:latin typeface="微软雅黑"/>
              </a:rPr>
              <a:t>工程数智化产品线：标杆项目交付/产品化沉淀/规模化复制</a:t>
            </a:r>
          </a:p>
          <a:p>
            <a:pPr>
              <a:lnSpc>
                <a:spcPct val="125000"/>
              </a:lnSpc>
              <a:spcAft>
                <a:spcPts val="1000"/>
              </a:spcAft>
            </a:pPr>
            <a:r>
              <a:rPr sz="1700" b="1">
                <a:solidFill>
                  <a:srgbClr val="F5B942"/>
                </a:solidFill>
              </a:rPr>
              <a:t>▸ </a:t>
            </a:r>
            <a:r>
              <a:rPr sz="1700">
                <a:solidFill>
                  <a:srgbClr val="C9D8F0"/>
                </a:solidFill>
                <a:latin typeface="微软雅黑"/>
              </a:rPr>
              <a:t>各产品的季度里程碑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5897880"/>
            <a:ext cx="1060704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>
                <a:solidFill>
                  <a:srgbClr val="8A9AB8"/>
                </a:solidFill>
                <a:latin typeface="微软雅黑"/>
              </a:rPr>
              <a:t>【视觉建议】产品×季度的甘特图。</a:t>
            </a:r>
          </a:p>
        </p:txBody>
      </p:sp>
      <p:sp>
        <p:nvSpPr>
          <p:cNvPr id="7" name="Rectangle 6"/>
          <p:cNvSpPr/>
          <p:nvPr/>
        </p:nvSpPr>
        <p:spPr>
          <a:xfrm>
            <a:off x="548640" y="6446520"/>
            <a:ext cx="11091672" cy="19050"/>
          </a:xfrm>
          <a:prstGeom prst="rect">
            <a:avLst/>
          </a:prstGeom>
          <a:solidFill>
            <a:srgbClr val="1E6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48640" y="6473952"/>
            <a:ext cx="82296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8A9AB8"/>
                </a:solidFill>
                <a:latin typeface="微软雅黑"/>
              </a:rPr>
              <a:t>云基智慧工程股份有限公司 · 至诚重光 · 二次出发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155680" y="6473952"/>
            <a:ext cx="82296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000" b="0">
                <a:solidFill>
                  <a:srgbClr val="8A9AB8"/>
                </a:solidFill>
                <a:latin typeface="微软雅黑"/>
              </a:rPr>
              <a:t>40</a:t>
            </a:r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B3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48640" y="502920"/>
            <a:ext cx="82296" cy="777240"/>
          </a:xfrm>
          <a:prstGeom prst="rect">
            <a:avLst/>
          </a:prstGeom>
          <a:solidFill>
            <a:srgbClr val="1E6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77240" y="457200"/>
            <a:ext cx="1078992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800" b="1">
                <a:solidFill>
                  <a:srgbClr val="FFFFFF"/>
                </a:solidFill>
                <a:latin typeface="微软雅黑"/>
              </a:rPr>
              <a:t>生产方式：AI辅助研发+数字化新员工协同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325880"/>
            <a:ext cx="1060704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1">
                <a:solidFill>
                  <a:srgbClr val="F5B942"/>
                </a:solidFill>
                <a:latin typeface="微软雅黑"/>
              </a:rPr>
              <a:t>核心观点：用新生产方式干活——这是效率优势，也是每个人必须完成的能力升级。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2148840"/>
            <a:ext cx="1060704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25000"/>
              </a:lnSpc>
              <a:spcAft>
                <a:spcPts val="1000"/>
              </a:spcAft>
            </a:pPr>
            <a:r>
              <a:rPr sz="1700" b="1">
                <a:solidFill>
                  <a:srgbClr val="F5B942"/>
                </a:solidFill>
              </a:rPr>
              <a:t>▸ </a:t>
            </a:r>
            <a:r>
              <a:rPr sz="1700">
                <a:solidFill>
                  <a:srgbClr val="C9D8F0"/>
                </a:solidFill>
                <a:latin typeface="微软雅黑"/>
              </a:rPr>
              <a:t>AI辅助研发的标准工作流：需求→AI辅助编码→人工评审→自动化测试</a:t>
            </a:r>
          </a:p>
          <a:p>
            <a:pPr>
              <a:lnSpc>
                <a:spcPct val="125000"/>
              </a:lnSpc>
              <a:spcAft>
                <a:spcPts val="1000"/>
              </a:spcAft>
            </a:pPr>
            <a:r>
              <a:rPr sz="1700" b="1">
                <a:solidFill>
                  <a:srgbClr val="F5B942"/>
                </a:solidFill>
              </a:rPr>
              <a:t>▸ </a:t>
            </a:r>
            <a:r>
              <a:rPr sz="1700">
                <a:solidFill>
                  <a:srgbClr val="C9D8F0"/>
                </a:solidFill>
                <a:latin typeface="微软雅黑"/>
              </a:rPr>
              <a:t>数字化新员工的岗位清单与人机分工边界</a:t>
            </a:r>
          </a:p>
          <a:p>
            <a:pPr>
              <a:lnSpc>
                <a:spcPct val="125000"/>
              </a:lnSpc>
              <a:spcAft>
                <a:spcPts val="1000"/>
              </a:spcAft>
            </a:pPr>
            <a:r>
              <a:rPr sz="1700" b="1">
                <a:solidFill>
                  <a:srgbClr val="F5B942"/>
                </a:solidFill>
              </a:rPr>
              <a:t>▸ </a:t>
            </a:r>
            <a:r>
              <a:rPr sz="1700">
                <a:solidFill>
                  <a:srgbClr val="C9D8F0"/>
                </a:solidFill>
                <a:latin typeface="微软雅黑"/>
              </a:rPr>
              <a:t>员工AI技能培训与认证计划</a:t>
            </a:r>
          </a:p>
          <a:p>
            <a:pPr>
              <a:lnSpc>
                <a:spcPct val="125000"/>
              </a:lnSpc>
              <a:spcAft>
                <a:spcPts val="1000"/>
              </a:spcAft>
            </a:pPr>
            <a:r>
              <a:rPr sz="1700" b="1">
                <a:solidFill>
                  <a:srgbClr val="F5B942"/>
                </a:solidFill>
              </a:rPr>
              <a:t>▸ </a:t>
            </a:r>
            <a:r>
              <a:rPr sz="1700">
                <a:solidFill>
                  <a:srgbClr val="C9D8F0"/>
                </a:solidFill>
                <a:latin typeface="微软雅黑"/>
              </a:rPr>
              <a:t>效率目标：人均产值提升【X】%【填入目标】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5897880"/>
            <a:ext cx="1060704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>
                <a:solidFill>
                  <a:srgbClr val="8A9AB8"/>
                </a:solidFill>
                <a:latin typeface="微软雅黑"/>
              </a:rPr>
              <a:t>【视觉建议】人机协同流水线示意图，BIM装配式风格。</a:t>
            </a:r>
          </a:p>
        </p:txBody>
      </p:sp>
      <p:sp>
        <p:nvSpPr>
          <p:cNvPr id="7" name="Rectangle 6"/>
          <p:cNvSpPr/>
          <p:nvPr/>
        </p:nvSpPr>
        <p:spPr>
          <a:xfrm>
            <a:off x="548640" y="6446520"/>
            <a:ext cx="11091672" cy="19050"/>
          </a:xfrm>
          <a:prstGeom prst="rect">
            <a:avLst/>
          </a:prstGeom>
          <a:solidFill>
            <a:srgbClr val="1E6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48640" y="6473952"/>
            <a:ext cx="82296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8A9AB8"/>
                </a:solidFill>
                <a:latin typeface="微软雅黑"/>
              </a:rPr>
              <a:t>云基智慧工程股份有限公司 · 至诚重光 · 二次出发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155680" y="6473952"/>
            <a:ext cx="82296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000" b="0">
                <a:solidFill>
                  <a:srgbClr val="8A9AB8"/>
                </a:solidFill>
                <a:latin typeface="微软雅黑"/>
              </a:rPr>
              <a:t>41</a:t>
            </a:r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B3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48640" y="502920"/>
            <a:ext cx="82296" cy="777240"/>
          </a:xfrm>
          <a:prstGeom prst="rect">
            <a:avLst/>
          </a:prstGeom>
          <a:solidFill>
            <a:srgbClr val="1E6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77240" y="457200"/>
            <a:ext cx="1078992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800" b="1">
                <a:solidFill>
                  <a:srgbClr val="FFFFFF"/>
                </a:solidFill>
                <a:latin typeface="微软雅黑"/>
              </a:rPr>
              <a:t>责任到人：谁来干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325880"/>
            <a:ext cx="1060704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1">
                <a:solidFill>
                  <a:srgbClr val="F5B942"/>
                </a:solidFill>
                <a:latin typeface="微软雅黑"/>
              </a:rPr>
              <a:t>核心观点：一张责任地图，每个产品、每项工作、每个人的位置都清晰。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2148840"/>
            <a:ext cx="1060704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25000"/>
              </a:lnSpc>
              <a:spcAft>
                <a:spcPts val="1000"/>
              </a:spcAft>
            </a:pPr>
            <a:r>
              <a:rPr sz="1700" b="1">
                <a:solidFill>
                  <a:srgbClr val="F5B942"/>
                </a:solidFill>
              </a:rPr>
              <a:t>▸ </a:t>
            </a:r>
            <a:r>
              <a:rPr sz="1700">
                <a:solidFill>
                  <a:srgbClr val="C9D8F0"/>
                </a:solidFill>
                <a:latin typeface="微软雅黑"/>
              </a:rPr>
              <a:t>各产品线负责人与核心团队配置【按实际填入】</a:t>
            </a:r>
          </a:p>
          <a:p>
            <a:pPr>
              <a:lnSpc>
                <a:spcPct val="125000"/>
              </a:lnSpc>
              <a:spcAft>
                <a:spcPts val="1000"/>
              </a:spcAft>
            </a:pPr>
            <a:r>
              <a:rPr sz="1700" b="1">
                <a:solidFill>
                  <a:srgbClr val="F5B942"/>
                </a:solidFill>
              </a:rPr>
              <a:t>▸ </a:t>
            </a:r>
            <a:r>
              <a:rPr sz="1700">
                <a:solidFill>
                  <a:srgbClr val="C9D8F0"/>
                </a:solidFill>
                <a:latin typeface="微软雅黑"/>
              </a:rPr>
              <a:t>跨产品共享的平台团队与支撑团队</a:t>
            </a:r>
          </a:p>
          <a:p>
            <a:pPr>
              <a:lnSpc>
                <a:spcPct val="125000"/>
              </a:lnSpc>
              <a:spcAft>
                <a:spcPts val="1000"/>
              </a:spcAft>
            </a:pPr>
            <a:r>
              <a:rPr sz="1700" b="1">
                <a:solidFill>
                  <a:srgbClr val="F5B942"/>
                </a:solidFill>
              </a:rPr>
              <a:t>▸ </a:t>
            </a:r>
            <a:r>
              <a:rPr sz="1700">
                <a:solidFill>
                  <a:srgbClr val="C9D8F0"/>
                </a:solidFill>
                <a:latin typeface="微软雅黑"/>
              </a:rPr>
              <a:t>本次股权激励对象与关键岗位责任的对应关系——“股权跟着责任走”</a:t>
            </a:r>
          </a:p>
          <a:p>
            <a:pPr>
              <a:lnSpc>
                <a:spcPct val="125000"/>
              </a:lnSpc>
              <a:spcAft>
                <a:spcPts val="1000"/>
              </a:spcAft>
            </a:pPr>
            <a:r>
              <a:rPr sz="1700" b="1">
                <a:solidFill>
                  <a:srgbClr val="F5B942"/>
                </a:solidFill>
              </a:rPr>
              <a:t>▸ </a:t>
            </a:r>
            <a:r>
              <a:rPr sz="1700">
                <a:solidFill>
                  <a:srgbClr val="C9D8F0"/>
                </a:solidFill>
                <a:latin typeface="微软雅黑"/>
              </a:rPr>
              <a:t>空缺岗位与内部竞聘机会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5897880"/>
            <a:ext cx="1060704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>
                <a:solidFill>
                  <a:srgbClr val="8A9AB8"/>
                </a:solidFill>
                <a:latin typeface="微软雅黑"/>
              </a:rPr>
              <a:t>【视觉建议】组织架构图+产品责任映射连线。</a:t>
            </a:r>
          </a:p>
        </p:txBody>
      </p:sp>
      <p:sp>
        <p:nvSpPr>
          <p:cNvPr id="7" name="Rectangle 6"/>
          <p:cNvSpPr/>
          <p:nvPr/>
        </p:nvSpPr>
        <p:spPr>
          <a:xfrm>
            <a:off x="548640" y="6446520"/>
            <a:ext cx="11091672" cy="19050"/>
          </a:xfrm>
          <a:prstGeom prst="rect">
            <a:avLst/>
          </a:prstGeom>
          <a:solidFill>
            <a:srgbClr val="1E6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48640" y="6473952"/>
            <a:ext cx="82296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8A9AB8"/>
                </a:solidFill>
                <a:latin typeface="微软雅黑"/>
              </a:rPr>
              <a:t>云基智慧工程股份有限公司 · 至诚重光 · 二次出发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155680" y="6473952"/>
            <a:ext cx="82296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000" b="0">
                <a:solidFill>
                  <a:srgbClr val="8A9AB8"/>
                </a:solidFill>
                <a:latin typeface="微软雅黑"/>
              </a:rPr>
              <a:t>42</a:t>
            </a:r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B3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48640" y="502920"/>
            <a:ext cx="82296" cy="777240"/>
          </a:xfrm>
          <a:prstGeom prst="rect">
            <a:avLst/>
          </a:prstGeom>
          <a:solidFill>
            <a:srgbClr val="1E6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77240" y="457200"/>
            <a:ext cx="1078992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800" b="1">
                <a:solidFill>
                  <a:srgbClr val="FFFFFF"/>
                </a:solidFill>
                <a:latin typeface="微软雅黑"/>
              </a:rPr>
              <a:t>直面大家的疑问：Q&amp;A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325880"/>
            <a:ext cx="1060704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1">
                <a:solidFill>
                  <a:srgbClr val="F5B942"/>
                </a:solidFill>
                <a:latin typeface="微软雅黑"/>
              </a:rPr>
              <a:t>核心观点：所有犹豫都值得被认真回答。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2148840"/>
            <a:ext cx="1060704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25000"/>
              </a:lnSpc>
              <a:spcAft>
                <a:spcPts val="1000"/>
              </a:spcAft>
            </a:pPr>
            <a:r>
              <a:rPr sz="1700" b="1">
                <a:solidFill>
                  <a:srgbClr val="F5B942"/>
                </a:solidFill>
              </a:rPr>
              <a:t>▸ </a:t>
            </a:r>
            <a:r>
              <a:rPr sz="1700">
                <a:solidFill>
                  <a:srgbClr val="C9D8F0"/>
                </a:solidFill>
                <a:latin typeface="微软雅黑"/>
              </a:rPr>
              <a:t>公司会不会再来一次下行？</a:t>
            </a:r>
          </a:p>
          <a:p>
            <a:pPr>
              <a:lnSpc>
                <a:spcPct val="125000"/>
              </a:lnSpc>
              <a:spcAft>
                <a:spcPts val="1000"/>
              </a:spcAft>
            </a:pPr>
            <a:r>
              <a:rPr sz="1700" b="1">
                <a:solidFill>
                  <a:srgbClr val="F5B942"/>
                </a:solidFill>
              </a:rPr>
              <a:t>▸ </a:t>
            </a:r>
            <a:r>
              <a:rPr sz="1700">
                <a:solidFill>
                  <a:srgbClr val="C9D8F0"/>
                </a:solidFill>
                <a:latin typeface="微软雅黑"/>
              </a:rPr>
              <a:t>钱投进去退不出来怎么办？</a:t>
            </a:r>
          </a:p>
          <a:p>
            <a:pPr>
              <a:lnSpc>
                <a:spcPct val="125000"/>
              </a:lnSpc>
              <a:spcAft>
                <a:spcPts val="1000"/>
              </a:spcAft>
            </a:pPr>
            <a:r>
              <a:rPr sz="1700" b="1">
                <a:solidFill>
                  <a:srgbClr val="F5B942"/>
                </a:solidFill>
              </a:rPr>
              <a:t>▸ </a:t>
            </a:r>
            <a:r>
              <a:rPr sz="1700">
                <a:solidFill>
                  <a:srgbClr val="C9D8F0"/>
                </a:solidFill>
                <a:latin typeface="微软雅黑"/>
              </a:rPr>
              <a:t>离职了份额怎么办？</a:t>
            </a:r>
          </a:p>
          <a:p>
            <a:pPr>
              <a:lnSpc>
                <a:spcPct val="125000"/>
              </a:lnSpc>
              <a:spcAft>
                <a:spcPts val="1000"/>
              </a:spcAft>
            </a:pPr>
            <a:r>
              <a:rPr sz="1700" b="1">
                <a:solidFill>
                  <a:srgbClr val="F5B942"/>
                </a:solidFill>
              </a:rPr>
              <a:t>▸ </a:t>
            </a:r>
            <a:r>
              <a:rPr sz="1700">
                <a:solidFill>
                  <a:srgbClr val="C9D8F0"/>
                </a:solidFill>
                <a:latin typeface="微软雅黑"/>
              </a:rPr>
              <a:t>不参与会不会被区别对待？</a:t>
            </a:r>
          </a:p>
          <a:p>
            <a:pPr>
              <a:lnSpc>
                <a:spcPct val="125000"/>
              </a:lnSpc>
              <a:spcAft>
                <a:spcPts val="1000"/>
              </a:spcAft>
            </a:pPr>
            <a:r>
              <a:rPr sz="1700" b="1">
                <a:solidFill>
                  <a:srgbClr val="F5B942"/>
                </a:solidFill>
              </a:rPr>
              <a:t>▸ </a:t>
            </a:r>
            <a:r>
              <a:rPr sz="1700">
                <a:solidFill>
                  <a:srgbClr val="C9D8F0"/>
                </a:solidFill>
                <a:latin typeface="微软雅黑"/>
              </a:rPr>
              <a:t>估值定价凭什么？</a:t>
            </a:r>
          </a:p>
          <a:p>
            <a:pPr>
              <a:lnSpc>
                <a:spcPct val="125000"/>
              </a:lnSpc>
              <a:spcAft>
                <a:spcPts val="1000"/>
              </a:spcAft>
            </a:pPr>
            <a:r>
              <a:rPr sz="1700" b="1">
                <a:solidFill>
                  <a:srgbClr val="F5B942"/>
                </a:solidFill>
              </a:rPr>
              <a:t>▸ </a:t>
            </a:r>
            <a:r>
              <a:rPr sz="1700">
                <a:solidFill>
                  <a:srgbClr val="C9D8F0"/>
                </a:solidFill>
                <a:latin typeface="微软雅黑"/>
              </a:rPr>
              <a:t>新业务万一不及预期呢？——每问给出一句坦诚的核心回答【按实际方案填入】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5897880"/>
            <a:ext cx="1060704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>
                <a:solidFill>
                  <a:srgbClr val="8A9AB8"/>
                </a:solidFill>
                <a:latin typeface="微软雅黑"/>
              </a:rPr>
              <a:t>【视觉建议】问答卡片翻转式版面。</a:t>
            </a:r>
          </a:p>
        </p:txBody>
      </p:sp>
      <p:sp>
        <p:nvSpPr>
          <p:cNvPr id="7" name="Rectangle 6"/>
          <p:cNvSpPr/>
          <p:nvPr/>
        </p:nvSpPr>
        <p:spPr>
          <a:xfrm>
            <a:off x="548640" y="6446520"/>
            <a:ext cx="11091672" cy="19050"/>
          </a:xfrm>
          <a:prstGeom prst="rect">
            <a:avLst/>
          </a:prstGeom>
          <a:solidFill>
            <a:srgbClr val="1E6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48640" y="6473952"/>
            <a:ext cx="82296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8A9AB8"/>
                </a:solidFill>
                <a:latin typeface="微软雅黑"/>
              </a:rPr>
              <a:t>云基智慧工程股份有限公司 · 至诚重光 · 二次出发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155680" y="6473952"/>
            <a:ext cx="82296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000" b="0">
                <a:solidFill>
                  <a:srgbClr val="8A9AB8"/>
                </a:solidFill>
                <a:latin typeface="微软雅黑"/>
              </a:rPr>
              <a:t>43</a:t>
            </a:r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B3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48640" y="502920"/>
            <a:ext cx="82296" cy="777240"/>
          </a:xfrm>
          <a:prstGeom prst="rect">
            <a:avLst/>
          </a:prstGeom>
          <a:solidFill>
            <a:srgbClr val="1E6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77240" y="457200"/>
            <a:ext cx="1078992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800" b="1">
                <a:solidFill>
                  <a:srgbClr val="FFFFFF"/>
                </a:solidFill>
                <a:latin typeface="微软雅黑"/>
              </a:rPr>
              <a:t>行动号召：与坚信者同行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325880"/>
            <a:ext cx="1060704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1">
                <a:solidFill>
                  <a:srgbClr val="F5B942"/>
                </a:solidFill>
                <a:latin typeface="微软雅黑"/>
              </a:rPr>
              <a:t>核心观点：公司不需要每个人都参与，但珍惜每一个选择同行的人。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2148840"/>
            <a:ext cx="1060704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25000"/>
              </a:lnSpc>
              <a:spcAft>
                <a:spcPts val="1000"/>
              </a:spcAft>
            </a:pPr>
            <a:r>
              <a:rPr sz="1700" b="1">
                <a:solidFill>
                  <a:srgbClr val="F5B942"/>
                </a:solidFill>
              </a:rPr>
              <a:t>▸ </a:t>
            </a:r>
            <a:r>
              <a:rPr sz="1700">
                <a:solidFill>
                  <a:srgbClr val="C9D8F0"/>
                </a:solidFill>
                <a:latin typeface="微软雅黑"/>
              </a:rPr>
              <a:t>后续安排：方案文件发放→一对一答疑窗口→自愿认购期→签约</a:t>
            </a:r>
          </a:p>
          <a:p>
            <a:pPr>
              <a:lnSpc>
                <a:spcPct val="125000"/>
              </a:lnSpc>
              <a:spcAft>
                <a:spcPts val="1000"/>
              </a:spcAft>
            </a:pPr>
            <a:r>
              <a:rPr sz="1700" b="1">
                <a:solidFill>
                  <a:srgbClr val="F5B942"/>
                </a:solidFill>
              </a:rPr>
              <a:t>▸ </a:t>
            </a:r>
            <a:r>
              <a:rPr sz="1700">
                <a:solidFill>
                  <a:srgbClr val="C9D8F0"/>
                </a:solidFill>
                <a:latin typeface="微软雅黑"/>
              </a:rPr>
              <a:t>时间表与联系人</a:t>
            </a:r>
          </a:p>
          <a:p>
            <a:pPr>
              <a:lnSpc>
                <a:spcPct val="125000"/>
              </a:lnSpc>
              <a:spcAft>
                <a:spcPts val="1000"/>
              </a:spcAft>
            </a:pPr>
            <a:r>
              <a:rPr sz="1700" b="1">
                <a:solidFill>
                  <a:srgbClr val="F5B942"/>
                </a:solidFill>
              </a:rPr>
              <a:t>▸ </a:t>
            </a:r>
            <a:r>
              <a:rPr sz="1700">
                <a:solidFill>
                  <a:srgbClr val="C9D8F0"/>
                </a:solidFill>
                <a:latin typeface="微软雅黑"/>
              </a:rPr>
              <a:t>一句话表态：“无论你此刻是否坚信，公司都会用接下来的每个季度业绩，持续回答今天的问题。”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5897880"/>
            <a:ext cx="1060704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>
                <a:solidFill>
                  <a:srgbClr val="8A9AB8"/>
                </a:solidFill>
                <a:latin typeface="微软雅黑"/>
              </a:rPr>
              <a:t>【视觉建议】征程路线图，起点标注“今天”。</a:t>
            </a:r>
          </a:p>
        </p:txBody>
      </p:sp>
      <p:sp>
        <p:nvSpPr>
          <p:cNvPr id="7" name="Rectangle 6"/>
          <p:cNvSpPr/>
          <p:nvPr/>
        </p:nvSpPr>
        <p:spPr>
          <a:xfrm>
            <a:off x="548640" y="6446520"/>
            <a:ext cx="11091672" cy="19050"/>
          </a:xfrm>
          <a:prstGeom prst="rect">
            <a:avLst/>
          </a:prstGeom>
          <a:solidFill>
            <a:srgbClr val="1E6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48640" y="6473952"/>
            <a:ext cx="82296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8A9AB8"/>
                </a:solidFill>
                <a:latin typeface="微软雅黑"/>
              </a:rPr>
              <a:t>云基智慧工程股份有限公司 · 至诚重光 · 二次出发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155680" y="6473952"/>
            <a:ext cx="82296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000" b="0">
                <a:solidFill>
                  <a:srgbClr val="8A9AB8"/>
                </a:solidFill>
                <a:latin typeface="微软雅黑"/>
              </a:rPr>
              <a:t>44</a:t>
            </a:r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B3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48640" y="502920"/>
            <a:ext cx="82296" cy="777240"/>
          </a:xfrm>
          <a:prstGeom prst="rect">
            <a:avLst/>
          </a:prstGeom>
          <a:solidFill>
            <a:srgbClr val="1E6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77240" y="457200"/>
            <a:ext cx="1078992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800" b="1">
                <a:solidFill>
                  <a:srgbClr val="FFFFFF"/>
                </a:solidFill>
                <a:latin typeface="微软雅黑"/>
              </a:rPr>
              <a:t>再看一眼：我们已经走到这里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325880"/>
            <a:ext cx="1060704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1">
                <a:solidFill>
                  <a:srgbClr val="F5B942"/>
                </a:solidFill>
                <a:latin typeface="微软雅黑"/>
              </a:rPr>
              <a:t>核心观点：回望至暗，曙光已在——剩下的路，一起走。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2148840"/>
            <a:ext cx="1060704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25000"/>
              </a:lnSpc>
              <a:spcAft>
                <a:spcPts val="1000"/>
              </a:spcAft>
            </a:pPr>
            <a:r>
              <a:rPr sz="1700" b="1">
                <a:solidFill>
                  <a:srgbClr val="F5B942"/>
                </a:solidFill>
              </a:rPr>
              <a:t>▸ </a:t>
            </a:r>
            <a:r>
              <a:rPr sz="1700">
                <a:solidFill>
                  <a:srgbClr val="C9D8F0"/>
                </a:solidFill>
                <a:latin typeface="微软雅黑"/>
              </a:rPr>
              <a:t>至暗事实→机遇窗口→落地证据→曲线逻辑→机制诚意→生命意义→责任地图</a:t>
            </a:r>
          </a:p>
          <a:p>
            <a:pPr>
              <a:lnSpc>
                <a:spcPct val="125000"/>
              </a:lnSpc>
              <a:spcAft>
                <a:spcPts val="1000"/>
              </a:spcAft>
            </a:pPr>
            <a:r>
              <a:rPr sz="1700" b="1">
                <a:solidFill>
                  <a:srgbClr val="F5B942"/>
                </a:solidFill>
              </a:rPr>
              <a:t>▸ </a:t>
            </a:r>
            <a:r>
              <a:rPr sz="1700">
                <a:solidFill>
                  <a:srgbClr val="C9D8F0"/>
                </a:solidFill>
                <a:latin typeface="微软雅黑"/>
              </a:rPr>
              <a:t>今天所有承诺，都将写入正式方案文件</a:t>
            </a:r>
          </a:p>
          <a:p>
            <a:pPr>
              <a:lnSpc>
                <a:spcPct val="125000"/>
              </a:lnSpc>
              <a:spcAft>
                <a:spcPts val="1000"/>
              </a:spcAft>
            </a:pPr>
            <a:r>
              <a:rPr sz="1700" b="1">
                <a:solidFill>
                  <a:srgbClr val="F5B942"/>
                </a:solidFill>
              </a:rPr>
              <a:t>▸ </a:t>
            </a:r>
            <a:r>
              <a:rPr sz="1700">
                <a:solidFill>
                  <a:srgbClr val="C9D8F0"/>
                </a:solidFill>
                <a:latin typeface="微软雅黑"/>
              </a:rPr>
              <a:t>从今天起，每季度经营通报会持续回应大家的关切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5897880"/>
            <a:ext cx="1060704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>
                <a:solidFill>
                  <a:srgbClr val="8A9AB8"/>
                </a:solidFill>
                <a:latin typeface="微软雅黑"/>
              </a:rPr>
              <a:t>【视觉建议】第2页的时间轴目录复现，但全部点亮。</a:t>
            </a:r>
          </a:p>
        </p:txBody>
      </p:sp>
      <p:sp>
        <p:nvSpPr>
          <p:cNvPr id="7" name="Rectangle 6"/>
          <p:cNvSpPr/>
          <p:nvPr/>
        </p:nvSpPr>
        <p:spPr>
          <a:xfrm>
            <a:off x="548640" y="6446520"/>
            <a:ext cx="11091672" cy="19050"/>
          </a:xfrm>
          <a:prstGeom prst="rect">
            <a:avLst/>
          </a:prstGeom>
          <a:solidFill>
            <a:srgbClr val="1E6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48640" y="6473952"/>
            <a:ext cx="82296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8A9AB8"/>
                </a:solidFill>
                <a:latin typeface="微软雅黑"/>
              </a:rPr>
              <a:t>云基智慧工程股份有限公司 · 至诚重光 · 二次出发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155680" y="6473952"/>
            <a:ext cx="82296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000" b="0">
                <a:solidFill>
                  <a:srgbClr val="8A9AB8"/>
                </a:solidFill>
                <a:latin typeface="微软雅黑"/>
              </a:rPr>
              <a:t>45</a:t>
            </a:r>
          </a:p>
        </p:txBody>
      </p:sp>
    </p:spTree>
  </p:cSld>
  <p:clrMapOvr>
    <a:masterClrMapping/>
  </p:clrMapOvr>
</p:sld>
</file>

<file path=ppt/slides/slide4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B3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023360" y="3703320"/>
            <a:ext cx="4114800" cy="25400"/>
          </a:xfrm>
          <a:prstGeom prst="rect">
            <a:avLst/>
          </a:prstGeom>
          <a:solidFill>
            <a:srgbClr val="F5B9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2103120"/>
            <a:ext cx="1069848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3200" b="1">
                <a:solidFill>
                  <a:srgbClr val="FFFFFF"/>
                </a:solidFill>
                <a:latin typeface="微软雅黑"/>
              </a:rPr>
              <a:t>行正道，造市场，做事业，过好日子。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3063240"/>
            <a:ext cx="1069848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200" b="0">
                <a:solidFill>
                  <a:srgbClr val="F5B942"/>
                </a:solidFill>
                <a:latin typeface="微软雅黑"/>
              </a:rPr>
              <a:t>——至诚重光，二次出发。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5120640"/>
            <a:ext cx="1069848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500" b="0">
                <a:solidFill>
                  <a:srgbClr val="C9D8F0"/>
                </a:solidFill>
                <a:latin typeface="微软雅黑"/>
              </a:rPr>
              <a:t>云基智慧工程股份有限公司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